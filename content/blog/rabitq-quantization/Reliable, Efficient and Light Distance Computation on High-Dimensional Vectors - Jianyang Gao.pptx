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tags/tag23.xml" ContentType="application/vnd.openxmlformats-officedocument.presentationml.tags+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tags/tag2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7.xml" ContentType="application/vnd.openxmlformats-officedocument.presentationml.tags+xml"/>
  <Override PartName="/ppt/notesSlides/notesSlide33.xml" ContentType="application/vnd.openxmlformats-officedocument.presentationml.notesSlide+xml"/>
  <Override PartName="/ppt/tags/tag28.xml" ContentType="application/vnd.openxmlformats-officedocument.presentationml.tags+xml"/>
  <Override PartName="/ppt/notesSlides/notesSlide34.xml" ContentType="application/vnd.openxmlformats-officedocument.presentationml.notesSlide+xml"/>
  <Override PartName="/ppt/tags/tag29.xml" ContentType="application/vnd.openxmlformats-officedocument.presentationml.tags+xml"/>
  <Override PartName="/ppt/notesSlides/notesSlide35.xml" ContentType="application/vnd.openxmlformats-officedocument.presentationml.notesSlide+xml"/>
  <Override PartName="/ppt/tags/tag30.xml" ContentType="application/vnd.openxmlformats-officedocument.presentationml.tags+xml"/>
  <Override PartName="/ppt/notesSlides/notesSlide36.xml" ContentType="application/vnd.openxmlformats-officedocument.presentationml.notesSlide+xml"/>
  <Override PartName="/ppt/tags/tag31.xml" ContentType="application/vnd.openxmlformats-officedocument.presentationml.tags+xml"/>
  <Override PartName="/ppt/notesSlides/notesSlide37.xml" ContentType="application/vnd.openxmlformats-officedocument.presentationml.notesSlide+xml"/>
  <Override PartName="/ppt/tags/tag32.xml" ContentType="application/vnd.openxmlformats-officedocument.presentationml.tags+xml"/>
  <Override PartName="/ppt/notesSlides/notesSlide38.xml" ContentType="application/vnd.openxmlformats-officedocument.presentationml.notesSlide+xml"/>
  <Override PartName="/ppt/tags/tag33.xml" ContentType="application/vnd.openxmlformats-officedocument.presentationml.tags+xml"/>
  <Override PartName="/ppt/notesSlides/notesSlide39.xml" ContentType="application/vnd.openxmlformats-officedocument.presentationml.notesSlide+xml"/>
  <Override PartName="/ppt/tags/tag34.xml" ContentType="application/vnd.openxmlformats-officedocument.presentationml.tags+xml"/>
  <Override PartName="/ppt/notesSlides/notesSlide40.xml" ContentType="application/vnd.openxmlformats-officedocument.presentationml.notesSlide+xml"/>
  <Override PartName="/ppt/tags/tag35.xml" ContentType="application/vnd.openxmlformats-officedocument.presentationml.tags+xml"/>
  <Override PartName="/ppt/notesSlides/notesSlide41.xml" ContentType="application/vnd.openxmlformats-officedocument.presentationml.notesSlide+xml"/>
  <Override PartName="/ppt/tags/tag36.xml" ContentType="application/vnd.openxmlformats-officedocument.presentationml.tags+xml"/>
  <Override PartName="/ppt/notesSlides/notesSlide42.xml" ContentType="application/vnd.openxmlformats-officedocument.presentationml.notesSlide+xml"/>
  <Override PartName="/ppt/tags/tag37.xml" ContentType="application/vnd.openxmlformats-officedocument.presentationml.tags+xml"/>
  <Override PartName="/ppt/notesSlides/notesSlide43.xml" ContentType="application/vnd.openxmlformats-officedocument.presentationml.notesSlide+xml"/>
  <Override PartName="/ppt/tags/tag38.xml" ContentType="application/vnd.openxmlformats-officedocument.presentationml.tags+xml"/>
  <Override PartName="/ppt/notesSlides/notesSlide44.xml" ContentType="application/vnd.openxmlformats-officedocument.presentationml.notesSlide+xml"/>
  <Override PartName="/ppt/tags/tag39.xml" ContentType="application/vnd.openxmlformats-officedocument.presentationml.tags+xml"/>
  <Override PartName="/ppt/notesSlides/notesSlide45.xml" ContentType="application/vnd.openxmlformats-officedocument.presentationml.notesSlide+xml"/>
  <Override PartName="/ppt/tags/tag40.xml" ContentType="application/vnd.openxmlformats-officedocument.presentationml.tags+xml"/>
  <Override PartName="/ppt/notesSlides/notesSlide46.xml" ContentType="application/vnd.openxmlformats-officedocument.presentationml.notesSlide+xml"/>
  <Override PartName="/ppt/tags/tag41.xml" ContentType="application/vnd.openxmlformats-officedocument.presentationml.tags+xml"/>
  <Override PartName="/ppt/notesSlides/notesSlide47.xml" ContentType="application/vnd.openxmlformats-officedocument.presentationml.notesSlide+xml"/>
  <Override PartName="/ppt/tags/tag4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5" r:id="rId2"/>
    <p:sldId id="2601" r:id="rId3"/>
    <p:sldId id="750" r:id="rId4"/>
    <p:sldId id="751" r:id="rId5"/>
    <p:sldId id="2574" r:id="rId6"/>
    <p:sldId id="2458" r:id="rId7"/>
    <p:sldId id="2469" r:id="rId8"/>
    <p:sldId id="2468" r:id="rId9"/>
    <p:sldId id="2466" r:id="rId10"/>
    <p:sldId id="2472" r:id="rId11"/>
    <p:sldId id="2478" r:id="rId12"/>
    <p:sldId id="2460" r:id="rId13"/>
    <p:sldId id="2603" r:id="rId14"/>
    <p:sldId id="2485" r:id="rId15"/>
    <p:sldId id="2506" r:id="rId16"/>
    <p:sldId id="2486" r:id="rId17"/>
    <p:sldId id="2559" r:id="rId18"/>
    <p:sldId id="2508" r:id="rId19"/>
    <p:sldId id="2551" r:id="rId20"/>
    <p:sldId id="2560" r:id="rId21"/>
    <p:sldId id="2561" r:id="rId22"/>
    <p:sldId id="2491" r:id="rId23"/>
    <p:sldId id="2492" r:id="rId24"/>
    <p:sldId id="2566" r:id="rId25"/>
    <p:sldId id="2493" r:id="rId26"/>
    <p:sldId id="2567" r:id="rId27"/>
    <p:sldId id="2502" r:id="rId28"/>
    <p:sldId id="2507" r:id="rId29"/>
    <p:sldId id="2562" r:id="rId30"/>
    <p:sldId id="2558" r:id="rId31"/>
    <p:sldId id="2563" r:id="rId32"/>
    <p:sldId id="2604" r:id="rId33"/>
    <p:sldId id="2584" r:id="rId34"/>
    <p:sldId id="2585" r:id="rId35"/>
    <p:sldId id="2586" r:id="rId36"/>
    <p:sldId id="2587" r:id="rId37"/>
    <p:sldId id="2588" r:id="rId38"/>
    <p:sldId id="2589" r:id="rId39"/>
    <p:sldId id="2590" r:id="rId40"/>
    <p:sldId id="2593" r:id="rId41"/>
    <p:sldId id="2591" r:id="rId42"/>
    <p:sldId id="2592" r:id="rId43"/>
    <p:sldId id="2594" r:id="rId44"/>
    <p:sldId id="2596" r:id="rId45"/>
    <p:sldId id="2595" r:id="rId46"/>
    <p:sldId id="2597" r:id="rId47"/>
    <p:sldId id="2598" r:id="rId48"/>
    <p:sldId id="2599" r:id="rId49"/>
    <p:sldId id="260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D7600"/>
    <a:srgbClr val="F9B542"/>
    <a:srgbClr val="60A918"/>
    <a:srgbClr val="DAE8FC"/>
    <a:srgbClr val="DAD7EE"/>
    <a:srgbClr val="CE292F"/>
    <a:srgbClr val="543E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72" autoAdjust="0"/>
    <p:restoredTop sz="93150" autoAdjust="0"/>
  </p:normalViewPr>
  <p:slideViewPr>
    <p:cSldViewPr snapToGrid="0">
      <p:cViewPr varScale="1">
        <p:scale>
          <a:sx n="110" d="100"/>
          <a:sy n="110" d="100"/>
        </p:scale>
        <p:origin x="4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A3F64-B923-4F37-81EF-BDC34463A90C}" type="datetimeFigureOut">
              <a:rPr lang="en-US" smtClean="0"/>
              <a:t>9/25/24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60285C-A373-4EA7-BDC4-778E5FD45DB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D460285C-A373-4EA7-BDC4-778E5FD45DBB}" type="slidenum">
              <a:rPr lang="en-US" smtClean="0"/>
              <a:t>1</a:t>
            </a:fld>
            <a:endParaRPr lang="en-US"/>
          </a:p>
        </p:txBody>
      </p:sp>
    </p:spTree>
    <p:extLst>
      <p:ext uri="{BB962C8B-B14F-4D97-AF65-F5344CB8AC3E}">
        <p14:creationId xmlns:p14="http://schemas.microsoft.com/office/powerpoint/2010/main" val="1338796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SG" dirty="0"/>
          </a:p>
        </p:txBody>
      </p:sp>
      <p:sp>
        <p:nvSpPr>
          <p:cNvPr id="4" name="Slide Number Placeholder 3"/>
          <p:cNvSpPr>
            <a:spLocks noGrp="1"/>
          </p:cNvSpPr>
          <p:nvPr>
            <p:ph type="sldNum" sz="quarter" idx="5"/>
          </p:nvPr>
        </p:nvSpPr>
        <p:spPr/>
        <p:txBody>
          <a:bodyPr/>
          <a:lstStyle/>
          <a:p>
            <a:fld id="{0A37C70A-C532-4502-A5CF-20FBCA08FEF7}" type="slidenum">
              <a:rPr lang="en-SG" smtClean="0"/>
              <a:t>2</a:t>
            </a:fld>
            <a:endParaRPr lang="en-SG"/>
          </a:p>
        </p:txBody>
      </p:sp>
    </p:spTree>
    <p:extLst>
      <p:ext uri="{BB962C8B-B14F-4D97-AF65-F5344CB8AC3E}">
        <p14:creationId xmlns:p14="http://schemas.microsoft.com/office/powerpoint/2010/main" val="2023038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pPr marL="342900" indent="-342900">
              <a:buAutoNum type="arabicPeriod"/>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3</a:t>
            </a:fld>
            <a:endParaRPr lang="en-GB"/>
          </a:p>
        </p:txBody>
      </p:sp>
    </p:spTree>
    <p:extLst>
      <p:ext uri="{BB962C8B-B14F-4D97-AF65-F5344CB8AC3E}">
        <p14:creationId xmlns:p14="http://schemas.microsoft.com/office/powerpoint/2010/main" val="297003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4</a:t>
            </a:fld>
            <a:endParaRPr lang="en-GB"/>
          </a:p>
        </p:txBody>
      </p:sp>
    </p:spTree>
    <p:extLst>
      <p:ext uri="{BB962C8B-B14F-4D97-AF65-F5344CB8AC3E}">
        <p14:creationId xmlns:p14="http://schemas.microsoft.com/office/powerpoint/2010/main" val="718619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buAutoNum type="arabicPeriod"/>
                </a:pPr>
                <a:endParaRPr lang="zh-HK" altLang="en-US" dirty="0"/>
              </a:p>
            </p:txBody>
          </p:sp>
        </mc:Choice>
        <mc:Fallback xmlns="">
          <p:sp>
            <p:nvSpPr>
              <p:cNvPr id="3" name="Notes Placeholder 2"/>
              <p:cNvSpPr>
                <a:spLocks noGrp="1"/>
              </p:cNvSpPr>
              <p:nvPr>
                <p:ph type="body" idx="1"/>
              </p:nvPr>
            </p:nvSpPr>
            <p:spPr/>
            <p:txBody>
              <a:bodyPr/>
              <a:lstStyle/>
              <a:p>
                <a:pPr marL="228600" indent="-228600">
                  <a:buAutoNum type="arabicPeriod"/>
                </a:pPr>
                <a:endParaRPr lang="en-US" altLang="zh-HK" baseline="0" dirty="0"/>
              </a:p>
              <a:p>
                <a:r>
                  <a:rPr lang="en-US" sz="1800" b="1" kern="100" dirty="0">
                    <a:effectLst/>
                    <a:latin typeface="Calibri" panose="020F0502020204030204" pitchFamily="34" charset="0"/>
                    <a:ea typeface="DengXian" panose="02010600030101010101" pitchFamily="2" charset="-122"/>
                    <a:cs typeface="Times New Roman" panose="02020603050405020304" pitchFamily="18" charset="0"/>
                  </a:rPr>
                  <a:t>The merged step is further extracted to be the distance comparison operation</a:t>
                </a:r>
                <a:r>
                  <a:rPr lang="zh-CN" altLang="en-US" sz="1800" b="1"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altLang="zh-CN" sz="1800" b="1" kern="100" dirty="0">
                    <a:effectLst/>
                    <a:latin typeface="Calibri" panose="020F0502020204030204" pitchFamily="34" charset="0"/>
                    <a:ea typeface="DengXian" panose="02010600030101010101" pitchFamily="2" charset="-122"/>
                    <a:cs typeface="Times New Roman" panose="02020603050405020304" pitchFamily="18" charset="0"/>
                  </a:rPr>
                  <a:t>(DCO)</a:t>
                </a:r>
                <a:r>
                  <a:rPr lang="en-US" sz="1800" b="1" kern="100" dirty="0">
                    <a:effectLst/>
                    <a:latin typeface="Calibri" panose="020F0502020204030204" pitchFamily="34" charset="0"/>
                    <a:ea typeface="DengXian" panose="02010600030101010101" pitchFamily="2" charset="-122"/>
                    <a:cs typeface="Times New Roman" panose="02020603050405020304" pitchFamily="18" charset="0"/>
                  </a:rPr>
                  <a:t>. </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Given a data vector </a:t>
                </a:r>
                <a:r>
                  <a:rPr lang="en-US" altLang="zh-CN" sz="1800" b="1" i="0">
                    <a:latin typeface="Cambria Math" panose="02040503050406030204" pitchFamily="18" charset="0"/>
                    <a:ea typeface="Microsoft YaHei" panose="020B0503020204020204" pitchFamily="34" charset="-122"/>
                    <a:cs typeface="Calibri" panose="020F0502020204030204" pitchFamily="34" charset="0"/>
                  </a:rPr>
                  <a:t>𝐨</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a query vector </a:t>
                </a:r>
                <a:r>
                  <a:rPr lang="en-US" altLang="zh-CN" sz="1800" b="1" i="0">
                    <a:latin typeface="Cambria Math" panose="02040503050406030204" pitchFamily="18" charset="0"/>
                    <a:ea typeface="Microsoft YaHei" panose="020B0503020204020204" pitchFamily="34" charset="-122"/>
                    <a:cs typeface="Calibri" panose="020F0502020204030204" pitchFamily="34" charset="0"/>
                  </a:rPr>
                  <a:t>𝐪</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and a distance threshold </a:t>
                </a:r>
                <a:r>
                  <a:rPr lang="en-US" altLang="zh-CN" sz="1800" b="0" i="0">
                    <a:latin typeface="Cambria Math" panose="02040503050406030204" pitchFamily="18" charset="0"/>
                    <a:ea typeface="Microsoft YaHei" panose="020B0503020204020204" pitchFamily="34" charset="-122"/>
                    <a:cs typeface="Calibri" panose="020F0502020204030204" pitchFamily="34" charset="0"/>
                  </a:rPr>
                  <a:t>𝑟</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the distance comparison operation is to decide whether </a:t>
                </a:r>
                <a:r>
                  <a:rPr lang="en-US" altLang="zh-CN" sz="1800" b="1" i="0">
                    <a:latin typeface="Cambria Math" panose="02040503050406030204" pitchFamily="18" charset="0"/>
                    <a:ea typeface="Microsoft YaHei" panose="020B0503020204020204" pitchFamily="34" charset="-122"/>
                    <a:cs typeface="Calibri" panose="020F0502020204030204" pitchFamily="34" charset="0"/>
                  </a:rPr>
                  <a:t>‖𝐨−𝐪‖</a:t>
                </a:r>
                <a:r>
                  <a:rPr lang="en-US" altLang="zh-CN" sz="1800" b="0" i="0">
                    <a:latin typeface="Cambria Math" panose="02040503050406030204" pitchFamily="18" charset="0"/>
                    <a:ea typeface="Microsoft YaHei" panose="020B0503020204020204" pitchFamily="34" charset="-122"/>
                    <a:cs typeface="Calibri" panose="020F0502020204030204" pitchFamily="34" charset="0"/>
                  </a:rPr>
                  <a:t>≤𝑟</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and if so, return the exact distance </a:t>
                </a:r>
                <a:r>
                  <a:rPr lang="en-US" altLang="zh-CN" sz="1800" b="1" i="0">
                    <a:latin typeface="Cambria Math" panose="02040503050406030204" pitchFamily="18" charset="0"/>
                    <a:ea typeface="Microsoft YaHei" panose="020B0503020204020204" pitchFamily="34" charset="-122"/>
                    <a:cs typeface="Calibri" panose="020F0502020204030204" pitchFamily="34" charset="0"/>
                  </a:rPr>
                  <a:t>‖𝐨−𝐪‖</a:t>
                </a:r>
                <a:r>
                  <a:rPr lang="en-US" altLang="zh-CN" sz="1800" dirty="0">
                    <a:latin typeface="Calibri" panose="020F0502020204030204" pitchFamily="34" charset="0"/>
                    <a:ea typeface="Microsoft YaHei" panose="020B0503020204020204" pitchFamily="34" charset="-122"/>
                    <a:cs typeface="Calibri" panose="020F0502020204030204" pitchFamily="34" charset="0"/>
                  </a:rPr>
                  <a:t>.</a:t>
                </a:r>
              </a:p>
              <a:p>
                <a:r>
                  <a:rPr lang="en-US" sz="1800" b="1" kern="100" dirty="0">
                    <a:effectLst/>
                    <a:latin typeface="Calibri" panose="020F0502020204030204" pitchFamily="34" charset="0"/>
                    <a:ea typeface="DengXian" panose="02010600030101010101" pitchFamily="2" charset="-122"/>
                    <a:cs typeface="Times New Roman" panose="02020603050405020304" pitchFamily="18" charset="0"/>
                  </a:rPr>
                  <a:t>When the distance is no greater, we say the object and the DCO are positive. Otherwise, we say they are negative.</a:t>
                </a: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a:p>
                <a:r>
                  <a:rPr lang="en-SG" sz="1800" kern="100" dirty="0">
                    <a:effectLst/>
                    <a:latin typeface="Calibri" panose="020F0502020204030204" pitchFamily="34" charset="0"/>
                    <a:ea typeface="DengXian" panose="02010600030101010101" pitchFamily="2" charset="-122"/>
                    <a:cs typeface="Times New Roman" panose="02020603050405020304" pitchFamily="18" charset="0"/>
                  </a:rPr>
                  <a:t> </a:t>
                </a:r>
              </a:p>
              <a:p>
                <a:r>
                  <a:rPr lang="en-SG" sz="1800" kern="100" dirty="0">
                    <a:effectLst/>
                    <a:latin typeface="Calibri" panose="020F0502020204030204" pitchFamily="34" charset="0"/>
                    <a:ea typeface="DengXian" panose="02010600030101010101" pitchFamily="2" charset="-122"/>
                    <a:cs typeface="Times New Roman" panose="02020603050405020304" pitchFamily="18" charset="0"/>
                  </a:rPr>
                  <a:t>Here we show some empirical evidence of our observations. The figure shows the time decomposition of AKNN algorithms. it clearly shows that DCOs dominate the time cost and most DCOs are negative. As a result, based on the observations, we target to conduct DCOs efficiently and reliably. </a:t>
                </a:r>
              </a:p>
              <a:p>
                <a:pPr marL="228600" indent="-228600">
                  <a:buAutoNum type="arabicPeriod"/>
                </a:pPr>
                <a:endParaRPr lang="zh-HK" altLang="en-US" dirty="0"/>
              </a:p>
            </p:txBody>
          </p:sp>
        </mc:Fallback>
      </mc:AlternateContent>
      <p:sp>
        <p:nvSpPr>
          <p:cNvPr id="4" name="Slide Number Placeholder 3"/>
          <p:cNvSpPr>
            <a:spLocks noGrp="1"/>
          </p:cNvSpPr>
          <p:nvPr>
            <p:ph type="sldNum" sz="quarter" idx="10"/>
          </p:nvPr>
        </p:nvSpPr>
        <p:spPr/>
        <p:txBody>
          <a:bodyPr/>
          <a:lstStyle/>
          <a:p>
            <a:fld id="{60557576-4036-4077-876A-4D5A4B51F2B0}" type="slidenum">
              <a:rPr lang="en-GB" smtClean="0"/>
              <a:t>5</a:t>
            </a:fld>
            <a:endParaRPr lang="en-GB"/>
          </a:p>
        </p:txBody>
      </p:sp>
    </p:spTree>
    <p:extLst>
      <p:ext uri="{BB962C8B-B14F-4D97-AF65-F5344CB8AC3E}">
        <p14:creationId xmlns:p14="http://schemas.microsoft.com/office/powerpoint/2010/main" val="3760392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6</a:t>
            </a:fld>
            <a:endParaRPr lang="en-GB"/>
          </a:p>
        </p:txBody>
      </p:sp>
    </p:spTree>
    <p:extLst>
      <p:ext uri="{BB962C8B-B14F-4D97-AF65-F5344CB8AC3E}">
        <p14:creationId xmlns:p14="http://schemas.microsoft.com/office/powerpoint/2010/main" val="1303094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7</a:t>
            </a:fld>
            <a:endParaRPr lang="en-GB"/>
          </a:p>
        </p:txBody>
      </p:sp>
    </p:spTree>
    <p:extLst>
      <p:ext uri="{BB962C8B-B14F-4D97-AF65-F5344CB8AC3E}">
        <p14:creationId xmlns:p14="http://schemas.microsoft.com/office/powerpoint/2010/main" val="2343069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8</a:t>
            </a:fld>
            <a:endParaRPr lang="en-GB"/>
          </a:p>
        </p:txBody>
      </p:sp>
    </p:spTree>
    <p:extLst>
      <p:ext uri="{BB962C8B-B14F-4D97-AF65-F5344CB8AC3E}">
        <p14:creationId xmlns:p14="http://schemas.microsoft.com/office/powerpoint/2010/main" val="2290115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9</a:t>
            </a:fld>
            <a:endParaRPr lang="en-GB"/>
          </a:p>
        </p:txBody>
      </p:sp>
    </p:spTree>
    <p:extLst>
      <p:ext uri="{BB962C8B-B14F-4D97-AF65-F5344CB8AC3E}">
        <p14:creationId xmlns:p14="http://schemas.microsoft.com/office/powerpoint/2010/main" val="2650337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10</a:t>
            </a:fld>
            <a:endParaRPr lang="en-GB"/>
          </a:p>
        </p:txBody>
      </p:sp>
    </p:spTree>
    <p:extLst>
      <p:ext uri="{BB962C8B-B14F-4D97-AF65-F5344CB8AC3E}">
        <p14:creationId xmlns:p14="http://schemas.microsoft.com/office/powerpoint/2010/main" val="4039975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11</a:t>
            </a:fld>
            <a:endParaRPr lang="en-GB"/>
          </a:p>
        </p:txBody>
      </p:sp>
    </p:spTree>
    <p:extLst>
      <p:ext uri="{BB962C8B-B14F-4D97-AF65-F5344CB8AC3E}">
        <p14:creationId xmlns:p14="http://schemas.microsoft.com/office/powerpoint/2010/main" val="2356828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7688"/>
          </a:xfrm>
        </p:spPr>
      </p:sp>
      <p:sp>
        <p:nvSpPr>
          <p:cNvPr id="3" name="Notes Placeholder 2"/>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0557576-4036-4077-876A-4D5A4B51F2B0}" type="slidenum">
              <a:rPr lang="en-GB" smtClean="0"/>
              <a:t>12</a:t>
            </a:fld>
            <a:endParaRPr lang="en-GB"/>
          </a:p>
        </p:txBody>
      </p:sp>
    </p:spTree>
    <p:extLst>
      <p:ext uri="{BB962C8B-B14F-4D97-AF65-F5344CB8AC3E}">
        <p14:creationId xmlns:p14="http://schemas.microsoft.com/office/powerpoint/2010/main" val="472185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SG" dirty="0"/>
          </a:p>
        </p:txBody>
      </p:sp>
      <p:sp>
        <p:nvSpPr>
          <p:cNvPr id="4" name="Slide Number Placeholder 3"/>
          <p:cNvSpPr>
            <a:spLocks noGrp="1"/>
          </p:cNvSpPr>
          <p:nvPr>
            <p:ph type="sldNum" sz="quarter" idx="5"/>
          </p:nvPr>
        </p:nvSpPr>
        <p:spPr/>
        <p:txBody>
          <a:bodyPr/>
          <a:lstStyle/>
          <a:p>
            <a:fld id="{0A37C70A-C532-4502-A5CF-20FBCA08FEF7}" type="slidenum">
              <a:rPr lang="en-SG" smtClean="0"/>
              <a:t>13</a:t>
            </a:fld>
            <a:endParaRPr lang="en-SG"/>
          </a:p>
        </p:txBody>
      </p:sp>
    </p:spTree>
    <p:extLst>
      <p:ext uri="{BB962C8B-B14F-4D97-AF65-F5344CB8AC3E}">
        <p14:creationId xmlns:p14="http://schemas.microsoft.com/office/powerpoint/2010/main" val="2378061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14</a:t>
            </a:fld>
            <a:endParaRPr lang="en-GB"/>
          </a:p>
        </p:txBody>
      </p:sp>
    </p:spTree>
    <p:extLst>
      <p:ext uri="{BB962C8B-B14F-4D97-AF65-F5344CB8AC3E}">
        <p14:creationId xmlns:p14="http://schemas.microsoft.com/office/powerpoint/2010/main" val="1614829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B45D-EA06-B446-5550-5284F8D6C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83943-3EE8-164A-4AAF-76E4E2873C5C}"/>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3D423129-7BE7-D6BE-569E-B43679DD3467}"/>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7F1B733F-96DF-4C54-489B-F77D1134CDF0}"/>
              </a:ext>
            </a:extLst>
          </p:cNvPr>
          <p:cNvSpPr>
            <a:spLocks noGrp="1"/>
          </p:cNvSpPr>
          <p:nvPr>
            <p:ph type="sldNum" sz="quarter" idx="10"/>
          </p:nvPr>
        </p:nvSpPr>
        <p:spPr/>
        <p:txBody>
          <a:bodyPr/>
          <a:lstStyle/>
          <a:p>
            <a:fld id="{60557576-4036-4077-876A-4D5A4B51F2B0}" type="slidenum">
              <a:rPr lang="en-GB" smtClean="0"/>
              <a:t>15</a:t>
            </a:fld>
            <a:endParaRPr lang="en-GB"/>
          </a:p>
        </p:txBody>
      </p:sp>
    </p:spTree>
    <p:extLst>
      <p:ext uri="{BB962C8B-B14F-4D97-AF65-F5344CB8AC3E}">
        <p14:creationId xmlns:p14="http://schemas.microsoft.com/office/powerpoint/2010/main" val="3730162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B45D-EA06-B446-5550-5284F8D6C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83943-3EE8-164A-4AAF-76E4E2873C5C}"/>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3D423129-7BE7-D6BE-569E-B43679DD3467}"/>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7F1B733F-96DF-4C54-489B-F77D1134CDF0}"/>
              </a:ext>
            </a:extLst>
          </p:cNvPr>
          <p:cNvSpPr>
            <a:spLocks noGrp="1"/>
          </p:cNvSpPr>
          <p:nvPr>
            <p:ph type="sldNum" sz="quarter" idx="10"/>
          </p:nvPr>
        </p:nvSpPr>
        <p:spPr/>
        <p:txBody>
          <a:bodyPr/>
          <a:lstStyle/>
          <a:p>
            <a:fld id="{60557576-4036-4077-876A-4D5A4B51F2B0}" type="slidenum">
              <a:rPr lang="en-GB" smtClean="0"/>
              <a:t>16</a:t>
            </a:fld>
            <a:endParaRPr lang="en-GB"/>
          </a:p>
        </p:txBody>
      </p:sp>
    </p:spTree>
    <p:extLst>
      <p:ext uri="{BB962C8B-B14F-4D97-AF65-F5344CB8AC3E}">
        <p14:creationId xmlns:p14="http://schemas.microsoft.com/office/powerpoint/2010/main" val="2835151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460285C-A373-4EA7-BDC4-778E5FD45DBB}" type="slidenum">
              <a:rPr lang="en-US" smtClean="0"/>
              <a:t>17</a:t>
            </a:fld>
            <a:endParaRPr lang="en-US"/>
          </a:p>
        </p:txBody>
      </p:sp>
    </p:spTree>
    <p:extLst>
      <p:ext uri="{BB962C8B-B14F-4D97-AF65-F5344CB8AC3E}">
        <p14:creationId xmlns:p14="http://schemas.microsoft.com/office/powerpoint/2010/main" val="968405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0CE2-B730-7354-143F-43FD1DB1F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6FB9C-D75E-A27B-47A9-9793F70398C0}"/>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424DCA0B-413E-9B34-BCCD-771C62897076}"/>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0A4BEA9B-F423-AC7D-3026-AEA19A6AFDC4}"/>
              </a:ext>
            </a:extLst>
          </p:cNvPr>
          <p:cNvSpPr>
            <a:spLocks noGrp="1"/>
          </p:cNvSpPr>
          <p:nvPr>
            <p:ph type="sldNum" sz="quarter" idx="10"/>
          </p:nvPr>
        </p:nvSpPr>
        <p:spPr/>
        <p:txBody>
          <a:bodyPr/>
          <a:lstStyle/>
          <a:p>
            <a:fld id="{60557576-4036-4077-876A-4D5A4B51F2B0}" type="slidenum">
              <a:rPr lang="en-GB" smtClean="0"/>
              <a:t>18</a:t>
            </a:fld>
            <a:endParaRPr lang="en-GB"/>
          </a:p>
        </p:txBody>
      </p:sp>
    </p:spTree>
    <p:extLst>
      <p:ext uri="{BB962C8B-B14F-4D97-AF65-F5344CB8AC3E}">
        <p14:creationId xmlns:p14="http://schemas.microsoft.com/office/powerpoint/2010/main" val="431958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2B47-B571-56AF-766F-029F68AEB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26C32-1223-674D-F7DE-5DB7E752C233}"/>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F85A97A9-CDCB-342D-F582-B2DB6A0DAD26}"/>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35969277-238F-E377-4837-18B4432AD631}"/>
              </a:ext>
            </a:extLst>
          </p:cNvPr>
          <p:cNvSpPr>
            <a:spLocks noGrp="1"/>
          </p:cNvSpPr>
          <p:nvPr>
            <p:ph type="sldNum" sz="quarter" idx="10"/>
          </p:nvPr>
        </p:nvSpPr>
        <p:spPr/>
        <p:txBody>
          <a:bodyPr/>
          <a:lstStyle/>
          <a:p>
            <a:fld id="{60557576-4036-4077-876A-4D5A4B51F2B0}" type="slidenum">
              <a:rPr lang="en-GB" smtClean="0"/>
              <a:t>19</a:t>
            </a:fld>
            <a:endParaRPr lang="en-GB"/>
          </a:p>
        </p:txBody>
      </p:sp>
    </p:spTree>
    <p:extLst>
      <p:ext uri="{BB962C8B-B14F-4D97-AF65-F5344CB8AC3E}">
        <p14:creationId xmlns:p14="http://schemas.microsoft.com/office/powerpoint/2010/main" val="477160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893D-B6CF-A5FE-926D-C27C097E3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0F90-F5D6-1DCE-2A0C-5A66A40DF64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E4C94C3E-F5FA-B622-1871-30532DA272CF}"/>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8CEAA642-2312-4B67-8F88-F7FA68FF5C4C}"/>
              </a:ext>
            </a:extLst>
          </p:cNvPr>
          <p:cNvSpPr>
            <a:spLocks noGrp="1"/>
          </p:cNvSpPr>
          <p:nvPr>
            <p:ph type="sldNum" sz="quarter" idx="10"/>
          </p:nvPr>
        </p:nvSpPr>
        <p:spPr/>
        <p:txBody>
          <a:bodyPr/>
          <a:lstStyle/>
          <a:p>
            <a:fld id="{60557576-4036-4077-876A-4D5A4B51F2B0}" type="slidenum">
              <a:rPr lang="en-GB" smtClean="0"/>
              <a:t>20</a:t>
            </a:fld>
            <a:endParaRPr lang="en-GB"/>
          </a:p>
        </p:txBody>
      </p:sp>
    </p:spTree>
    <p:extLst>
      <p:ext uri="{BB962C8B-B14F-4D97-AF65-F5344CB8AC3E}">
        <p14:creationId xmlns:p14="http://schemas.microsoft.com/office/powerpoint/2010/main" val="1460346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893D-B6CF-A5FE-926D-C27C097E3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0F90-F5D6-1DCE-2A0C-5A66A40DF64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E4C94C3E-F5FA-B622-1871-30532DA272CF}"/>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8CEAA642-2312-4B67-8F88-F7FA68FF5C4C}"/>
              </a:ext>
            </a:extLst>
          </p:cNvPr>
          <p:cNvSpPr>
            <a:spLocks noGrp="1"/>
          </p:cNvSpPr>
          <p:nvPr>
            <p:ph type="sldNum" sz="quarter" idx="10"/>
          </p:nvPr>
        </p:nvSpPr>
        <p:spPr/>
        <p:txBody>
          <a:bodyPr/>
          <a:lstStyle/>
          <a:p>
            <a:fld id="{60557576-4036-4077-876A-4D5A4B51F2B0}" type="slidenum">
              <a:rPr lang="en-GB" smtClean="0"/>
              <a:t>21</a:t>
            </a:fld>
            <a:endParaRPr lang="en-GB"/>
          </a:p>
        </p:txBody>
      </p:sp>
    </p:spTree>
    <p:extLst>
      <p:ext uri="{BB962C8B-B14F-4D97-AF65-F5344CB8AC3E}">
        <p14:creationId xmlns:p14="http://schemas.microsoft.com/office/powerpoint/2010/main" val="2339207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7A25-BAD7-DB34-3B0D-86DD47D70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9C0375-03A4-DD3C-BD76-F9488BCD3247}"/>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FE4465C2-F599-D3F0-B068-2275A18BC403}"/>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D0B7DA9E-BF98-0355-6354-722713A66A75}"/>
              </a:ext>
            </a:extLst>
          </p:cNvPr>
          <p:cNvSpPr>
            <a:spLocks noGrp="1"/>
          </p:cNvSpPr>
          <p:nvPr>
            <p:ph type="sldNum" sz="quarter" idx="10"/>
          </p:nvPr>
        </p:nvSpPr>
        <p:spPr/>
        <p:txBody>
          <a:bodyPr/>
          <a:lstStyle/>
          <a:p>
            <a:fld id="{60557576-4036-4077-876A-4D5A4B51F2B0}" type="slidenum">
              <a:rPr lang="en-GB" smtClean="0"/>
              <a:t>22</a:t>
            </a:fld>
            <a:endParaRPr lang="en-GB"/>
          </a:p>
        </p:txBody>
      </p:sp>
    </p:spTree>
    <p:extLst>
      <p:ext uri="{BB962C8B-B14F-4D97-AF65-F5344CB8AC3E}">
        <p14:creationId xmlns:p14="http://schemas.microsoft.com/office/powerpoint/2010/main" val="3421643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56D8-EE79-EE50-D27A-A6F536B61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9B0C6-7991-A56D-B0FF-60615E16AC21}"/>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EBE33028-8B81-26C7-9162-8168546230DE}"/>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409EF6C4-DCC2-B4BE-3069-443ECC79197D}"/>
              </a:ext>
            </a:extLst>
          </p:cNvPr>
          <p:cNvSpPr>
            <a:spLocks noGrp="1"/>
          </p:cNvSpPr>
          <p:nvPr>
            <p:ph type="sldNum" sz="quarter" idx="10"/>
          </p:nvPr>
        </p:nvSpPr>
        <p:spPr/>
        <p:txBody>
          <a:bodyPr/>
          <a:lstStyle/>
          <a:p>
            <a:fld id="{60557576-4036-4077-876A-4D5A4B51F2B0}" type="slidenum">
              <a:rPr lang="en-GB" smtClean="0"/>
              <a:t>23</a:t>
            </a:fld>
            <a:endParaRPr lang="en-GB"/>
          </a:p>
        </p:txBody>
      </p:sp>
    </p:spTree>
    <p:extLst>
      <p:ext uri="{BB962C8B-B14F-4D97-AF65-F5344CB8AC3E}">
        <p14:creationId xmlns:p14="http://schemas.microsoft.com/office/powerpoint/2010/main" val="182117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56D8-EE79-EE50-D27A-A6F536B61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9B0C6-7991-A56D-B0FF-60615E16AC21}"/>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EBE33028-8B81-26C7-9162-8168546230DE}"/>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409EF6C4-DCC2-B4BE-3069-443ECC79197D}"/>
              </a:ext>
            </a:extLst>
          </p:cNvPr>
          <p:cNvSpPr>
            <a:spLocks noGrp="1"/>
          </p:cNvSpPr>
          <p:nvPr>
            <p:ph type="sldNum" sz="quarter" idx="10"/>
          </p:nvPr>
        </p:nvSpPr>
        <p:spPr/>
        <p:txBody>
          <a:bodyPr/>
          <a:lstStyle/>
          <a:p>
            <a:fld id="{60557576-4036-4077-876A-4D5A4B51F2B0}" type="slidenum">
              <a:rPr lang="en-GB" smtClean="0"/>
              <a:t>24</a:t>
            </a:fld>
            <a:endParaRPr lang="en-GB"/>
          </a:p>
        </p:txBody>
      </p:sp>
    </p:spTree>
    <p:extLst>
      <p:ext uri="{BB962C8B-B14F-4D97-AF65-F5344CB8AC3E}">
        <p14:creationId xmlns:p14="http://schemas.microsoft.com/office/powerpoint/2010/main" val="1702814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3FCD0-2A69-E83C-067F-6C717650B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165DF-C5B5-BA77-3C2C-166F24CF29BA}"/>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86A28290-8DCD-0CF7-CA11-2AF50FD76E45}"/>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FC1691-42DE-364B-9482-186BB6310A88}"/>
              </a:ext>
            </a:extLst>
          </p:cNvPr>
          <p:cNvSpPr>
            <a:spLocks noGrp="1"/>
          </p:cNvSpPr>
          <p:nvPr>
            <p:ph type="sldNum" sz="quarter" idx="10"/>
          </p:nvPr>
        </p:nvSpPr>
        <p:spPr/>
        <p:txBody>
          <a:bodyPr/>
          <a:lstStyle/>
          <a:p>
            <a:fld id="{60557576-4036-4077-876A-4D5A4B51F2B0}" type="slidenum">
              <a:rPr lang="en-GB" smtClean="0"/>
              <a:t>25</a:t>
            </a:fld>
            <a:endParaRPr lang="en-GB"/>
          </a:p>
        </p:txBody>
      </p:sp>
    </p:spTree>
    <p:extLst>
      <p:ext uri="{BB962C8B-B14F-4D97-AF65-F5344CB8AC3E}">
        <p14:creationId xmlns:p14="http://schemas.microsoft.com/office/powerpoint/2010/main" val="2855777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3FCD0-2A69-E83C-067F-6C717650B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165DF-C5B5-BA77-3C2C-166F24CF29BA}"/>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86A28290-8DCD-0CF7-CA11-2AF50FD76E45}"/>
              </a:ext>
            </a:extLst>
          </p:cNvPr>
          <p:cNvSpPr>
            <a:spLocks noGrp="1"/>
          </p:cNvSpPr>
          <p:nvPr>
            <p:ph type="body" idx="1"/>
          </p:nvPr>
        </p:nvSpPr>
        <p:spPr/>
        <p:txBody>
          <a:bodyPr/>
          <a:lstStyle/>
          <a:p>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FC1691-42DE-364B-9482-186BB6310A88}"/>
              </a:ext>
            </a:extLst>
          </p:cNvPr>
          <p:cNvSpPr>
            <a:spLocks noGrp="1"/>
          </p:cNvSpPr>
          <p:nvPr>
            <p:ph type="sldNum" sz="quarter" idx="10"/>
          </p:nvPr>
        </p:nvSpPr>
        <p:spPr/>
        <p:txBody>
          <a:bodyPr/>
          <a:lstStyle/>
          <a:p>
            <a:fld id="{60557576-4036-4077-876A-4D5A4B51F2B0}" type="slidenum">
              <a:rPr lang="en-GB" smtClean="0"/>
              <a:t>26</a:t>
            </a:fld>
            <a:endParaRPr lang="en-GB"/>
          </a:p>
        </p:txBody>
      </p:sp>
    </p:spTree>
    <p:extLst>
      <p:ext uri="{BB962C8B-B14F-4D97-AF65-F5344CB8AC3E}">
        <p14:creationId xmlns:p14="http://schemas.microsoft.com/office/powerpoint/2010/main" val="1227021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0EAA-4291-7E5B-0723-E1C7ACCA4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15191-4BE8-3910-83EE-5753FE86F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FA302-C3CE-65D8-4540-F35236E28672}"/>
              </a:ext>
            </a:extLst>
          </p:cNvPr>
          <p:cNvSpPr>
            <a:spLocks noGrp="1"/>
          </p:cNvSpPr>
          <p:nvPr>
            <p:ph type="body" idx="1"/>
          </p:nvPr>
        </p:nvSpPr>
        <p:spPr/>
        <p:txBody>
          <a:bodyPr/>
          <a:lstStyle/>
          <a:p>
            <a:pPr>
              <a:tabLst>
                <a:tab pos="1174115" algn="l"/>
              </a:tabLst>
            </a:pPr>
            <a:endParaRPr lang="en-SG" sz="1200" kern="100" noProof="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CF933B2E-2AF0-EE3E-C9CA-989866C29F80}"/>
              </a:ext>
            </a:extLst>
          </p:cNvPr>
          <p:cNvSpPr>
            <a:spLocks noGrp="1"/>
          </p:cNvSpPr>
          <p:nvPr>
            <p:ph type="sldNum" sz="quarter" idx="5"/>
          </p:nvPr>
        </p:nvSpPr>
        <p:spPr/>
        <p:txBody>
          <a:bodyPr/>
          <a:lstStyle/>
          <a:p>
            <a:fld id="{8B2E1C13-8D28-4A6A-88D0-093D74C5904C}" type="slidenum">
              <a:rPr lang="zh-CN" altLang="en-US" smtClean="0"/>
              <a:t>27</a:t>
            </a:fld>
            <a:endParaRPr lang="zh-CN" altLang="en-US"/>
          </a:p>
        </p:txBody>
      </p:sp>
    </p:spTree>
    <p:extLst>
      <p:ext uri="{BB962C8B-B14F-4D97-AF65-F5344CB8AC3E}">
        <p14:creationId xmlns:p14="http://schemas.microsoft.com/office/powerpoint/2010/main" val="2432934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0EAA-4291-7E5B-0723-E1C7ACCA4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15191-4BE8-3910-83EE-5753FE86F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FA302-C3CE-65D8-4540-F35236E28672}"/>
              </a:ext>
            </a:extLst>
          </p:cNvPr>
          <p:cNvSpPr>
            <a:spLocks noGrp="1"/>
          </p:cNvSpPr>
          <p:nvPr>
            <p:ph type="body" idx="1"/>
          </p:nvPr>
        </p:nvSpPr>
        <p:spPr/>
        <p:txBody>
          <a:bodyPr/>
          <a:lstStyle/>
          <a:p>
            <a:pPr>
              <a:tabLst>
                <a:tab pos="1174115" algn="l"/>
              </a:tabLst>
            </a:pPr>
            <a:endParaRPr lang="en-SG" sz="12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CF933B2E-2AF0-EE3E-C9CA-989866C29F80}"/>
              </a:ext>
            </a:extLst>
          </p:cNvPr>
          <p:cNvSpPr>
            <a:spLocks noGrp="1"/>
          </p:cNvSpPr>
          <p:nvPr>
            <p:ph type="sldNum" sz="quarter" idx="5"/>
          </p:nvPr>
        </p:nvSpPr>
        <p:spPr/>
        <p:txBody>
          <a:bodyPr/>
          <a:lstStyle/>
          <a:p>
            <a:fld id="{8B2E1C13-8D28-4A6A-88D0-093D74C5904C}" type="slidenum">
              <a:rPr lang="zh-CN" altLang="en-US" smtClean="0"/>
              <a:t>28</a:t>
            </a:fld>
            <a:endParaRPr lang="zh-CN" altLang="en-US"/>
          </a:p>
        </p:txBody>
      </p:sp>
    </p:spTree>
    <p:extLst>
      <p:ext uri="{BB962C8B-B14F-4D97-AF65-F5344CB8AC3E}">
        <p14:creationId xmlns:p14="http://schemas.microsoft.com/office/powerpoint/2010/main" val="650754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60285C-A373-4EA7-BDC4-778E5FD45DBB}" type="slidenum">
              <a:rPr lang="en-US" smtClean="0"/>
              <a:t>29</a:t>
            </a:fld>
            <a:endParaRPr lang="en-US"/>
          </a:p>
        </p:txBody>
      </p:sp>
    </p:spTree>
    <p:extLst>
      <p:ext uri="{BB962C8B-B14F-4D97-AF65-F5344CB8AC3E}">
        <p14:creationId xmlns:p14="http://schemas.microsoft.com/office/powerpoint/2010/main" val="1278397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5E7A-146F-BF23-4965-70BC959CC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EA8DE-2FFC-6249-FDDB-7AB12452D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D423D-B99F-160C-52E5-1557074DBDD1}"/>
              </a:ext>
            </a:extLst>
          </p:cNvPr>
          <p:cNvSpPr>
            <a:spLocks noGrp="1"/>
          </p:cNvSpPr>
          <p:nvPr>
            <p:ph type="body" idx="1"/>
          </p:nvPr>
        </p:nvSpPr>
        <p:spPr/>
        <p:txBody>
          <a:bodyPr/>
          <a:lstStyle/>
          <a:p>
            <a:pPr>
              <a:tabLst>
                <a:tab pos="1174115" algn="l"/>
              </a:tabLst>
            </a:pPr>
            <a:endParaRPr lang="en-SG" sz="12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5B0EE027-0023-DE8D-E951-3E378CDF6FFA}"/>
              </a:ext>
            </a:extLst>
          </p:cNvPr>
          <p:cNvSpPr>
            <a:spLocks noGrp="1"/>
          </p:cNvSpPr>
          <p:nvPr>
            <p:ph type="sldNum" sz="quarter" idx="5"/>
          </p:nvPr>
        </p:nvSpPr>
        <p:spPr/>
        <p:txBody>
          <a:bodyPr/>
          <a:lstStyle/>
          <a:p>
            <a:fld id="{8B2E1C13-8D28-4A6A-88D0-093D74C5904C}" type="slidenum">
              <a:rPr lang="zh-CN" altLang="en-US" smtClean="0"/>
              <a:t>30</a:t>
            </a:fld>
            <a:endParaRPr lang="zh-CN" altLang="en-US"/>
          </a:p>
        </p:txBody>
      </p:sp>
    </p:spTree>
    <p:extLst>
      <p:ext uri="{BB962C8B-B14F-4D97-AF65-F5344CB8AC3E}">
        <p14:creationId xmlns:p14="http://schemas.microsoft.com/office/powerpoint/2010/main" val="757459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60285C-A373-4EA7-BDC4-778E5FD45DBB}" type="slidenum">
              <a:rPr lang="en-US" smtClean="0"/>
              <a:t>31</a:t>
            </a:fld>
            <a:endParaRPr lang="en-US"/>
          </a:p>
        </p:txBody>
      </p:sp>
    </p:spTree>
    <p:extLst>
      <p:ext uri="{BB962C8B-B14F-4D97-AF65-F5344CB8AC3E}">
        <p14:creationId xmlns:p14="http://schemas.microsoft.com/office/powerpoint/2010/main" val="13211837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SG" dirty="0"/>
          </a:p>
        </p:txBody>
      </p:sp>
      <p:sp>
        <p:nvSpPr>
          <p:cNvPr id="4" name="Slide Number Placeholder 3"/>
          <p:cNvSpPr>
            <a:spLocks noGrp="1"/>
          </p:cNvSpPr>
          <p:nvPr>
            <p:ph type="sldNum" sz="quarter" idx="5"/>
          </p:nvPr>
        </p:nvSpPr>
        <p:spPr/>
        <p:txBody>
          <a:bodyPr/>
          <a:lstStyle/>
          <a:p>
            <a:fld id="{0A37C70A-C532-4502-A5CF-20FBCA08FEF7}" type="slidenum">
              <a:rPr lang="en-SG" smtClean="0"/>
              <a:t>32</a:t>
            </a:fld>
            <a:endParaRPr lang="en-SG"/>
          </a:p>
        </p:txBody>
      </p:sp>
    </p:spTree>
    <p:extLst>
      <p:ext uri="{BB962C8B-B14F-4D97-AF65-F5344CB8AC3E}">
        <p14:creationId xmlns:p14="http://schemas.microsoft.com/office/powerpoint/2010/main" val="1905837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33</a:t>
            </a:fld>
            <a:endParaRPr lang="en-GB"/>
          </a:p>
        </p:txBody>
      </p:sp>
    </p:spTree>
    <p:extLst>
      <p:ext uri="{BB962C8B-B14F-4D97-AF65-F5344CB8AC3E}">
        <p14:creationId xmlns:p14="http://schemas.microsoft.com/office/powerpoint/2010/main" val="16896297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34</a:t>
            </a:fld>
            <a:endParaRPr lang="en-GB"/>
          </a:p>
        </p:txBody>
      </p:sp>
    </p:spTree>
    <p:extLst>
      <p:ext uri="{BB962C8B-B14F-4D97-AF65-F5344CB8AC3E}">
        <p14:creationId xmlns:p14="http://schemas.microsoft.com/office/powerpoint/2010/main" val="34013121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35</a:t>
            </a:fld>
            <a:endParaRPr lang="en-GB"/>
          </a:p>
        </p:txBody>
      </p:sp>
    </p:spTree>
    <p:extLst>
      <p:ext uri="{BB962C8B-B14F-4D97-AF65-F5344CB8AC3E}">
        <p14:creationId xmlns:p14="http://schemas.microsoft.com/office/powerpoint/2010/main" val="35235866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36</a:t>
            </a:fld>
            <a:endParaRPr lang="en-GB"/>
          </a:p>
        </p:txBody>
      </p:sp>
    </p:spTree>
    <p:extLst>
      <p:ext uri="{BB962C8B-B14F-4D97-AF65-F5344CB8AC3E}">
        <p14:creationId xmlns:p14="http://schemas.microsoft.com/office/powerpoint/2010/main" val="1698358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37</a:t>
            </a:fld>
            <a:endParaRPr lang="en-GB"/>
          </a:p>
        </p:txBody>
      </p:sp>
    </p:spTree>
    <p:extLst>
      <p:ext uri="{BB962C8B-B14F-4D97-AF65-F5344CB8AC3E}">
        <p14:creationId xmlns:p14="http://schemas.microsoft.com/office/powerpoint/2010/main" val="42329703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38</a:t>
            </a:fld>
            <a:endParaRPr lang="en-GB"/>
          </a:p>
        </p:txBody>
      </p:sp>
    </p:spTree>
    <p:extLst>
      <p:ext uri="{BB962C8B-B14F-4D97-AF65-F5344CB8AC3E}">
        <p14:creationId xmlns:p14="http://schemas.microsoft.com/office/powerpoint/2010/main" val="28893261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39</a:t>
            </a:fld>
            <a:endParaRPr lang="en-GB"/>
          </a:p>
        </p:txBody>
      </p:sp>
    </p:spTree>
    <p:extLst>
      <p:ext uri="{BB962C8B-B14F-4D97-AF65-F5344CB8AC3E}">
        <p14:creationId xmlns:p14="http://schemas.microsoft.com/office/powerpoint/2010/main" val="8860299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40</a:t>
            </a:fld>
            <a:endParaRPr lang="en-GB"/>
          </a:p>
        </p:txBody>
      </p:sp>
    </p:spTree>
    <p:extLst>
      <p:ext uri="{BB962C8B-B14F-4D97-AF65-F5344CB8AC3E}">
        <p14:creationId xmlns:p14="http://schemas.microsoft.com/office/powerpoint/2010/main" val="34754525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41</a:t>
            </a:fld>
            <a:endParaRPr lang="en-GB"/>
          </a:p>
        </p:txBody>
      </p:sp>
    </p:spTree>
    <p:extLst>
      <p:ext uri="{BB962C8B-B14F-4D97-AF65-F5344CB8AC3E}">
        <p14:creationId xmlns:p14="http://schemas.microsoft.com/office/powerpoint/2010/main" val="2153019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42</a:t>
            </a:fld>
            <a:endParaRPr lang="en-GB"/>
          </a:p>
        </p:txBody>
      </p:sp>
    </p:spTree>
    <p:extLst>
      <p:ext uri="{BB962C8B-B14F-4D97-AF65-F5344CB8AC3E}">
        <p14:creationId xmlns:p14="http://schemas.microsoft.com/office/powerpoint/2010/main" val="31049833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43</a:t>
            </a:fld>
            <a:endParaRPr lang="en-GB"/>
          </a:p>
        </p:txBody>
      </p:sp>
    </p:spTree>
    <p:extLst>
      <p:ext uri="{BB962C8B-B14F-4D97-AF65-F5344CB8AC3E}">
        <p14:creationId xmlns:p14="http://schemas.microsoft.com/office/powerpoint/2010/main" val="19179153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44</a:t>
            </a:fld>
            <a:endParaRPr lang="en-GB"/>
          </a:p>
        </p:txBody>
      </p:sp>
    </p:spTree>
    <p:extLst>
      <p:ext uri="{BB962C8B-B14F-4D97-AF65-F5344CB8AC3E}">
        <p14:creationId xmlns:p14="http://schemas.microsoft.com/office/powerpoint/2010/main" val="2913218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45</a:t>
            </a:fld>
            <a:endParaRPr lang="en-GB"/>
          </a:p>
        </p:txBody>
      </p:sp>
    </p:spTree>
    <p:extLst>
      <p:ext uri="{BB962C8B-B14F-4D97-AF65-F5344CB8AC3E}">
        <p14:creationId xmlns:p14="http://schemas.microsoft.com/office/powerpoint/2010/main" val="2790748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46</a:t>
            </a:fld>
            <a:endParaRPr lang="en-GB"/>
          </a:p>
        </p:txBody>
      </p:sp>
    </p:spTree>
    <p:extLst>
      <p:ext uri="{BB962C8B-B14F-4D97-AF65-F5344CB8AC3E}">
        <p14:creationId xmlns:p14="http://schemas.microsoft.com/office/powerpoint/2010/main" val="24989599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47</a:t>
            </a:fld>
            <a:endParaRPr lang="en-GB"/>
          </a:p>
        </p:txBody>
      </p:sp>
    </p:spTree>
    <p:extLst>
      <p:ext uri="{BB962C8B-B14F-4D97-AF65-F5344CB8AC3E}">
        <p14:creationId xmlns:p14="http://schemas.microsoft.com/office/powerpoint/2010/main" val="38837826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CEC2-9790-4932-F1D2-E8369D73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4ECC-D2CC-D104-7370-2C29187BFA1E}"/>
              </a:ext>
            </a:extLst>
          </p:cNvPr>
          <p:cNvSpPr>
            <a:spLocks noGrp="1" noRot="1" noChangeAspect="1"/>
          </p:cNvSpPr>
          <p:nvPr>
            <p:ph type="sldImg"/>
          </p:nvPr>
        </p:nvSpPr>
        <p:spPr>
          <a:xfrm>
            <a:off x="685800" y="1143000"/>
            <a:ext cx="5486400" cy="3087688"/>
          </a:xfrm>
        </p:spPr>
      </p:sp>
      <p:sp>
        <p:nvSpPr>
          <p:cNvPr id="3" name="Notes Placeholder 2">
            <a:extLst>
              <a:ext uri="{FF2B5EF4-FFF2-40B4-BE49-F238E27FC236}">
                <a16:creationId xmlns:a16="http://schemas.microsoft.com/office/drawing/2014/main" id="{ADAD1CFF-6729-1609-F153-473D5E5C49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9FA2-0C1C-5720-221A-11ED991BB2A3}"/>
              </a:ext>
            </a:extLst>
          </p:cNvPr>
          <p:cNvSpPr>
            <a:spLocks noGrp="1"/>
          </p:cNvSpPr>
          <p:nvPr>
            <p:ph type="sldNum" sz="quarter" idx="10"/>
          </p:nvPr>
        </p:nvSpPr>
        <p:spPr/>
        <p:txBody>
          <a:bodyPr/>
          <a:lstStyle/>
          <a:p>
            <a:fld id="{60557576-4036-4077-876A-4D5A4B51F2B0}" type="slidenum">
              <a:rPr lang="en-GB" smtClean="0"/>
              <a:t>48</a:t>
            </a:fld>
            <a:endParaRPr lang="en-GB"/>
          </a:p>
        </p:txBody>
      </p:sp>
    </p:spTree>
    <p:extLst>
      <p:ext uri="{BB962C8B-B14F-4D97-AF65-F5344CB8AC3E}">
        <p14:creationId xmlns:p14="http://schemas.microsoft.com/office/powerpoint/2010/main" val="16781858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460285C-A373-4EA7-BDC4-778E5FD45DBB}" type="slidenum">
              <a:rPr lang="en-US" smtClean="0"/>
              <a:t>49</a:t>
            </a:fld>
            <a:endParaRPr lang="en-US"/>
          </a:p>
        </p:txBody>
      </p:sp>
    </p:spTree>
    <p:extLst>
      <p:ext uri="{BB962C8B-B14F-4D97-AF65-F5344CB8AC3E}">
        <p14:creationId xmlns:p14="http://schemas.microsoft.com/office/powerpoint/2010/main" val="34735076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accent5">
                    <a:lumMod val="75000"/>
                  </a:schemeClr>
                </a:solidFill>
                <a:latin typeface="+mj-lt"/>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475983"/>
            <a:ext cx="12192000" cy="382016"/>
          </a:xfrm>
          <a:prstGeom prst="rect">
            <a:avLst/>
          </a:prstGeom>
        </p:spPr>
      </p:pic>
      <p:sp>
        <p:nvSpPr>
          <p:cNvPr id="20" name="Date Placeholder 3"/>
          <p:cNvSpPr>
            <a:spLocks noGrp="1"/>
          </p:cNvSpPr>
          <p:nvPr>
            <p:ph type="dt" sz="half" idx="10"/>
          </p:nvPr>
        </p:nvSpPr>
        <p:spPr>
          <a:xfrm>
            <a:off x="0" y="6475983"/>
            <a:ext cx="2743200" cy="365125"/>
          </a:xfrm>
          <a:prstGeom prst="rect">
            <a:avLst/>
          </a:prstGeom>
        </p:spPr>
        <p:txBody>
          <a:bodyPr/>
          <a:lstStyle/>
          <a:p>
            <a:fld id="{BBAC23B5-8E85-49B2-8DBB-50420699CA89}" type="datetime1">
              <a:rPr lang="en-US" smtClean="0"/>
              <a:t>9/25/24</a:t>
            </a:fld>
            <a:endParaRPr lang="en-US"/>
          </a:p>
        </p:txBody>
      </p:sp>
      <p:sp>
        <p:nvSpPr>
          <p:cNvPr id="21" name="Footer Placeholder 4"/>
          <p:cNvSpPr>
            <a:spLocks noGrp="1"/>
          </p:cNvSpPr>
          <p:nvPr>
            <p:ph type="ftr" sz="quarter" idx="11"/>
          </p:nvPr>
        </p:nvSpPr>
        <p:spPr>
          <a:xfrm>
            <a:off x="3962399" y="6501440"/>
            <a:ext cx="7391401" cy="331101"/>
          </a:xfrm>
          <a:prstGeom prst="rect">
            <a:avLst/>
          </a:prstGeom>
        </p:spPr>
        <p:txBody>
          <a:bodyPr/>
          <a:lstStyle>
            <a:lvl1pPr algn="ctr">
              <a:defRPr sz="1100" b="1">
                <a:solidFill>
                  <a:schemeClr val="bg1"/>
                </a:solidFill>
              </a:defRPr>
            </a:lvl1pPr>
          </a:lstStyle>
          <a:p>
            <a:endParaRPr lang="en-US" dirty="0"/>
          </a:p>
        </p:txBody>
      </p:sp>
      <p:sp>
        <p:nvSpPr>
          <p:cNvPr id="22" name="Slide Number Placeholder 5"/>
          <p:cNvSpPr>
            <a:spLocks noGrp="1"/>
          </p:cNvSpPr>
          <p:nvPr>
            <p:ph type="sldNum" sz="quarter" idx="12"/>
          </p:nvPr>
        </p:nvSpPr>
        <p:spPr>
          <a:xfrm>
            <a:off x="11730681" y="6495533"/>
            <a:ext cx="461318" cy="331101"/>
          </a:xfrm>
          <a:prstGeom prst="rect">
            <a:avLst/>
          </a:prstGeom>
        </p:spPr>
        <p:txBody>
          <a:bodyPr/>
          <a:lstStyle>
            <a:lvl1pPr>
              <a:defRPr sz="1100" b="1">
                <a:solidFill>
                  <a:schemeClr val="bg1"/>
                </a:solidFill>
              </a:defRPr>
            </a:lvl1pPr>
          </a:lstStyle>
          <a:p>
            <a:fld id="{6C4F0C88-0165-4FC4-8B5E-8BECB1048F4D}"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475983"/>
            <a:ext cx="12192000" cy="382016"/>
          </a:xfrm>
          <a:prstGeom prst="rect">
            <a:avLst/>
          </a:prstGeom>
        </p:spPr>
      </p:pic>
      <p:sp>
        <p:nvSpPr>
          <p:cNvPr id="3" name="Content Placeholder 2"/>
          <p:cNvSpPr>
            <a:spLocks noGrp="1"/>
          </p:cNvSpPr>
          <p:nvPr>
            <p:ph idx="1"/>
          </p:nvPr>
        </p:nvSpPr>
        <p:spPr>
          <a:xfrm>
            <a:off x="838200" y="1178012"/>
            <a:ext cx="10515600" cy="52646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0" y="6475983"/>
            <a:ext cx="2743200" cy="365125"/>
          </a:xfrm>
          <a:prstGeom prst="rect">
            <a:avLst/>
          </a:prstGeom>
        </p:spPr>
        <p:txBody>
          <a:bodyPr/>
          <a:lstStyle/>
          <a:p>
            <a:fld id="{5D5F1E50-00AF-434F-BD7C-91EF561E0547}" type="datetime1">
              <a:rPr lang="en-US" smtClean="0"/>
              <a:t>9/25/24</a:t>
            </a:fld>
            <a:endParaRPr lang="en-US"/>
          </a:p>
        </p:txBody>
      </p:sp>
      <p:sp>
        <p:nvSpPr>
          <p:cNvPr id="11" name="Footer Placeholder 4"/>
          <p:cNvSpPr>
            <a:spLocks noGrp="1"/>
          </p:cNvSpPr>
          <p:nvPr>
            <p:ph type="ftr" sz="quarter" idx="11"/>
          </p:nvPr>
        </p:nvSpPr>
        <p:spPr>
          <a:xfrm>
            <a:off x="3962399" y="6501440"/>
            <a:ext cx="7391401" cy="331101"/>
          </a:xfrm>
          <a:prstGeom prst="rect">
            <a:avLst/>
          </a:prstGeom>
        </p:spPr>
        <p:txBody>
          <a:bodyPr/>
          <a:lstStyle>
            <a:lvl1pPr algn="ctr">
              <a:defRPr sz="1100" b="1">
                <a:solidFill>
                  <a:schemeClr val="bg1"/>
                </a:solidFill>
              </a:defRPr>
            </a:lvl1pPr>
          </a:lstStyle>
          <a:p>
            <a:endParaRPr lang="en-US" dirty="0"/>
          </a:p>
        </p:txBody>
      </p:sp>
      <p:sp>
        <p:nvSpPr>
          <p:cNvPr id="12" name="Slide Number Placeholder 5"/>
          <p:cNvSpPr>
            <a:spLocks noGrp="1"/>
          </p:cNvSpPr>
          <p:nvPr>
            <p:ph type="sldNum" sz="quarter" idx="12"/>
          </p:nvPr>
        </p:nvSpPr>
        <p:spPr>
          <a:xfrm>
            <a:off x="11730681" y="6495533"/>
            <a:ext cx="461318" cy="331101"/>
          </a:xfrm>
          <a:prstGeom prst="rect">
            <a:avLst/>
          </a:prstGeom>
        </p:spPr>
        <p:txBody>
          <a:bodyPr/>
          <a:lstStyle>
            <a:lvl1pPr>
              <a:defRPr sz="1100" b="1">
                <a:solidFill>
                  <a:schemeClr val="bg1"/>
                </a:solidFill>
              </a:defRPr>
            </a:lvl1pPr>
          </a:lstStyle>
          <a:p>
            <a:fld id="{6C4F0C88-0165-4FC4-8B5E-8BECB1048F4D}" type="slidenum">
              <a:rPr lang="en-US" smtClean="0"/>
              <a:t>‹#›</a:t>
            </a:fld>
            <a:endParaRPr lang="en-US" dirty="0"/>
          </a:p>
        </p:txBody>
      </p:sp>
      <p:sp>
        <p:nvSpPr>
          <p:cNvPr id="13" name="Title 1"/>
          <p:cNvSpPr>
            <a:spLocks noGrp="1"/>
          </p:cNvSpPr>
          <p:nvPr>
            <p:ph type="title"/>
          </p:nvPr>
        </p:nvSpPr>
        <p:spPr>
          <a:xfrm>
            <a:off x="838200" y="365125"/>
            <a:ext cx="10515600" cy="730507"/>
          </a:xfrm>
        </p:spPr>
        <p:txBody>
          <a:bodyPr>
            <a:normAutofit/>
          </a:bodyPr>
          <a:lstStyle>
            <a:lvl1pPr>
              <a:defRPr sz="4000" b="1">
                <a:solidFill>
                  <a:schemeClr val="accent5">
                    <a:lumMod val="75000"/>
                  </a:schemeClr>
                </a:solidFill>
                <a:latin typeface="+mj-lt"/>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275019"/>
            <a:ext cx="5181600" cy="490194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275019"/>
            <a:ext cx="5181600" cy="49019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E41C5A8-17F2-4D89-872F-96F076F2D532}" type="datetime1">
              <a:rPr lang="en-US" smtClean="0"/>
              <a:t>9/25/24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
        <p:nvSpPr>
          <p:cNvPr id="8" name="Title 1"/>
          <p:cNvSpPr>
            <a:spLocks noGrp="1"/>
          </p:cNvSpPr>
          <p:nvPr>
            <p:ph type="title"/>
          </p:nvPr>
        </p:nvSpPr>
        <p:spPr>
          <a:xfrm>
            <a:off x="838200" y="365125"/>
            <a:ext cx="10515600" cy="730507"/>
          </a:xfrm>
        </p:spPr>
        <p:txBody>
          <a:bodyPr>
            <a:normAutofit/>
          </a:bodyPr>
          <a:lstStyle>
            <a:lvl1pPr>
              <a:defRPr sz="4000" b="1">
                <a:solidFill>
                  <a:schemeClr val="accent5">
                    <a:lumMod val="75000"/>
                  </a:schemeClr>
                </a:solidFill>
                <a:latin typeface="+mj-lt"/>
              </a:defRPr>
            </a:lvl1pPr>
          </a:lstStyle>
          <a:p>
            <a:r>
              <a:rPr lang="en-US" dirty="0"/>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1AF53A5-7C98-4092-A21C-AFB498035BA8}" type="datetime1">
              <a:rPr lang="en-US" smtClean="0"/>
              <a:t>9/25/24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B938B47-D7DA-4E69-8D45-6A09E1A25018}" type="datetime1">
              <a:rPr lang="en-US" smtClean="0"/>
              <a:t>9/25/24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B9C6459-1E28-4882-86BF-B576CA6E0CC9}" type="datetime1">
              <a:rPr lang="en-US" smtClean="0"/>
              <a:t>9/25/24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1A6038F-FB6A-4C8D-A39A-E41375E1231A}" type="datetime1">
              <a:rPr lang="en-US" smtClean="0"/>
              <a:t>9/25/24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B2A7DE0-5E7B-40E2-856A-1DA3116354D2}" type="datetime1">
              <a:rPr lang="en-US" smtClean="0"/>
              <a:t>9/25/24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C4F0C88-0165-4FC4-8B5E-8BECB1048F4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Rectangle 7"/>
          <p:cNvSpPr>
            <a:spLocks noGrp="1" noChangeArrowheads="1"/>
          </p:cNvSpPr>
          <p:nvPr>
            <p:ph type="sldNum" sz="quarter" idx="12"/>
            <p:custDataLst>
              <p:tags r:id="rId1"/>
            </p:custDataLst>
          </p:nvPr>
        </p:nvSpPr>
        <p:spPr/>
        <p:txBody>
          <a:bodyPr/>
          <a:lstStyle>
            <a:lvl1pPr>
              <a:defRPr>
                <a:solidFill>
                  <a:schemeClr val="tx1"/>
                </a:solidFill>
              </a:defRPr>
            </a:lvl1pPr>
          </a:lstStyle>
          <a:p>
            <a:pPr>
              <a:defRPr/>
            </a:pPr>
            <a:endParaRPr lang="en-US" altLang="ko-KR"/>
          </a:p>
          <a:p>
            <a:pPr>
              <a:defRPr/>
            </a:pPr>
            <a:fld id="{B2D9E1CE-3C7F-4ACF-8753-53AB71A600F5}" type="slidenum">
              <a:rPr lang="en-US" altLang="ko-KR"/>
              <a:t>‹#›</a:t>
            </a:fld>
            <a:endParaRPr lang="en-US" altLang="ko-KR"/>
          </a:p>
        </p:txBody>
      </p:sp>
      <p:sp>
        <p:nvSpPr>
          <p:cNvPr id="6" name="Content Placeholder 2"/>
          <p:cNvSpPr>
            <a:spLocks noGrp="1"/>
          </p:cNvSpPr>
          <p:nvPr>
            <p:ph idx="1"/>
          </p:nvPr>
        </p:nvSpPr>
        <p:spPr>
          <a:xfrm>
            <a:off x="838200" y="1178012"/>
            <a:ext cx="10515600" cy="52646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11"/>
          </p:nvPr>
        </p:nvSpPr>
        <p:spPr>
          <a:xfrm>
            <a:off x="3962399" y="6501440"/>
            <a:ext cx="7391401" cy="331101"/>
          </a:xfrm>
          <a:prstGeom prst="rect">
            <a:avLst/>
          </a:prstGeom>
        </p:spPr>
        <p:txBody>
          <a:bodyPr/>
          <a:lstStyle>
            <a:lvl1pPr algn="ctr">
              <a:defRPr sz="1100" b="1">
                <a:solidFill>
                  <a:schemeClr val="bg1"/>
                </a:solidFill>
              </a:defRPr>
            </a:lvl1pPr>
          </a:lstStyle>
          <a:p>
            <a:endParaRPr lang="en-US" dirty="0"/>
          </a:p>
        </p:txBody>
      </p:sp>
      <p:sp>
        <p:nvSpPr>
          <p:cNvPr id="8" name="Slide Number Placeholder 5"/>
          <p:cNvSpPr txBox="1"/>
          <p:nvPr userDrawn="1"/>
        </p:nvSpPr>
        <p:spPr>
          <a:xfrm>
            <a:off x="11730681" y="6495533"/>
            <a:ext cx="461318" cy="331101"/>
          </a:xfrm>
          <a:prstGeom prst="rect">
            <a:avLst/>
          </a:prstGeom>
        </p:spPr>
        <p:txBody>
          <a:bodyP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4F0C88-0165-4FC4-8B5E-8BECB1048F4D}" type="slidenum">
              <a:rPr lang="en-US" smtClean="0"/>
              <a:t>‹#›</a:t>
            </a:fld>
            <a:endParaRPr lang="en-US" dirty="0"/>
          </a:p>
        </p:txBody>
      </p:sp>
      <p:sp>
        <p:nvSpPr>
          <p:cNvPr id="9" name="Title 1"/>
          <p:cNvSpPr>
            <a:spLocks noGrp="1"/>
          </p:cNvSpPr>
          <p:nvPr>
            <p:ph type="title"/>
          </p:nvPr>
        </p:nvSpPr>
        <p:spPr>
          <a:xfrm>
            <a:off x="838200" y="365125"/>
            <a:ext cx="10515600" cy="730507"/>
          </a:xfrm>
        </p:spPr>
        <p:txBody>
          <a:bodyPr>
            <a:normAutofit/>
          </a:bodyPr>
          <a:lstStyle>
            <a:lvl1pPr>
              <a:defRPr sz="4000" b="1">
                <a:solidFill>
                  <a:schemeClr val="accent5">
                    <a:lumMod val="75000"/>
                  </a:schemeClr>
                </a:solidFill>
                <a:latin typeface="+mj-lt"/>
              </a:defRPr>
            </a:lvl1pPr>
          </a:lstStyle>
          <a:p>
            <a:r>
              <a:rPr lang="en-US" dirty="0"/>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AA728E6-6188-4645-9AB9-50A1E045843F}"/>
              </a:ext>
            </a:extLst>
          </p:cNvPr>
          <p:cNvSpPr>
            <a:spLocks noGrp="1"/>
          </p:cNvSpPr>
          <p:nvPr>
            <p:ph type="dt" sz="half" idx="10"/>
          </p:nvPr>
        </p:nvSpPr>
        <p:spPr>
          <a:xfrm>
            <a:off x="609600" y="6377941"/>
            <a:ext cx="2804160" cy="369332"/>
          </a:xfrm>
        </p:spPr>
        <p:txBody>
          <a:bodyPr/>
          <a:lstStyle>
            <a:lvl1pPr>
              <a:defRPr/>
            </a:lvl1pPr>
          </a:lstStyle>
          <a:p>
            <a:pPr>
              <a:defRPr/>
            </a:pPr>
            <a:fld id="{DF43B43A-2AEA-4D2D-A7FD-7238896CBB56}" type="datetimeFigureOut">
              <a:rPr lang="zh-CN" altLang="en-US"/>
              <a:pPr>
                <a:defRPr/>
              </a:pPr>
              <a:t>2024/9/25</a:t>
            </a:fld>
            <a:endParaRPr lang="zh-CN" altLang="en-US"/>
          </a:p>
        </p:txBody>
      </p:sp>
      <p:sp>
        <p:nvSpPr>
          <p:cNvPr id="3" name="页脚占位符 4">
            <a:extLst>
              <a:ext uri="{FF2B5EF4-FFF2-40B4-BE49-F238E27FC236}">
                <a16:creationId xmlns:a16="http://schemas.microsoft.com/office/drawing/2014/main" id="{BB3584E3-D110-4F49-BFA8-D20B34A5D70A}"/>
              </a:ext>
            </a:extLst>
          </p:cNvPr>
          <p:cNvSpPr>
            <a:spLocks noGrp="1"/>
          </p:cNvSpPr>
          <p:nvPr>
            <p:ph type="ftr" sz="quarter" idx="11"/>
          </p:nvPr>
        </p:nvSpPr>
        <p:spPr>
          <a:xfrm>
            <a:off x="4145280" y="6377941"/>
            <a:ext cx="3901440" cy="369332"/>
          </a:xfrm>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DD53EC0D-BDA2-43E3-A115-2EAD69FB9082}"/>
              </a:ext>
            </a:extLst>
          </p:cNvPr>
          <p:cNvSpPr>
            <a:spLocks noGrp="1"/>
          </p:cNvSpPr>
          <p:nvPr>
            <p:ph type="sldNum" sz="quarter" idx="12"/>
          </p:nvPr>
        </p:nvSpPr>
        <p:spPr>
          <a:xfrm>
            <a:off x="8778240" y="6377941"/>
            <a:ext cx="2804160" cy="369332"/>
          </a:xfrm>
        </p:spPr>
        <p:txBody>
          <a:bodyPr/>
          <a:lstStyle>
            <a:lvl1pPr>
              <a:defRPr/>
            </a:lvl1pPr>
          </a:lstStyle>
          <a:p>
            <a:pPr>
              <a:defRPr/>
            </a:pPr>
            <a:fld id="{5477A27D-8950-434B-B1D1-CEF9EA12501B}" type="slidenum">
              <a:rPr lang="zh-CN" altLang="en-US"/>
              <a:pPr>
                <a:defRPr/>
              </a:pPr>
              <a:t>‹#›</a:t>
            </a:fld>
            <a:endParaRPr lang="zh-CN" altLang="en-US"/>
          </a:p>
        </p:txBody>
      </p:sp>
    </p:spTree>
    <p:extLst>
      <p:ext uri="{BB962C8B-B14F-4D97-AF65-F5344CB8AC3E}">
        <p14:creationId xmlns:p14="http://schemas.microsoft.com/office/powerpoint/2010/main" val="437139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1" name="Picture 20"/>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 y="6475983"/>
            <a:ext cx="12192000" cy="382016"/>
          </a:xfrm>
          <a:prstGeom prst="rect">
            <a:avLst/>
          </a:prstGeom>
        </p:spPr>
      </p:pic>
      <p:sp>
        <p:nvSpPr>
          <p:cNvPr id="22" name="Date Placeholder 3"/>
          <p:cNvSpPr>
            <a:spLocks noGrp="1"/>
          </p:cNvSpPr>
          <p:nvPr>
            <p:ph type="dt" sz="half" idx="2"/>
          </p:nvPr>
        </p:nvSpPr>
        <p:spPr>
          <a:xfrm>
            <a:off x="0" y="6475983"/>
            <a:ext cx="2743200" cy="365125"/>
          </a:xfrm>
          <a:prstGeom prst="rect">
            <a:avLst/>
          </a:prstGeom>
        </p:spPr>
        <p:txBody>
          <a:bodyPr/>
          <a:lstStyle/>
          <a:p>
            <a:fld id="{43F6D614-BD6E-440C-B7F5-166FF72F64E1}" type="datetime1">
              <a:rPr lang="en-US" smtClean="0"/>
              <a:t>9/25/24</a:t>
            </a:fld>
            <a:endParaRPr lang="en-US"/>
          </a:p>
        </p:txBody>
      </p:sp>
      <p:sp>
        <p:nvSpPr>
          <p:cNvPr id="23" name="Footer Placeholder 4"/>
          <p:cNvSpPr>
            <a:spLocks noGrp="1"/>
          </p:cNvSpPr>
          <p:nvPr>
            <p:ph type="ftr" sz="quarter" idx="3"/>
          </p:nvPr>
        </p:nvSpPr>
        <p:spPr>
          <a:xfrm>
            <a:off x="3962399" y="6501440"/>
            <a:ext cx="7391401" cy="331101"/>
          </a:xfrm>
          <a:prstGeom prst="rect">
            <a:avLst/>
          </a:prstGeom>
        </p:spPr>
        <p:txBody>
          <a:bodyPr/>
          <a:lstStyle>
            <a:lvl1pPr algn="ctr">
              <a:defRPr sz="1100" b="1">
                <a:solidFill>
                  <a:schemeClr val="bg1"/>
                </a:solidFill>
              </a:defRPr>
            </a:lvl1pPr>
          </a:lstStyle>
          <a:p>
            <a:endParaRPr lang="en-US" dirty="0"/>
          </a:p>
        </p:txBody>
      </p:sp>
      <p:sp>
        <p:nvSpPr>
          <p:cNvPr id="24" name="Slide Number Placeholder 5"/>
          <p:cNvSpPr>
            <a:spLocks noGrp="1"/>
          </p:cNvSpPr>
          <p:nvPr>
            <p:ph type="sldNum" sz="quarter" idx="4"/>
          </p:nvPr>
        </p:nvSpPr>
        <p:spPr>
          <a:xfrm>
            <a:off x="11730681" y="6495533"/>
            <a:ext cx="461318" cy="331101"/>
          </a:xfrm>
          <a:prstGeom prst="rect">
            <a:avLst/>
          </a:prstGeom>
        </p:spPr>
        <p:txBody>
          <a:bodyPr/>
          <a:lstStyle>
            <a:lvl1pPr>
              <a:defRPr sz="1100" b="1">
                <a:solidFill>
                  <a:schemeClr val="bg1"/>
                </a:solidFill>
              </a:defRPr>
            </a:lvl1pPr>
          </a:lstStyle>
          <a:p>
            <a:fld id="{6C4F0C88-0165-4FC4-8B5E-8BECB1048F4D}"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51.png"/><Relationship Id="rId3" Type="http://schemas.openxmlformats.org/officeDocument/2006/relationships/notesSlide" Target="../notesSlides/notesSlide4.xml"/><Relationship Id="rId7" Type="http://schemas.openxmlformats.org/officeDocument/2006/relationships/image" Target="../media/image141.png"/><Relationship Id="rId12" Type="http://schemas.openxmlformats.org/officeDocument/2006/relationships/image" Target="../media/image180.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20.png"/><Relationship Id="rId11" Type="http://schemas.openxmlformats.org/officeDocument/2006/relationships/image" Target="../media/image170.png"/><Relationship Id="rId5" Type="http://schemas.openxmlformats.org/officeDocument/2006/relationships/image" Target="../media/image110.png"/><Relationship Id="rId15" Type="http://schemas.openxmlformats.org/officeDocument/2006/relationships/image" Target="../media/image200.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50.png"/><Relationship Id="rId14" Type="http://schemas.openxmlformats.org/officeDocument/2006/relationships/image" Target="../media/image19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4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4.png"/><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10.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40.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image" Target="../media/image57.png"/><Relationship Id="rId12"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56.png"/><Relationship Id="rId10" Type="http://schemas.openxmlformats.org/officeDocument/2006/relationships/image" Target="../media/image350.png"/><Relationship Id="rId9" Type="http://schemas.openxmlformats.org/officeDocument/2006/relationships/image" Target="../media/image59.png"/><Relationship Id="rId1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90.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notesSlide" Target="../notesSlides/notesSlide18.xml"/><Relationship Id="rId7" Type="http://schemas.openxmlformats.org/officeDocument/2006/relationships/image" Target="../media/image152.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440.png"/><Relationship Id="rId5" Type="http://schemas.openxmlformats.org/officeDocument/2006/relationships/image" Target="../media/image6.jpe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17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7.emf"/><Relationship Id="rId4" Type="http://schemas.openxmlformats.org/officeDocument/2006/relationships/image" Target="../media/image14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image" Target="../media/image16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10.png"/><Relationship Id="rId4" Type="http://schemas.openxmlformats.org/officeDocument/2006/relationships/image" Target="../media/image170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12.png"/><Relationship Id="rId5" Type="http://schemas.openxmlformats.org/officeDocument/2006/relationships/image" Target="../media/image1800.png"/><Relationship Id="rId4" Type="http://schemas.openxmlformats.org/officeDocument/2006/relationships/image" Target="../media/image2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NUL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notesSlide" Target="../notesSlides/notesSlide25.xml"/><Relationship Id="rId7" Type="http://schemas.openxmlformats.org/officeDocument/2006/relationships/image" Target="NULL"/><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NULL"/><Relationship Id="rId5" Type="http://schemas.openxmlformats.org/officeDocument/2006/relationships/image" Target="../media/image15.emf"/><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25.xml"/><Relationship Id="rId4" Type="http://schemas.openxmlformats.org/officeDocument/2006/relationships/image" Target="../media/image17.emf"/></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6.xml"/><Relationship Id="rId5" Type="http://schemas.openxmlformats.org/officeDocument/2006/relationships/image" Target="../media/image1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image" Target="../media/image20.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27.svg"/><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36.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30.png"/><Relationship Id="rId5" Type="http://schemas.openxmlformats.org/officeDocument/2006/relationships/image" Target="../media/image38.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3.xml"/><Relationship Id="rId5" Type="http://schemas.openxmlformats.org/officeDocument/2006/relationships/image" Target="../media/image3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3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36.xml"/><Relationship Id="rId5" Type="http://schemas.openxmlformats.org/officeDocument/2006/relationships/image" Target="../media/image52.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37.xml"/><Relationship Id="rId5" Type="http://schemas.openxmlformats.org/officeDocument/2006/relationships/image" Target="../media/image54.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39.xml"/><Relationship Id="rId5" Type="http://schemas.openxmlformats.org/officeDocument/2006/relationships/image" Target="../media/image47.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1.xml"/><Relationship Id="rId5" Type="http://schemas.openxmlformats.org/officeDocument/2006/relationships/image" Target="../media/image50.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6093" y="3429000"/>
            <a:ext cx="11279814" cy="1777792"/>
          </a:xfrm>
        </p:spPr>
        <p:txBody>
          <a:bodyPr>
            <a:normAutofit/>
          </a:bodyPr>
          <a:lstStyle/>
          <a:p>
            <a:pPr marL="0" indent="0" algn="ctr">
              <a:buNone/>
            </a:pPr>
            <a:r>
              <a:rPr lang="en-US" sz="2400" dirty="0"/>
              <a:t>Jianyang Gao</a:t>
            </a:r>
          </a:p>
          <a:p>
            <a:pPr marL="0" indent="0" algn="ctr">
              <a:buNone/>
            </a:pPr>
            <a:r>
              <a:rPr lang="en-US" sz="2400" baseline="30000" dirty="0">
                <a:sym typeface="+mn-ea"/>
              </a:rPr>
              <a:t>Jianyang.gao@ntu.edu.sg</a:t>
            </a:r>
            <a:endParaRPr lang="en-US" sz="2400" baseline="30000" dirty="0"/>
          </a:p>
          <a:p>
            <a:pPr marL="0" indent="0" algn="ctr">
              <a:buNone/>
            </a:pPr>
            <a:r>
              <a:rPr lang="en-US" sz="2400" dirty="0">
                <a:sym typeface="+mn-ea"/>
              </a:rPr>
              <a:t>Nanyang Technological University</a:t>
            </a:r>
          </a:p>
          <a:p>
            <a:pPr marL="0" indent="0" algn="ctr">
              <a:buNone/>
            </a:pPr>
            <a:r>
              <a:rPr lang="en-US" sz="2400" dirty="0">
                <a:sym typeface="+mn-ea"/>
              </a:rPr>
              <a:t>26/09/2024@ByteDance</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C4F0C88-0165-4FC4-8B5E-8BECB1048F4D}" type="slidenum">
              <a:rPr kumimoji="0" lang="en-US" sz="1100" b="1" i="0" u="none" strike="noStrike" kern="1200" cap="none" spc="0" normalizeH="0" baseline="0" noProof="0" smtClean="0">
                <a:ln>
                  <a:noFill/>
                </a:ln>
                <a:solidFill>
                  <a:prstClr val="white"/>
                </a:solidFill>
                <a:effectLst/>
                <a:uLnTx/>
                <a:uFillTx/>
                <a:latin typeface="Calibri" panose="020F0502020204030204"/>
                <a:ea typeface="+mn-ea"/>
                <a:cs typeface="+mn-cs"/>
              </a:rPr>
              <a:t>1</a:t>
            </a:fld>
            <a:endPar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itle 4"/>
          <p:cNvSpPr>
            <a:spLocks noGrp="1"/>
          </p:cNvSpPr>
          <p:nvPr>
            <p:ph type="title"/>
          </p:nvPr>
        </p:nvSpPr>
        <p:spPr>
          <a:xfrm>
            <a:off x="1612053" y="1779270"/>
            <a:ext cx="8967893" cy="1649730"/>
          </a:xfrm>
        </p:spPr>
        <p:txBody>
          <a:bodyPr>
            <a:normAutofit/>
          </a:bodyPr>
          <a:lstStyle/>
          <a:p>
            <a:pPr algn="ctr"/>
            <a:r>
              <a:rPr lang="en-US" sz="3600" dirty="0"/>
              <a:t>Reliable, Efficient and Light Distance Computation on High-Dimensional Vectors</a:t>
            </a:r>
            <a:endParaRPr lang="en-US" sz="4445" dirty="0"/>
          </a:p>
        </p:txBody>
      </p:sp>
      <p:pic>
        <p:nvPicPr>
          <p:cNvPr id="1030" name="Picture 6" descr="Nanyang Technological University - NTU Singapore">
            <a:extLst>
              <a:ext uri="{FF2B5EF4-FFF2-40B4-BE49-F238E27FC236}">
                <a16:creationId xmlns:a16="http://schemas.microsoft.com/office/drawing/2014/main" id="{92535FD4-1AD5-EB84-FDD2-0EEA6EB45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9246" y="0"/>
            <a:ext cx="3872753" cy="16136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95F82F-0E71-FF3E-7C97-AAF89C2A2CFB}"/>
              </a:ext>
            </a:extLst>
          </p:cNvPr>
          <p:cNvSpPr>
            <a:spLocks noGrp="1"/>
          </p:cNvSpPr>
          <p:nvPr>
            <p:ph idx="1"/>
          </p:nvPr>
        </p:nvSpPr>
        <p:spPr>
          <a:xfrm>
            <a:off x="838200" y="1621515"/>
            <a:ext cx="10515600" cy="3614970"/>
          </a:xfrm>
        </p:spPr>
        <p:txBody>
          <a:bodyPr>
            <a:normAutofit/>
          </a:bodyPr>
          <a:lstStyle/>
          <a:p>
            <a:endParaRPr lang="en-SG" dirty="0"/>
          </a:p>
          <a:p>
            <a:r>
              <a:rPr lang="en-US" altLang="zh-CN" b="1" dirty="0">
                <a:solidFill>
                  <a:srgbClr val="0000FF"/>
                </a:solidFill>
              </a:rPr>
              <a:t>ANN with </a:t>
            </a:r>
            <a:r>
              <a:rPr lang="en-SG" b="1" dirty="0">
                <a:solidFill>
                  <a:srgbClr val="0000FF"/>
                </a:solidFill>
              </a:rPr>
              <a:t>Efficient and Reliable Distance Comparisons (SIGMOD’23)</a:t>
            </a:r>
          </a:p>
          <a:p>
            <a:endParaRPr lang="en-US" altLang="zh-CN" dirty="0"/>
          </a:p>
          <a:p>
            <a:r>
              <a:rPr lang="en-US" altLang="zh-CN" dirty="0"/>
              <a:t>ANN with </a:t>
            </a:r>
            <a:r>
              <a:rPr lang="en-SG" dirty="0"/>
              <a:t>Efficient and Reliable Distance Estimation (SIGMOD’2</a:t>
            </a:r>
            <a:r>
              <a:rPr lang="en-US" altLang="zh-CN" dirty="0"/>
              <a:t>4</a:t>
            </a:r>
            <a:r>
              <a:rPr lang="en-SG" dirty="0"/>
              <a:t>)</a:t>
            </a:r>
          </a:p>
          <a:p>
            <a:endParaRPr lang="en-SG" dirty="0"/>
          </a:p>
          <a:p>
            <a:r>
              <a:rPr lang="en-SG" dirty="0"/>
              <a:t>Practical and Asymptotically Optimal Quantization (Preprint)</a:t>
            </a:r>
          </a:p>
        </p:txBody>
      </p:sp>
      <p:sp>
        <p:nvSpPr>
          <p:cNvPr id="5" name="Title 4">
            <a:extLst>
              <a:ext uri="{FF2B5EF4-FFF2-40B4-BE49-F238E27FC236}">
                <a16:creationId xmlns:a16="http://schemas.microsoft.com/office/drawing/2014/main" id="{9223E659-FE86-7077-301A-AEEF81266172}"/>
              </a:ext>
            </a:extLst>
          </p:cNvPr>
          <p:cNvSpPr>
            <a:spLocks noGrp="1"/>
          </p:cNvSpPr>
          <p:nvPr>
            <p:ph type="title"/>
          </p:nvPr>
        </p:nvSpPr>
        <p:spPr/>
        <p:txBody>
          <a:bodyPr/>
          <a:lstStyle/>
          <a:p>
            <a:r>
              <a:rPr lang="en-US" altLang="zh-CN" dirty="0"/>
              <a:t>Outline</a:t>
            </a:r>
            <a:endParaRPr lang="en-SG" dirty="0"/>
          </a:p>
        </p:txBody>
      </p:sp>
    </p:spTree>
    <p:extLst>
      <p:ext uri="{BB962C8B-B14F-4D97-AF65-F5344CB8AC3E}">
        <p14:creationId xmlns:p14="http://schemas.microsoft.com/office/powerpoint/2010/main" val="49152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44">
            <a:extLst>
              <a:ext uri="{FF2B5EF4-FFF2-40B4-BE49-F238E27FC236}">
                <a16:creationId xmlns:a16="http://schemas.microsoft.com/office/drawing/2014/main" id="{C5805546-6A30-2690-59CF-21A5D7535BBE}"/>
              </a:ext>
            </a:extLst>
          </p:cNvPr>
          <p:cNvSpPr txBox="1">
            <a:spLocks/>
          </p:cNvSpPr>
          <p:nvPr/>
        </p:nvSpPr>
        <p:spPr>
          <a:xfrm>
            <a:off x="890724" y="3274157"/>
            <a:ext cx="10410552" cy="19457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ANN algorithms </a:t>
            </a:r>
            <a:r>
              <a:rPr lang="en-US" altLang="zh-CN" sz="2800" dirty="0">
                <a:latin typeface="Calibri" panose="020F0502020204030204" pitchFamily="34" charset="0"/>
                <a:ea typeface="Microsoft YaHei" panose="020B0503020204020204" pitchFamily="34" charset="-122"/>
                <a:cs typeface="Calibri" panose="020F0502020204030204" pitchFamily="34" charset="0"/>
              </a:rPr>
              <a:t>heuristically generate a few candidates and find ANN from them.</a:t>
            </a:r>
          </a:p>
          <a:p>
            <a:pPr>
              <a:buFont typeface="Wingdings"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Existing Methods</a:t>
            </a:r>
          </a:p>
          <a:p>
            <a:pPr lvl="1">
              <a:buFont typeface="Wingdings"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Partition-based, e.g., IVF[1]</a:t>
            </a:r>
          </a:p>
          <a:p>
            <a:pPr lvl="1">
              <a:buFont typeface="Wingdings"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Graph-based, e.g., HNSW[2]</a:t>
            </a:r>
          </a:p>
        </p:txBody>
      </p:sp>
      <p:sp>
        <p:nvSpPr>
          <p:cNvPr id="15" name="Title 1">
            <a:extLst>
              <a:ext uri="{FF2B5EF4-FFF2-40B4-BE49-F238E27FC236}">
                <a16:creationId xmlns:a16="http://schemas.microsoft.com/office/drawing/2014/main" id="{F76A82D0-3B46-4EDA-8F72-DD336B9CBA2F}"/>
              </a:ext>
            </a:extLst>
          </p:cNvPr>
          <p:cNvSpPr>
            <a:spLocks noGrp="1"/>
          </p:cNvSpPr>
          <p:nvPr>
            <p:ph type="title"/>
          </p:nvPr>
        </p:nvSpPr>
        <p:spPr>
          <a:xfrm>
            <a:off x="838200" y="365125"/>
            <a:ext cx="10515600" cy="730507"/>
          </a:xfrm>
        </p:spPr>
        <p:txBody>
          <a:bodyPr/>
          <a:lstStyle/>
          <a:p>
            <a:r>
              <a:rPr lang="en-US" altLang="zh-HK" dirty="0"/>
              <a:t>ANN Algorithms</a:t>
            </a:r>
            <a:endParaRPr lang="zh-HK" altLang="en-US" dirty="0"/>
          </a:p>
        </p:txBody>
      </p:sp>
      <p:sp>
        <p:nvSpPr>
          <p:cNvPr id="17" name="TextBox 16">
            <a:extLst>
              <a:ext uri="{FF2B5EF4-FFF2-40B4-BE49-F238E27FC236}">
                <a16:creationId xmlns:a16="http://schemas.microsoft.com/office/drawing/2014/main" id="{F278227D-F8BA-9BC2-A5BF-F29849DAB183}"/>
              </a:ext>
            </a:extLst>
          </p:cNvPr>
          <p:cNvSpPr txBox="1"/>
          <p:nvPr/>
        </p:nvSpPr>
        <p:spPr>
          <a:xfrm>
            <a:off x="6096000" y="5784989"/>
            <a:ext cx="5977466" cy="707886"/>
          </a:xfrm>
          <a:prstGeom prst="rect">
            <a:avLst/>
          </a:prstGeom>
          <a:noFill/>
        </p:spPr>
        <p:txBody>
          <a:bodyPr wrap="square">
            <a:spAutoFit/>
          </a:bodyPr>
          <a:lstStyle/>
          <a:p>
            <a:r>
              <a:rPr lang="en-US" sz="1000" dirty="0">
                <a:latin typeface="Calibri" panose="020F0502020204030204" pitchFamily="34" charset="0"/>
                <a:cs typeface="Calibri" panose="020F0502020204030204" pitchFamily="34" charset="0"/>
              </a:rPr>
              <a:t>[1] Jegou, Herve, Matthijs </a:t>
            </a:r>
            <a:r>
              <a:rPr lang="en-US" sz="1000" dirty="0" err="1">
                <a:latin typeface="Calibri" panose="020F0502020204030204" pitchFamily="34" charset="0"/>
                <a:cs typeface="Calibri" panose="020F0502020204030204" pitchFamily="34" charset="0"/>
              </a:rPr>
              <a:t>Douze</a:t>
            </a:r>
            <a:r>
              <a:rPr lang="en-US" sz="1000" dirty="0">
                <a:latin typeface="Calibri" panose="020F0502020204030204" pitchFamily="34" charset="0"/>
                <a:cs typeface="Calibri" panose="020F0502020204030204" pitchFamily="34" charset="0"/>
              </a:rPr>
              <a:t>, and Cordelia Schmid. "Product quantization for nearest neighbor search." IEEE transactions on pattern analysis and machine intelligence 33.1 (2010): 117-128.</a:t>
            </a:r>
            <a:endParaRPr lang="en-US" sz="1000" dirty="0"/>
          </a:p>
          <a:p>
            <a:r>
              <a:rPr lang="en-US" sz="1000" dirty="0"/>
              <a:t>[2] Yu A. </a:t>
            </a:r>
            <a:r>
              <a:rPr lang="en-US" sz="1000" dirty="0" err="1"/>
              <a:t>Malkov</a:t>
            </a:r>
            <a:r>
              <a:rPr lang="en-US" sz="1000" dirty="0"/>
              <a:t> and D. A. </a:t>
            </a:r>
            <a:r>
              <a:rPr lang="en-US" sz="1000" dirty="0" err="1"/>
              <a:t>Yashunin</a:t>
            </a:r>
            <a:r>
              <a:rPr lang="en-US" sz="1000" dirty="0"/>
              <a:t>. 2020. Efficient and Robust Approximate Nearest Neighbor Search Using Hierarchical Navigable Small World Graphs. IEEE Trans. Pattern Anal. Mach. </a:t>
            </a:r>
            <a:r>
              <a:rPr lang="en-US" sz="1000" dirty="0" err="1"/>
              <a:t>Intell</a:t>
            </a:r>
            <a:r>
              <a:rPr lang="en-US" sz="1000" dirty="0"/>
              <a:t>. 42, 4 (April 2020), 824–836. </a:t>
            </a:r>
          </a:p>
        </p:txBody>
      </p:sp>
      <p:grpSp>
        <p:nvGrpSpPr>
          <p:cNvPr id="12" name="Group 11">
            <a:extLst>
              <a:ext uri="{FF2B5EF4-FFF2-40B4-BE49-F238E27FC236}">
                <a16:creationId xmlns:a16="http://schemas.microsoft.com/office/drawing/2014/main" id="{B9A97B69-F53D-8670-CFF4-813B4DF4C7CC}"/>
              </a:ext>
            </a:extLst>
          </p:cNvPr>
          <p:cNvGrpSpPr/>
          <p:nvPr/>
        </p:nvGrpSpPr>
        <p:grpSpPr>
          <a:xfrm>
            <a:off x="1824941" y="1095632"/>
            <a:ext cx="8542118" cy="1984492"/>
            <a:chOff x="1139409" y="1469135"/>
            <a:chExt cx="8542118" cy="1984492"/>
          </a:xfrm>
        </p:grpSpPr>
        <p:sp>
          <p:nvSpPr>
            <p:cNvPr id="39" name="Cylinder 6">
              <a:extLst>
                <a:ext uri="{FF2B5EF4-FFF2-40B4-BE49-F238E27FC236}">
                  <a16:creationId xmlns:a16="http://schemas.microsoft.com/office/drawing/2014/main" id="{41E71280-8735-3F1F-9EF3-8EAF5FEFAFAD}"/>
                </a:ext>
              </a:extLst>
            </p:cNvPr>
            <p:cNvSpPr/>
            <p:nvPr/>
          </p:nvSpPr>
          <p:spPr>
            <a:xfrm>
              <a:off x="3655814" y="2011614"/>
              <a:ext cx="796492" cy="994861"/>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0" name="TextBox 39">
              <a:extLst>
                <a:ext uri="{FF2B5EF4-FFF2-40B4-BE49-F238E27FC236}">
                  <a16:creationId xmlns:a16="http://schemas.microsoft.com/office/drawing/2014/main" id="{045F7165-5341-BF69-8D67-616751A9DF72}"/>
                </a:ext>
              </a:extLst>
            </p:cNvPr>
            <p:cNvSpPr txBox="1"/>
            <p:nvPr/>
          </p:nvSpPr>
          <p:spPr>
            <a:xfrm>
              <a:off x="3460949" y="3053517"/>
              <a:ext cx="1180067" cy="400110"/>
            </a:xfrm>
            <a:prstGeom prst="rect">
              <a:avLst/>
            </a:prstGeom>
            <a:noFill/>
          </p:spPr>
          <p:txBody>
            <a:bodyPr wrap="none" rtlCol="0">
              <a:spAutoFit/>
            </a:bodyPr>
            <a:lstStyle/>
            <a:p>
              <a:pPr algn="ctr"/>
              <a:r>
                <a:rPr lang="en-US" altLang="zh-CN" sz="2000" b="1" dirty="0"/>
                <a:t>Database</a:t>
              </a:r>
              <a:endParaRPr lang="en-US" sz="2000" b="1" dirty="0"/>
            </a:p>
          </p:txBody>
        </p:sp>
        <p:sp>
          <p:nvSpPr>
            <p:cNvPr id="41" name="TextBox 40">
              <a:extLst>
                <a:ext uri="{FF2B5EF4-FFF2-40B4-BE49-F238E27FC236}">
                  <a16:creationId xmlns:a16="http://schemas.microsoft.com/office/drawing/2014/main" id="{47B3C4B2-CCE7-3982-EECD-DFCC0D038BD2}"/>
                </a:ext>
              </a:extLst>
            </p:cNvPr>
            <p:cNvSpPr txBox="1"/>
            <p:nvPr/>
          </p:nvSpPr>
          <p:spPr>
            <a:xfrm>
              <a:off x="1139409" y="2307889"/>
              <a:ext cx="2065022" cy="400110"/>
            </a:xfrm>
            <a:prstGeom prst="rect">
              <a:avLst/>
            </a:prstGeom>
            <a:noFill/>
          </p:spPr>
          <p:txBody>
            <a:bodyPr wrap="square" rtlCol="0">
              <a:spAutoFit/>
            </a:bodyPr>
            <a:lstStyle/>
            <a:p>
              <a:pPr algn="ctr"/>
              <a:r>
                <a:rPr lang="en-SG" sz="2000" b="1" dirty="0"/>
                <a:t>Query Vector</a:t>
              </a:r>
            </a:p>
          </p:txBody>
        </p:sp>
        <p:sp>
          <p:nvSpPr>
            <p:cNvPr id="43" name="Arrow: Down 9">
              <a:extLst>
                <a:ext uri="{FF2B5EF4-FFF2-40B4-BE49-F238E27FC236}">
                  <a16:creationId xmlns:a16="http://schemas.microsoft.com/office/drawing/2014/main" id="{20C5479E-CAEC-A93E-49BC-78B06D49C38A}"/>
                </a:ext>
              </a:extLst>
            </p:cNvPr>
            <p:cNvSpPr/>
            <p:nvPr/>
          </p:nvSpPr>
          <p:spPr>
            <a:xfrm rot="16200000">
              <a:off x="4926494" y="2298501"/>
              <a:ext cx="220980" cy="4271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Cylinder 6">
              <a:extLst>
                <a:ext uri="{FF2B5EF4-FFF2-40B4-BE49-F238E27FC236}">
                  <a16:creationId xmlns:a16="http://schemas.microsoft.com/office/drawing/2014/main" id="{88123C7E-AB25-E09B-A6F3-28987869D057}"/>
                </a:ext>
              </a:extLst>
            </p:cNvPr>
            <p:cNvSpPr/>
            <p:nvPr/>
          </p:nvSpPr>
          <p:spPr>
            <a:xfrm>
              <a:off x="5621662" y="2203566"/>
              <a:ext cx="427156" cy="610955"/>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TextBox 44">
              <a:extLst>
                <a:ext uri="{FF2B5EF4-FFF2-40B4-BE49-F238E27FC236}">
                  <a16:creationId xmlns:a16="http://schemas.microsoft.com/office/drawing/2014/main" id="{01D4A7DD-DF53-DC7A-53A0-748E4B95E5F0}"/>
                </a:ext>
              </a:extLst>
            </p:cNvPr>
            <p:cNvSpPr txBox="1"/>
            <p:nvPr/>
          </p:nvSpPr>
          <p:spPr>
            <a:xfrm>
              <a:off x="5152552" y="3053517"/>
              <a:ext cx="1365375" cy="400110"/>
            </a:xfrm>
            <a:prstGeom prst="rect">
              <a:avLst/>
            </a:prstGeom>
            <a:noFill/>
          </p:spPr>
          <p:txBody>
            <a:bodyPr wrap="none" rtlCol="0">
              <a:spAutoFit/>
            </a:bodyPr>
            <a:lstStyle/>
            <a:p>
              <a:pPr algn="ctr"/>
              <a:r>
                <a:rPr lang="en-US" altLang="zh-CN" sz="2000" b="1" dirty="0"/>
                <a:t>Candidates</a:t>
              </a:r>
              <a:endParaRPr lang="en-US" sz="2000" b="1" dirty="0"/>
            </a:p>
          </p:txBody>
        </p:sp>
        <p:sp>
          <p:nvSpPr>
            <p:cNvPr id="46" name="Arrow: Down 9">
              <a:extLst>
                <a:ext uri="{FF2B5EF4-FFF2-40B4-BE49-F238E27FC236}">
                  <a16:creationId xmlns:a16="http://schemas.microsoft.com/office/drawing/2014/main" id="{2C495127-9587-5C99-F4EF-8EEF74201D9A}"/>
                </a:ext>
              </a:extLst>
            </p:cNvPr>
            <p:cNvSpPr/>
            <p:nvPr/>
          </p:nvSpPr>
          <p:spPr>
            <a:xfrm rot="16200000">
              <a:off x="6467430" y="2315434"/>
              <a:ext cx="220980" cy="4271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7" name="TextBox 46">
              <a:extLst>
                <a:ext uri="{FF2B5EF4-FFF2-40B4-BE49-F238E27FC236}">
                  <a16:creationId xmlns:a16="http://schemas.microsoft.com/office/drawing/2014/main" id="{E4AD6B3B-FFDD-AC50-D318-E360E86388B9}"/>
                </a:ext>
              </a:extLst>
            </p:cNvPr>
            <p:cNvSpPr txBox="1"/>
            <p:nvPr/>
          </p:nvSpPr>
          <p:spPr>
            <a:xfrm>
              <a:off x="6992472" y="2308988"/>
              <a:ext cx="676788" cy="400110"/>
            </a:xfrm>
            <a:prstGeom prst="rect">
              <a:avLst/>
            </a:prstGeom>
            <a:noFill/>
          </p:spPr>
          <p:txBody>
            <a:bodyPr wrap="none" rtlCol="0">
              <a:spAutoFit/>
            </a:bodyPr>
            <a:lstStyle/>
            <a:p>
              <a:pPr algn="ctr"/>
              <a:r>
                <a:rPr lang="en-US" altLang="zh-CN" sz="2000" b="1" dirty="0"/>
                <a:t>ANN</a:t>
              </a:r>
              <a:endParaRPr lang="en-US" sz="2000" b="1" dirty="0"/>
            </a:p>
          </p:txBody>
        </p:sp>
        <p:cxnSp>
          <p:nvCxnSpPr>
            <p:cNvPr id="48" name="Straight Arrow Connector 47">
              <a:extLst>
                <a:ext uri="{FF2B5EF4-FFF2-40B4-BE49-F238E27FC236}">
                  <a16:creationId xmlns:a16="http://schemas.microsoft.com/office/drawing/2014/main" id="{C471A609-1926-8CB7-33B3-7D549AC79CD2}"/>
                </a:ext>
              </a:extLst>
            </p:cNvPr>
            <p:cNvCxnSpPr>
              <a:cxnSpLocks/>
              <a:stCxn id="49" idx="2"/>
            </p:cNvCxnSpPr>
            <p:nvPr/>
          </p:nvCxnSpPr>
          <p:spPr>
            <a:xfrm flipH="1">
              <a:off x="5083494" y="1838467"/>
              <a:ext cx="299418" cy="4705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70FACBA-EC46-F6D8-89E7-228E6482D13D}"/>
                </a:ext>
              </a:extLst>
            </p:cNvPr>
            <p:cNvSpPr txBox="1"/>
            <p:nvPr/>
          </p:nvSpPr>
          <p:spPr>
            <a:xfrm>
              <a:off x="4292645" y="1469135"/>
              <a:ext cx="2180533" cy="369332"/>
            </a:xfrm>
            <a:prstGeom prst="rect">
              <a:avLst/>
            </a:prstGeom>
            <a:noFill/>
          </p:spPr>
          <p:txBody>
            <a:bodyPr wrap="none" rtlCol="0">
              <a:spAutoFit/>
            </a:bodyPr>
            <a:lstStyle/>
            <a:p>
              <a:r>
                <a:rPr lang="en-US" dirty="0">
                  <a:solidFill>
                    <a:srgbClr val="FF0000"/>
                  </a:solidFill>
                </a:rPr>
                <a:t>Generate candidates.</a:t>
              </a:r>
            </a:p>
          </p:txBody>
        </p:sp>
        <p:cxnSp>
          <p:nvCxnSpPr>
            <p:cNvPr id="50" name="Straight Arrow Connector 49">
              <a:extLst>
                <a:ext uri="{FF2B5EF4-FFF2-40B4-BE49-F238E27FC236}">
                  <a16:creationId xmlns:a16="http://schemas.microsoft.com/office/drawing/2014/main" id="{76EA0237-F45B-327D-9258-2C657F91F679}"/>
                </a:ext>
              </a:extLst>
            </p:cNvPr>
            <p:cNvCxnSpPr>
              <a:cxnSpLocks/>
              <a:stCxn id="51" idx="2"/>
            </p:cNvCxnSpPr>
            <p:nvPr/>
          </p:nvCxnSpPr>
          <p:spPr>
            <a:xfrm flipH="1">
              <a:off x="6552268" y="1841197"/>
              <a:ext cx="1661870" cy="5491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13A237E-0641-6E8F-60CF-9B8F19951794}"/>
                </a:ext>
              </a:extLst>
            </p:cNvPr>
            <p:cNvSpPr txBox="1"/>
            <p:nvPr/>
          </p:nvSpPr>
          <p:spPr>
            <a:xfrm>
              <a:off x="6746749" y="1471865"/>
              <a:ext cx="2934778" cy="369332"/>
            </a:xfrm>
            <a:prstGeom prst="rect">
              <a:avLst/>
            </a:prstGeom>
            <a:noFill/>
          </p:spPr>
          <p:txBody>
            <a:bodyPr wrap="none" rtlCol="0">
              <a:spAutoFit/>
            </a:bodyPr>
            <a:lstStyle/>
            <a:p>
              <a:r>
                <a:rPr lang="en-US" dirty="0">
                  <a:solidFill>
                    <a:srgbClr val="FF0000"/>
                  </a:solidFill>
                </a:rPr>
                <a:t>Find the NN from candidates.</a:t>
              </a:r>
            </a:p>
          </p:txBody>
        </p:sp>
        <p:sp>
          <p:nvSpPr>
            <p:cNvPr id="11" name="Arrow: Down 9">
              <a:extLst>
                <a:ext uri="{FF2B5EF4-FFF2-40B4-BE49-F238E27FC236}">
                  <a16:creationId xmlns:a16="http://schemas.microsoft.com/office/drawing/2014/main" id="{2A55D637-7964-5ACE-8BBC-A53594030FC6}"/>
                </a:ext>
              </a:extLst>
            </p:cNvPr>
            <p:cNvSpPr/>
            <p:nvPr/>
          </p:nvSpPr>
          <p:spPr>
            <a:xfrm rot="16200000">
              <a:off x="3131560" y="2298501"/>
              <a:ext cx="220980" cy="4271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custDataLst>
      <p:tags r:id="rId1"/>
    </p:custDataLst>
    <p:extLst>
      <p:ext uri="{BB962C8B-B14F-4D97-AF65-F5344CB8AC3E}">
        <p14:creationId xmlns:p14="http://schemas.microsoft.com/office/powerpoint/2010/main" val="2869613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b="0" dirty="0">
                <a:latin typeface="Calibri" panose="020F0502020204030204" pitchFamily="34" charset="0"/>
                <a:ea typeface="Microsoft YaHei" panose="020B0503020204020204" pitchFamily="34" charset="-122"/>
                <a:cs typeface="Calibri" panose="020F0502020204030204" pitchFamily="34" charset="0"/>
              </a:rPr>
              <a:t>Graph-based Algorithms</a:t>
            </a:r>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4</a:t>
            </a:fld>
            <a:endParaRPr lang="en-US"/>
          </a:p>
        </p:txBody>
      </p:sp>
      <p:sp>
        <p:nvSpPr>
          <p:cNvPr id="54" name="TextBox 53">
            <a:extLst>
              <a:ext uri="{FF2B5EF4-FFF2-40B4-BE49-F238E27FC236}">
                <a16:creationId xmlns:a16="http://schemas.microsoft.com/office/drawing/2014/main" id="{2AA883D5-0D73-63B9-8F18-732F1DDBEF75}"/>
              </a:ext>
            </a:extLst>
          </p:cNvPr>
          <p:cNvSpPr txBox="1"/>
          <p:nvPr/>
        </p:nvSpPr>
        <p:spPr>
          <a:xfrm>
            <a:off x="871756" y="1914364"/>
            <a:ext cx="905056" cy="276999"/>
          </a:xfrm>
          <a:prstGeom prst="rect">
            <a:avLst/>
          </a:prstGeom>
          <a:noFill/>
        </p:spPr>
        <p:txBody>
          <a:bodyPr wrap="none" rtlCol="0">
            <a:spAutoFit/>
          </a:bodyPr>
          <a:lstStyle/>
          <a:p>
            <a:r>
              <a:rPr lang="en-US" sz="1200" b="1" dirty="0">
                <a:solidFill>
                  <a:srgbClr val="0070C0"/>
                </a:solidFill>
              </a:rPr>
              <a:t>data vector</a:t>
            </a:r>
          </a:p>
        </p:txBody>
      </p:sp>
      <p:grpSp>
        <p:nvGrpSpPr>
          <p:cNvPr id="147" name="Group 146">
            <a:extLst>
              <a:ext uri="{FF2B5EF4-FFF2-40B4-BE49-F238E27FC236}">
                <a16:creationId xmlns:a16="http://schemas.microsoft.com/office/drawing/2014/main" id="{8DE65515-5B55-2C33-8418-0DB6F607535F}"/>
              </a:ext>
            </a:extLst>
          </p:cNvPr>
          <p:cNvGrpSpPr/>
          <p:nvPr/>
        </p:nvGrpSpPr>
        <p:grpSpPr>
          <a:xfrm>
            <a:off x="4202227" y="1473536"/>
            <a:ext cx="1118525" cy="276999"/>
            <a:chOff x="4202227" y="2628256"/>
            <a:chExt cx="1118525" cy="276999"/>
          </a:xfrm>
        </p:grpSpPr>
        <p:sp>
          <p:nvSpPr>
            <p:cNvPr id="59" name="5-point Star 58">
              <a:extLst>
                <a:ext uri="{FF2B5EF4-FFF2-40B4-BE49-F238E27FC236}">
                  <a16:creationId xmlns:a16="http://schemas.microsoft.com/office/drawing/2014/main" id="{9BF83039-2E0C-B999-5C82-A782359DC921}"/>
                </a:ext>
              </a:extLst>
            </p:cNvPr>
            <p:cNvSpPr/>
            <p:nvPr/>
          </p:nvSpPr>
          <p:spPr>
            <a:xfrm>
              <a:off x="4202227" y="2694756"/>
              <a:ext cx="144000" cy="144000"/>
            </a:xfrm>
            <a:prstGeom prst="star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AE9EDBD5-5750-953B-06E5-98C33C054CAA}"/>
                </a:ext>
              </a:extLst>
            </p:cNvPr>
            <p:cNvSpPr txBox="1"/>
            <p:nvPr/>
          </p:nvSpPr>
          <p:spPr>
            <a:xfrm>
              <a:off x="4328749" y="2628256"/>
              <a:ext cx="992003" cy="276999"/>
            </a:xfrm>
            <a:prstGeom prst="rect">
              <a:avLst/>
            </a:prstGeom>
            <a:noFill/>
          </p:spPr>
          <p:txBody>
            <a:bodyPr wrap="none" rtlCol="0">
              <a:spAutoFit/>
            </a:bodyPr>
            <a:lstStyle/>
            <a:p>
              <a:r>
                <a:rPr lang="en-US" sz="1200" b="1" dirty="0">
                  <a:solidFill>
                    <a:schemeClr val="accent2"/>
                  </a:solidFill>
                </a:rPr>
                <a:t>query vector</a:t>
              </a:r>
            </a:p>
          </p:txBody>
        </p:sp>
      </p:grpSp>
      <p:grpSp>
        <p:nvGrpSpPr>
          <p:cNvPr id="142" name="Group 141">
            <a:extLst>
              <a:ext uri="{FF2B5EF4-FFF2-40B4-BE49-F238E27FC236}">
                <a16:creationId xmlns:a16="http://schemas.microsoft.com/office/drawing/2014/main" id="{A02A16E9-BD6D-54D3-CE33-2EB0BF22C3FA}"/>
              </a:ext>
            </a:extLst>
          </p:cNvPr>
          <p:cNvGrpSpPr/>
          <p:nvPr/>
        </p:nvGrpSpPr>
        <p:grpSpPr>
          <a:xfrm>
            <a:off x="1761936" y="1521968"/>
            <a:ext cx="2180712" cy="1091870"/>
            <a:chOff x="1761936" y="2676688"/>
            <a:chExt cx="2180712" cy="1091870"/>
          </a:xfrm>
        </p:grpSpPr>
        <p:sp>
          <p:nvSpPr>
            <p:cNvPr id="35" name="Oval 34">
              <a:extLst>
                <a:ext uri="{FF2B5EF4-FFF2-40B4-BE49-F238E27FC236}">
                  <a16:creationId xmlns:a16="http://schemas.microsoft.com/office/drawing/2014/main" id="{52E010C6-E530-B3C2-8A6D-D5BC2B7E362E}"/>
                </a:ext>
              </a:extLst>
            </p:cNvPr>
            <p:cNvSpPr/>
            <p:nvPr/>
          </p:nvSpPr>
          <p:spPr>
            <a:xfrm>
              <a:off x="2202055" y="2748688"/>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3650415-9870-B461-5655-A84C93BCE2AE}"/>
                </a:ext>
              </a:extLst>
            </p:cNvPr>
            <p:cNvSpPr/>
            <p:nvPr/>
          </p:nvSpPr>
          <p:spPr>
            <a:xfrm>
              <a:off x="1761936" y="3137975"/>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37821E68-6695-2EA4-F243-684458C2D0E2}"/>
                </a:ext>
              </a:extLst>
            </p:cNvPr>
            <p:cNvSpPr/>
            <p:nvPr/>
          </p:nvSpPr>
          <p:spPr>
            <a:xfrm>
              <a:off x="2191099" y="3600746"/>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463B16B4-E506-1F47-2BCF-B414684BB92F}"/>
                </a:ext>
              </a:extLst>
            </p:cNvPr>
            <p:cNvSpPr/>
            <p:nvPr/>
          </p:nvSpPr>
          <p:spPr>
            <a:xfrm>
              <a:off x="2415222" y="3207584"/>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BFF89716-8C5C-5741-F396-481176E839EF}"/>
                </a:ext>
              </a:extLst>
            </p:cNvPr>
            <p:cNvSpPr/>
            <p:nvPr/>
          </p:nvSpPr>
          <p:spPr>
            <a:xfrm>
              <a:off x="2644159" y="2899046"/>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FA35F839-A638-EC01-83B5-2D9B7918724C}"/>
                </a:ext>
              </a:extLst>
            </p:cNvPr>
            <p:cNvSpPr/>
            <p:nvPr/>
          </p:nvSpPr>
          <p:spPr>
            <a:xfrm>
              <a:off x="2865373" y="3575862"/>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6A92F225-E118-A815-A333-C2B7CFE94EF6}"/>
                </a:ext>
              </a:extLst>
            </p:cNvPr>
            <p:cNvSpPr/>
            <p:nvPr/>
          </p:nvSpPr>
          <p:spPr>
            <a:xfrm>
              <a:off x="3781062" y="2993975"/>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4DADF450-0B78-15EE-7A2C-1A56435848B2}"/>
                </a:ext>
              </a:extLst>
            </p:cNvPr>
            <p:cNvSpPr/>
            <p:nvPr/>
          </p:nvSpPr>
          <p:spPr>
            <a:xfrm>
              <a:off x="3059457" y="3217724"/>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E5CFCDEE-ADB2-C81B-4766-F1C05E1C2402}"/>
                </a:ext>
              </a:extLst>
            </p:cNvPr>
            <p:cNvSpPr/>
            <p:nvPr/>
          </p:nvSpPr>
          <p:spPr>
            <a:xfrm>
              <a:off x="3798648" y="3624558"/>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5A11A3C4-26FD-CD57-8C82-52FC6E8F59CC}"/>
                </a:ext>
              </a:extLst>
            </p:cNvPr>
            <p:cNvSpPr/>
            <p:nvPr/>
          </p:nvSpPr>
          <p:spPr>
            <a:xfrm>
              <a:off x="3174201" y="2676688"/>
              <a:ext cx="144000" cy="144000"/>
            </a:xfrm>
            <a:prstGeom prst="ellipse">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4" name="Group 143">
            <a:extLst>
              <a:ext uri="{FF2B5EF4-FFF2-40B4-BE49-F238E27FC236}">
                <a16:creationId xmlns:a16="http://schemas.microsoft.com/office/drawing/2014/main" id="{0023EF87-8893-2AF3-D043-4E7B20827C43}"/>
              </a:ext>
            </a:extLst>
          </p:cNvPr>
          <p:cNvGrpSpPr/>
          <p:nvPr/>
        </p:nvGrpSpPr>
        <p:grpSpPr>
          <a:xfrm>
            <a:off x="1884848" y="1616581"/>
            <a:ext cx="1985800" cy="939771"/>
            <a:chOff x="1884848" y="2771301"/>
            <a:chExt cx="1985800" cy="939771"/>
          </a:xfrm>
        </p:grpSpPr>
        <p:cxnSp>
          <p:nvCxnSpPr>
            <p:cNvPr id="89" name="Straight Connector 88">
              <a:extLst>
                <a:ext uri="{FF2B5EF4-FFF2-40B4-BE49-F238E27FC236}">
                  <a16:creationId xmlns:a16="http://schemas.microsoft.com/office/drawing/2014/main" id="{62973F06-560F-16DC-CD5D-E80F7C197E3D}"/>
                </a:ext>
              </a:extLst>
            </p:cNvPr>
            <p:cNvCxnSpPr>
              <a:cxnSpLocks/>
              <a:stCxn id="39" idx="7"/>
              <a:endCxn id="40" idx="3"/>
            </p:cNvCxnSpPr>
            <p:nvPr/>
          </p:nvCxnSpPr>
          <p:spPr>
            <a:xfrm flipV="1">
              <a:off x="2538134" y="3036472"/>
              <a:ext cx="127113" cy="20671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43" name="Group 142">
              <a:extLst>
                <a:ext uri="{FF2B5EF4-FFF2-40B4-BE49-F238E27FC236}">
                  <a16:creationId xmlns:a16="http://schemas.microsoft.com/office/drawing/2014/main" id="{8D94E5EE-EABC-B85C-6115-38591301CCA9}"/>
                </a:ext>
              </a:extLst>
            </p:cNvPr>
            <p:cNvGrpSpPr/>
            <p:nvPr/>
          </p:nvGrpSpPr>
          <p:grpSpPr>
            <a:xfrm>
              <a:off x="1884848" y="2771301"/>
              <a:ext cx="1985800" cy="939771"/>
              <a:chOff x="1884848" y="2771301"/>
              <a:chExt cx="1985800" cy="939771"/>
            </a:xfrm>
          </p:grpSpPr>
          <p:cxnSp>
            <p:nvCxnSpPr>
              <p:cNvPr id="81" name="Straight Connector 80">
                <a:extLst>
                  <a:ext uri="{FF2B5EF4-FFF2-40B4-BE49-F238E27FC236}">
                    <a16:creationId xmlns:a16="http://schemas.microsoft.com/office/drawing/2014/main" id="{E31F00F1-4EA8-81C8-5495-C7AEEC522C68}"/>
                  </a:ext>
                </a:extLst>
              </p:cNvPr>
              <p:cNvCxnSpPr>
                <a:stCxn id="37" idx="7"/>
                <a:endCxn id="35" idx="3"/>
              </p:cNvCxnSpPr>
              <p:nvPr/>
            </p:nvCxnSpPr>
            <p:spPr>
              <a:xfrm flipV="1">
                <a:off x="1884848" y="2886114"/>
                <a:ext cx="338295" cy="287463"/>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8B01532-98CA-218A-8542-6BFCE6894920}"/>
                  </a:ext>
                </a:extLst>
              </p:cNvPr>
              <p:cNvCxnSpPr>
                <a:cxnSpLocks/>
                <a:stCxn id="37" idx="5"/>
                <a:endCxn id="38" idx="1"/>
              </p:cNvCxnSpPr>
              <p:nvPr/>
            </p:nvCxnSpPr>
            <p:spPr>
              <a:xfrm>
                <a:off x="1884848" y="3275401"/>
                <a:ext cx="327339" cy="36094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92069E2-D587-8C78-3030-BDD2A202A054}"/>
                  </a:ext>
                </a:extLst>
              </p:cNvPr>
              <p:cNvCxnSpPr>
                <a:cxnSpLocks/>
                <a:stCxn id="37" idx="6"/>
                <a:endCxn id="39" idx="2"/>
              </p:cNvCxnSpPr>
              <p:nvPr/>
            </p:nvCxnSpPr>
            <p:spPr>
              <a:xfrm>
                <a:off x="1905936" y="3224489"/>
                <a:ext cx="509286" cy="6960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E082C34-05FA-3BFD-BC5D-5A67BE6BA32E}"/>
                  </a:ext>
                </a:extLst>
              </p:cNvPr>
              <p:cNvCxnSpPr>
                <a:cxnSpLocks/>
                <a:stCxn id="35" idx="6"/>
                <a:endCxn id="40" idx="2"/>
              </p:cNvCxnSpPr>
              <p:nvPr/>
            </p:nvCxnSpPr>
            <p:spPr>
              <a:xfrm>
                <a:off x="2346055" y="2835202"/>
                <a:ext cx="298104" cy="1503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3A74EC3-22B2-00F1-3DC9-9A2957DDC86D}"/>
                  </a:ext>
                </a:extLst>
              </p:cNvPr>
              <p:cNvCxnSpPr>
                <a:cxnSpLocks/>
                <a:stCxn id="38" idx="6"/>
                <a:endCxn id="41" idx="2"/>
              </p:cNvCxnSpPr>
              <p:nvPr/>
            </p:nvCxnSpPr>
            <p:spPr>
              <a:xfrm flipV="1">
                <a:off x="2335099" y="3662376"/>
                <a:ext cx="530274" cy="2488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7C3FEA8-7263-9F78-505B-EC43EC40ADAD}"/>
                  </a:ext>
                </a:extLst>
              </p:cNvPr>
              <p:cNvCxnSpPr>
                <a:cxnSpLocks/>
                <a:stCxn id="39" idx="5"/>
                <a:endCxn id="41" idx="1"/>
              </p:cNvCxnSpPr>
              <p:nvPr/>
            </p:nvCxnSpPr>
            <p:spPr>
              <a:xfrm>
                <a:off x="2538134" y="3345010"/>
                <a:ext cx="348327" cy="26645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1A3006D-2E1E-E5B5-2BA9-CFFBC0B40A49}"/>
                  </a:ext>
                </a:extLst>
              </p:cNvPr>
              <p:cNvCxnSpPr>
                <a:cxnSpLocks/>
                <a:stCxn id="39" idx="3"/>
                <a:endCxn id="38" idx="7"/>
              </p:cNvCxnSpPr>
              <p:nvPr/>
            </p:nvCxnSpPr>
            <p:spPr>
              <a:xfrm flipH="1">
                <a:off x="2314011" y="3345010"/>
                <a:ext cx="122299" cy="29133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E2CD868-844E-A2B4-8778-2134F37FEE4E}"/>
                  </a:ext>
                </a:extLst>
              </p:cNvPr>
              <p:cNvCxnSpPr>
                <a:cxnSpLocks/>
                <a:stCxn id="42" idx="4"/>
                <a:endCxn id="44" idx="0"/>
              </p:cNvCxnSpPr>
              <p:nvPr/>
            </p:nvCxnSpPr>
            <p:spPr>
              <a:xfrm>
                <a:off x="3853062" y="3152489"/>
                <a:ext cx="17586" cy="486583"/>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4821B79-896A-8E10-6DED-D1807B248FFA}"/>
                  </a:ext>
                </a:extLst>
              </p:cNvPr>
              <p:cNvCxnSpPr>
                <a:cxnSpLocks/>
                <a:stCxn id="44" idx="2"/>
                <a:endCxn id="43" idx="5"/>
              </p:cNvCxnSpPr>
              <p:nvPr/>
            </p:nvCxnSpPr>
            <p:spPr>
              <a:xfrm flipH="1" flipV="1">
                <a:off x="3182369" y="3355150"/>
                <a:ext cx="616279" cy="355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B83E35D-4201-4333-082A-BC009B2D5118}"/>
                  </a:ext>
                </a:extLst>
              </p:cNvPr>
              <p:cNvCxnSpPr>
                <a:cxnSpLocks/>
                <a:stCxn id="43" idx="2"/>
                <a:endCxn id="40" idx="5"/>
              </p:cNvCxnSpPr>
              <p:nvPr/>
            </p:nvCxnSpPr>
            <p:spPr>
              <a:xfrm flipH="1" flipV="1">
                <a:off x="2767071" y="3036472"/>
                <a:ext cx="292386" cy="26776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DDEA9D7-9F67-4B5A-ACF9-418951C87FD2}"/>
                  </a:ext>
                </a:extLst>
              </p:cNvPr>
              <p:cNvCxnSpPr>
                <a:cxnSpLocks/>
                <a:stCxn id="43" idx="0"/>
                <a:endCxn id="51" idx="4"/>
              </p:cNvCxnSpPr>
              <p:nvPr/>
            </p:nvCxnSpPr>
            <p:spPr>
              <a:xfrm flipV="1">
                <a:off x="3131457" y="2835202"/>
                <a:ext cx="114744" cy="39703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7980A14-4692-7255-26BD-FF1A47036F7F}"/>
                  </a:ext>
                </a:extLst>
              </p:cNvPr>
              <p:cNvCxnSpPr>
                <a:cxnSpLocks/>
              </p:cNvCxnSpPr>
              <p:nvPr/>
            </p:nvCxnSpPr>
            <p:spPr>
              <a:xfrm flipV="1">
                <a:off x="2769919" y="2771301"/>
                <a:ext cx="407130" cy="17144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8E85E87-C3C5-B29B-DF59-A105C049343B}"/>
                  </a:ext>
                </a:extLst>
              </p:cNvPr>
              <p:cNvCxnSpPr>
                <a:cxnSpLocks/>
                <a:stCxn id="42" idx="3"/>
                <a:endCxn id="43" idx="6"/>
              </p:cNvCxnSpPr>
              <p:nvPr/>
            </p:nvCxnSpPr>
            <p:spPr>
              <a:xfrm flipH="1">
                <a:off x="3203457" y="3131401"/>
                <a:ext cx="598693" cy="17283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3DD2D05-B48D-7FC2-6B41-1FAC58A118B2}"/>
                  </a:ext>
                </a:extLst>
              </p:cNvPr>
              <p:cNvCxnSpPr>
                <a:cxnSpLocks/>
                <a:stCxn id="43" idx="2"/>
                <a:endCxn id="39" idx="6"/>
              </p:cNvCxnSpPr>
              <p:nvPr/>
            </p:nvCxnSpPr>
            <p:spPr>
              <a:xfrm flipH="1" flipV="1">
                <a:off x="2559222" y="3294098"/>
                <a:ext cx="500235" cy="1014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grpSp>
      <p:sp>
        <p:nvSpPr>
          <p:cNvPr id="145" name="TextBox 144">
            <a:extLst>
              <a:ext uri="{FF2B5EF4-FFF2-40B4-BE49-F238E27FC236}">
                <a16:creationId xmlns:a16="http://schemas.microsoft.com/office/drawing/2014/main" id="{FCD89FE3-EDC6-F0D4-ECEB-823C462A0644}"/>
              </a:ext>
            </a:extLst>
          </p:cNvPr>
          <p:cNvSpPr txBox="1"/>
          <p:nvPr/>
        </p:nvSpPr>
        <p:spPr>
          <a:xfrm>
            <a:off x="2379109" y="2728368"/>
            <a:ext cx="1330429" cy="369332"/>
          </a:xfrm>
          <a:prstGeom prst="rect">
            <a:avLst/>
          </a:prstGeom>
          <a:noFill/>
        </p:spPr>
        <p:txBody>
          <a:bodyPr wrap="none" rtlCol="0">
            <a:spAutoFit/>
          </a:bodyPr>
          <a:lstStyle/>
          <a:p>
            <a:r>
              <a:rPr lang="en-US" b="1" dirty="0"/>
              <a:t>Index Phase</a:t>
            </a:r>
          </a:p>
        </p:txBody>
      </p:sp>
      <p:sp>
        <p:nvSpPr>
          <p:cNvPr id="146" name="TextBox 145">
            <a:extLst>
              <a:ext uri="{FF2B5EF4-FFF2-40B4-BE49-F238E27FC236}">
                <a16:creationId xmlns:a16="http://schemas.microsoft.com/office/drawing/2014/main" id="{83DBCAA3-28B8-61A8-8170-63EDC0F5E440}"/>
              </a:ext>
            </a:extLst>
          </p:cNvPr>
          <p:cNvSpPr txBox="1"/>
          <p:nvPr/>
        </p:nvSpPr>
        <p:spPr>
          <a:xfrm>
            <a:off x="2315182" y="2723168"/>
            <a:ext cx="1394356" cy="369332"/>
          </a:xfrm>
          <a:prstGeom prst="rect">
            <a:avLst/>
          </a:prstGeom>
          <a:noFill/>
        </p:spPr>
        <p:txBody>
          <a:bodyPr wrap="none" rtlCol="0">
            <a:spAutoFit/>
          </a:bodyPr>
          <a:lstStyle/>
          <a:p>
            <a:r>
              <a:rPr lang="en-US" b="1" dirty="0"/>
              <a:t>Query Phase</a:t>
            </a:r>
          </a:p>
        </p:txBody>
      </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BD07E6FA-6E66-E9A6-52D3-5ED1A2ACDFB8}"/>
                  </a:ext>
                </a:extLst>
              </p:cNvPr>
              <p:cNvSpPr txBox="1"/>
              <p:nvPr/>
            </p:nvSpPr>
            <p:spPr>
              <a:xfrm>
                <a:off x="2244087" y="1823159"/>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1" i="1" dirty="0" smtClean="0">
                          <a:solidFill>
                            <a:srgbClr val="0070C0"/>
                          </a:solidFill>
                          <a:latin typeface="Cambria Math" panose="02040503050406030204" pitchFamily="18" charset="0"/>
                        </a:rPr>
                        <m:t>𝒖</m:t>
                      </m:r>
                    </m:oMath>
                  </m:oMathPara>
                </a14:m>
                <a:endParaRPr lang="en-US" sz="1200" b="1" dirty="0">
                  <a:solidFill>
                    <a:srgbClr val="0070C0"/>
                  </a:solidFill>
                </a:endParaRPr>
              </a:p>
            </p:txBody>
          </p:sp>
        </mc:Choice>
        <mc:Fallback xmlns="">
          <p:sp>
            <p:nvSpPr>
              <p:cNvPr id="149" name="TextBox 148">
                <a:extLst>
                  <a:ext uri="{FF2B5EF4-FFF2-40B4-BE49-F238E27FC236}">
                    <a16:creationId xmlns:a16="http://schemas.microsoft.com/office/drawing/2014/main" id="{BD07E6FA-6E66-E9A6-52D3-5ED1A2ACDFB8}"/>
                  </a:ext>
                </a:extLst>
              </p:cNvPr>
              <p:cNvSpPr txBox="1">
                <a:spLocks noRot="1" noChangeAspect="1" noMove="1" noResize="1" noEditPoints="1" noAdjustHandles="1" noChangeArrowheads="1" noChangeShapeType="1" noTextEdit="1"/>
              </p:cNvSpPr>
              <p:nvPr/>
            </p:nvSpPr>
            <p:spPr>
              <a:xfrm>
                <a:off x="2244087" y="1823159"/>
                <a:ext cx="319318"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69BE3494-A752-2B16-E09F-E206926F82D5}"/>
                  </a:ext>
                </a:extLst>
              </p:cNvPr>
              <p:cNvSpPr txBox="1"/>
              <p:nvPr/>
            </p:nvSpPr>
            <p:spPr>
              <a:xfrm>
                <a:off x="5826034" y="1141303"/>
                <a:ext cx="4051558" cy="369332"/>
              </a:xfrm>
              <a:prstGeom prst="rect">
                <a:avLst/>
              </a:prstGeom>
              <a:noFill/>
            </p:spPr>
            <p:txBody>
              <a:bodyPr wrap="none" rtlCol="0">
                <a:spAutoFit/>
              </a:bodyPr>
              <a:lstStyle/>
              <a:p>
                <a:r>
                  <a:rPr lang="en-US" dirty="0"/>
                  <a:t>Initialize both sets with a starting point </a:t>
                </a:r>
                <a14:m>
                  <m:oMath xmlns:m="http://schemas.openxmlformats.org/officeDocument/2006/math">
                    <m:r>
                      <a:rPr lang="en-US" b="0" i="1" smtClean="0">
                        <a:latin typeface="Cambria Math" panose="02040503050406030204" pitchFamily="18" charset="0"/>
                      </a:rPr>
                      <m:t>𝑠</m:t>
                    </m:r>
                  </m:oMath>
                </a14:m>
                <a:r>
                  <a:rPr lang="en-US" dirty="0"/>
                  <a:t>.</a:t>
                </a:r>
              </a:p>
            </p:txBody>
          </p:sp>
        </mc:Choice>
        <mc:Fallback xmlns="">
          <p:sp>
            <p:nvSpPr>
              <p:cNvPr id="150" name="TextBox 149">
                <a:extLst>
                  <a:ext uri="{FF2B5EF4-FFF2-40B4-BE49-F238E27FC236}">
                    <a16:creationId xmlns:a16="http://schemas.microsoft.com/office/drawing/2014/main" id="{69BE3494-A752-2B16-E09F-E206926F82D5}"/>
                  </a:ext>
                </a:extLst>
              </p:cNvPr>
              <p:cNvSpPr txBox="1">
                <a:spLocks noRot="1" noChangeAspect="1" noMove="1" noResize="1" noEditPoints="1" noAdjustHandles="1" noChangeArrowheads="1" noChangeShapeType="1" noTextEdit="1"/>
              </p:cNvSpPr>
              <p:nvPr/>
            </p:nvSpPr>
            <p:spPr>
              <a:xfrm>
                <a:off x="5826034" y="1141303"/>
                <a:ext cx="4051558" cy="369332"/>
              </a:xfrm>
              <a:prstGeom prst="rect">
                <a:avLst/>
              </a:prstGeom>
              <a:blipFill>
                <a:blip r:embed="rId5"/>
                <a:stretch>
                  <a:fillRect l="-1250" t="-6452" r="-31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FCBC6D3C-BAB2-4384-80B7-A25AB4217B8D}"/>
                  </a:ext>
                </a:extLst>
              </p:cNvPr>
              <p:cNvSpPr txBox="1"/>
              <p:nvPr/>
            </p:nvSpPr>
            <p:spPr>
              <a:xfrm>
                <a:off x="5826034" y="4907777"/>
                <a:ext cx="6058165" cy="369332"/>
              </a:xfrm>
              <a:prstGeom prst="rect">
                <a:avLst/>
              </a:prstGeom>
              <a:noFill/>
            </p:spPr>
            <p:txBody>
              <a:bodyPr wrap="square" rtlCol="0">
                <a:spAutoFit/>
              </a:bodyPr>
              <a:lstStyle/>
              <a:p>
                <a:r>
                  <a:rPr lang="en-US" dirty="0"/>
                  <a:t>Terminate when “the maximum in </a:t>
                </a:r>
                <a14:m>
                  <m:oMath xmlns:m="http://schemas.openxmlformats.org/officeDocument/2006/math">
                    <m:r>
                      <a:rPr lang="en-US" sz="1800" i="1" smtClean="0">
                        <a:latin typeface="Cambria Math" panose="02040503050406030204" pitchFamily="18" charset="0"/>
                        <a:ea typeface="Cambria Math" panose="02040503050406030204" pitchFamily="18" charset="0"/>
                      </a:rPr>
                      <m:t>ℛ</m:t>
                    </m:r>
                  </m:oMath>
                </a14:m>
                <a:r>
                  <a:rPr lang="en-US" dirty="0"/>
                  <a:t>” &lt; “the minimum in </a:t>
                </a:r>
                <a14:m>
                  <m:oMath xmlns:m="http://schemas.openxmlformats.org/officeDocument/2006/math">
                    <m:r>
                      <a:rPr lang="en-US" i="1">
                        <a:latin typeface="Cambria Math" panose="02040503050406030204" pitchFamily="18" charset="0"/>
                        <a:ea typeface="Cambria Math" panose="02040503050406030204" pitchFamily="18" charset="0"/>
                      </a:rPr>
                      <m:t>𝒮</m:t>
                    </m:r>
                  </m:oMath>
                </a14:m>
                <a:r>
                  <a:rPr lang="en-US" dirty="0"/>
                  <a:t>”. </a:t>
                </a:r>
              </a:p>
            </p:txBody>
          </p:sp>
        </mc:Choice>
        <mc:Fallback xmlns="">
          <p:sp>
            <p:nvSpPr>
              <p:cNvPr id="153" name="TextBox 152">
                <a:extLst>
                  <a:ext uri="{FF2B5EF4-FFF2-40B4-BE49-F238E27FC236}">
                    <a16:creationId xmlns:a16="http://schemas.microsoft.com/office/drawing/2014/main" id="{FCBC6D3C-BAB2-4384-80B7-A25AB4217B8D}"/>
                  </a:ext>
                </a:extLst>
              </p:cNvPr>
              <p:cNvSpPr txBox="1">
                <a:spLocks noRot="1" noChangeAspect="1" noMove="1" noResize="1" noEditPoints="1" noAdjustHandles="1" noChangeArrowheads="1" noChangeShapeType="1" noTextEdit="1"/>
              </p:cNvSpPr>
              <p:nvPr/>
            </p:nvSpPr>
            <p:spPr>
              <a:xfrm>
                <a:off x="5826034" y="4907777"/>
                <a:ext cx="6058165" cy="369332"/>
              </a:xfrm>
              <a:prstGeom prst="rect">
                <a:avLst/>
              </a:prstGeom>
              <a:blipFill>
                <a:blip r:embed="rId6"/>
                <a:stretch>
                  <a:fillRect l="-835"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文本占位符 44">
                <a:extLst>
                  <a:ext uri="{FF2B5EF4-FFF2-40B4-BE49-F238E27FC236}">
                    <a16:creationId xmlns:a16="http://schemas.microsoft.com/office/drawing/2014/main" id="{1ECA083C-7149-BFCC-3247-76BEF05058BE}"/>
                  </a:ext>
                </a:extLst>
              </p:cNvPr>
              <p:cNvSpPr txBox="1">
                <a:spLocks/>
              </p:cNvSpPr>
              <p:nvPr/>
            </p:nvSpPr>
            <p:spPr>
              <a:xfrm>
                <a:off x="5963540" y="2006846"/>
                <a:ext cx="6019138" cy="283027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sz="1400" dirty="0"/>
                  <a:t>Step 1 – </a:t>
                </a:r>
                <a14:m>
                  <m:oMath xmlns:m="http://schemas.openxmlformats.org/officeDocument/2006/math">
                    <m:r>
                      <a:rPr lang="en-US" sz="1400" i="1">
                        <a:latin typeface="Cambria Math" panose="02040503050406030204" pitchFamily="18" charset="0"/>
                      </a:rPr>
                      <m:t>𝑂</m:t>
                    </m:r>
                    <m:r>
                      <a:rPr lang="en-US" sz="1400" i="1">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r>
                          <a:rPr lang="en-US" sz="1400" b="0" i="1" smtClean="0">
                            <a:latin typeface="Cambria Math" panose="02040503050406030204" pitchFamily="18" charset="0"/>
                          </a:rPr>
                          <m:t>𝑁</m:t>
                        </m:r>
                      </m:e>
                    </m:func>
                    <m:r>
                      <a:rPr lang="en-US" sz="1400" i="1">
                        <a:latin typeface="Cambria Math" panose="02040503050406030204" pitchFamily="18" charset="0"/>
                      </a:rPr>
                      <m:t>)</m:t>
                    </m:r>
                  </m:oMath>
                </a14:m>
                <a:endParaRPr lang="en-US" sz="1400" dirty="0"/>
              </a:p>
              <a:p>
                <a:pPr marL="742950" lvl="1" indent="-285750">
                  <a:buFont typeface="Wingdings" panose="05000000000000000000" pitchFamily="2" charset="2"/>
                  <a:buChar char="Ø"/>
                </a:pPr>
                <a:r>
                  <a:rPr lang="en-US" sz="1200" dirty="0"/>
                  <a:t>Fetch the object </a:t>
                </a:r>
                <a14:m>
                  <m:oMath xmlns:m="http://schemas.openxmlformats.org/officeDocument/2006/math">
                    <m:r>
                      <a:rPr lang="en-US" sz="1200" i="1">
                        <a:latin typeface="Cambria Math" panose="02040503050406030204" pitchFamily="18" charset="0"/>
                      </a:rPr>
                      <m:t>𝑢</m:t>
                    </m:r>
                  </m:oMath>
                </a14:m>
                <a:r>
                  <a:rPr lang="en-US" sz="1200" dirty="0"/>
                  <a:t> which has the smallest distance in </a:t>
                </a:r>
                <a14:m>
                  <m:oMath xmlns:m="http://schemas.openxmlformats.org/officeDocument/2006/math">
                    <m:r>
                      <a:rPr lang="en-US" sz="1200" i="1">
                        <a:latin typeface="Cambria Math" panose="02040503050406030204" pitchFamily="18" charset="0"/>
                        <a:ea typeface="Cambria Math" panose="02040503050406030204" pitchFamily="18" charset="0"/>
                      </a:rPr>
                      <m:t>𝒮</m:t>
                    </m:r>
                  </m:oMath>
                </a14:m>
                <a:r>
                  <a:rPr lang="en-US" sz="1200" dirty="0"/>
                  <a:t> and pop it out.  </a:t>
                </a:r>
                <a:endParaRPr lang="en-US" dirty="0"/>
              </a:p>
              <a:p>
                <a:pPr marL="285750" indent="-285750">
                  <a:buFont typeface="Wingdings" panose="05000000000000000000" pitchFamily="2" charset="2"/>
                  <a:buChar char="Ø"/>
                </a:pPr>
                <a:r>
                  <a:rPr lang="en-US" sz="1400" dirty="0"/>
                  <a:t>Step 2 – </a:t>
                </a:r>
                <a14:m>
                  <m:oMath xmlns:m="http://schemas.openxmlformats.org/officeDocument/2006/math">
                    <m:r>
                      <a:rPr lang="en-US" sz="1400" i="1">
                        <a:latin typeface="Cambria Math" panose="02040503050406030204" pitchFamily="18" charset="0"/>
                      </a:rPr>
                      <m:t>𝑂</m:t>
                    </m:r>
                    <m:r>
                      <a:rPr lang="en-US" sz="1400" b="0" i="1" smtClean="0">
                        <a:latin typeface="Cambria Math" panose="02040503050406030204" pitchFamily="18" charset="0"/>
                      </a:rPr>
                      <m:t>(1)</m:t>
                    </m:r>
                  </m:oMath>
                </a14:m>
                <a:r>
                  <a:rPr lang="en-US" sz="1400" dirty="0"/>
                  <a:t> for each unvisited neighbor</a:t>
                </a:r>
              </a:p>
              <a:p>
                <a:pPr marL="742950" lvl="1" indent="-285750">
                  <a:buFont typeface="Wingdings" panose="05000000000000000000" pitchFamily="2" charset="2"/>
                  <a:buChar char="Ø"/>
                </a:pPr>
                <a:r>
                  <a:rPr lang="en-US" sz="1200" dirty="0"/>
                  <a:t>Visit an unvisited neighbor </a:t>
                </a:r>
                <a14:m>
                  <m:oMath xmlns:m="http://schemas.openxmlformats.org/officeDocument/2006/math">
                    <m:r>
                      <a:rPr lang="en-US" sz="1200" i="1">
                        <a:latin typeface="Cambria Math" panose="02040503050406030204" pitchFamily="18" charset="0"/>
                      </a:rPr>
                      <m:t>𝑣</m:t>
                    </m:r>
                  </m:oMath>
                </a14:m>
                <a:r>
                  <a:rPr lang="en-US" sz="1200" dirty="0"/>
                  <a:t> of </a:t>
                </a:r>
                <a14:m>
                  <m:oMath xmlns:m="http://schemas.openxmlformats.org/officeDocument/2006/math">
                    <m:r>
                      <a:rPr lang="en-US" sz="1200" i="1">
                        <a:latin typeface="Cambria Math" panose="02040503050406030204" pitchFamily="18" charset="0"/>
                      </a:rPr>
                      <m:t>𝑢</m:t>
                    </m:r>
                  </m:oMath>
                </a14:m>
                <a:r>
                  <a:rPr lang="en-US" sz="1200" dirty="0"/>
                  <a:t>.</a:t>
                </a:r>
                <a:endParaRPr lang="en-US" sz="1400" dirty="0"/>
              </a:p>
              <a:p>
                <a:pPr marL="285750" indent="-285750">
                  <a:buFont typeface="Wingdings" panose="05000000000000000000" pitchFamily="2" charset="2"/>
                  <a:buChar char="Ø"/>
                </a:pPr>
                <a:r>
                  <a:rPr lang="en-US" sz="1400" dirty="0"/>
                  <a:t>Step 3 – </a:t>
                </a:r>
                <a14:m>
                  <m:oMath xmlns:m="http://schemas.openxmlformats.org/officeDocument/2006/math">
                    <m:r>
                      <a:rPr lang="en-US" sz="1400" i="1">
                        <a:latin typeface="Cambria Math" panose="02040503050406030204" pitchFamily="18" charset="0"/>
                      </a:rPr>
                      <m:t>𝑂</m:t>
                    </m:r>
                    <m:r>
                      <a:rPr lang="en-US" sz="1400" i="1">
                        <a:latin typeface="Cambria Math" panose="02040503050406030204" pitchFamily="18" charset="0"/>
                      </a:rPr>
                      <m:t>(</m:t>
                    </m:r>
                    <m:r>
                      <a:rPr lang="en-US" sz="1400" i="1">
                        <a:latin typeface="Cambria Math" panose="02040503050406030204" pitchFamily="18" charset="0"/>
                      </a:rPr>
                      <m:t>𝐷</m:t>
                    </m:r>
                    <m:r>
                      <a:rPr lang="en-US" sz="1400" i="1">
                        <a:latin typeface="Cambria Math" panose="02040503050406030204" pitchFamily="18" charset="0"/>
                      </a:rPr>
                      <m:t>)</m:t>
                    </m:r>
                  </m:oMath>
                </a14:m>
                <a:endParaRPr lang="en-US" sz="1400" dirty="0"/>
              </a:p>
              <a:p>
                <a:pPr marL="742950" lvl="1" indent="-285750">
                  <a:buFont typeface="Wingdings" panose="05000000000000000000" pitchFamily="2" charset="2"/>
                  <a:buChar char="Ø"/>
                </a:pPr>
                <a:r>
                  <a:rPr lang="en-US" sz="1200" dirty="0"/>
                  <a:t>Compute </a:t>
                </a:r>
                <a14:m>
                  <m:oMath xmlns:m="http://schemas.openxmlformats.org/officeDocument/2006/math">
                    <m:r>
                      <a:rPr lang="en-US" sz="1200" b="0" i="1" smtClean="0">
                        <a:latin typeface="Cambria Math" panose="02040503050406030204" pitchFamily="18" charset="0"/>
                      </a:rPr>
                      <m:t>𝑣</m:t>
                    </m:r>
                  </m:oMath>
                </a14:m>
                <a:r>
                  <a:rPr lang="en-US" sz="1200" dirty="0"/>
                  <a:t>’s exact distance.</a:t>
                </a:r>
                <a:endParaRPr lang="en-US" sz="1400" dirty="0"/>
              </a:p>
              <a:p>
                <a:pPr marL="285750" indent="-285750">
                  <a:buFont typeface="Wingdings" panose="05000000000000000000" pitchFamily="2" charset="2"/>
                  <a:buChar char="Ø"/>
                </a:pPr>
                <a:r>
                  <a:rPr lang="en-US" sz="1400" dirty="0"/>
                  <a:t>Step 4 – </a:t>
                </a:r>
                <a14:m>
                  <m:oMath xmlns:m="http://schemas.openxmlformats.org/officeDocument/2006/math">
                    <m:r>
                      <a:rPr lang="en-US" sz="1400" i="1">
                        <a:latin typeface="Cambria Math" panose="02040503050406030204" pitchFamily="18" charset="0"/>
                      </a:rPr>
                      <m:t>𝑂</m:t>
                    </m:r>
                    <m:r>
                      <a:rPr lang="en-US" sz="1400" i="1">
                        <a:latin typeface="Cambria Math" panose="02040503050406030204" pitchFamily="18" charset="0"/>
                      </a:rPr>
                      <m:t>(1)</m:t>
                    </m:r>
                  </m:oMath>
                </a14:m>
                <a:r>
                  <a:rPr lang="en-US" sz="1400" dirty="0"/>
                  <a:t> or </a:t>
                </a:r>
                <a14:m>
                  <m:oMath xmlns:m="http://schemas.openxmlformats.org/officeDocument/2006/math">
                    <m:r>
                      <a:rPr lang="en-US" sz="1400" b="0" i="1" smtClean="0">
                        <a:latin typeface="Cambria Math" panose="02040503050406030204" pitchFamily="18" charset="0"/>
                      </a:rPr>
                      <m:t>𝑂</m:t>
                    </m:r>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r>
                          <a:rPr lang="en-US" sz="1400" b="0" i="1" smtClean="0">
                            <a:latin typeface="Cambria Math" panose="02040503050406030204" pitchFamily="18" charset="0"/>
                          </a:rPr>
                          <m:t>𝑁</m:t>
                        </m:r>
                      </m:e>
                    </m:func>
                    <m:r>
                      <a:rPr lang="en-US" sz="1400" b="0" i="1" smtClean="0">
                        <a:latin typeface="Cambria Math" panose="02040503050406030204" pitchFamily="18" charset="0"/>
                      </a:rPr>
                      <m:t>)</m:t>
                    </m:r>
                  </m:oMath>
                </a14:m>
                <a:endParaRPr lang="en-US" sz="1400" dirty="0"/>
              </a:p>
              <a:p>
                <a:pPr marL="742950" lvl="1" indent="-285750">
                  <a:buFont typeface="Wingdings" panose="05000000000000000000" pitchFamily="2" charset="2"/>
                  <a:buChar char="Ø"/>
                </a:pPr>
                <a:r>
                  <a:rPr lang="en-US" sz="1200" dirty="0"/>
                  <a:t>Compare the distance with “the maximum in </a:t>
                </a:r>
                <a14:m>
                  <m:oMath xmlns:m="http://schemas.openxmlformats.org/officeDocument/2006/math">
                    <m:r>
                      <a:rPr lang="en-US" sz="1200" i="1">
                        <a:latin typeface="Cambria Math" panose="02040503050406030204" pitchFamily="18" charset="0"/>
                        <a:ea typeface="Cambria Math" panose="02040503050406030204" pitchFamily="18" charset="0"/>
                      </a:rPr>
                      <m:t>ℛ</m:t>
                    </m:r>
                  </m:oMath>
                </a14:m>
                <a:r>
                  <a:rPr lang="en-US" sz="1200" dirty="0"/>
                  <a:t>”.</a:t>
                </a:r>
              </a:p>
              <a:p>
                <a:pPr marL="1200150" lvl="2" indent="-285750">
                  <a:buFont typeface="Wingdings" panose="05000000000000000000" pitchFamily="2" charset="2"/>
                  <a:buChar char="Ø"/>
                </a:pPr>
                <a:r>
                  <a:rPr lang="en-US" sz="1100" dirty="0"/>
                  <a:t>Case 1 – If its distance is no greater, then update both sets with </a:t>
                </a:r>
                <a14:m>
                  <m:oMath xmlns:m="http://schemas.openxmlformats.org/officeDocument/2006/math">
                    <m:r>
                      <a:rPr lang="en-US" sz="1100" i="1" dirty="0" smtClean="0">
                        <a:latin typeface="Cambria Math" panose="02040503050406030204" pitchFamily="18" charset="0"/>
                      </a:rPr>
                      <m:t>𝑣</m:t>
                    </m:r>
                  </m:oMath>
                </a14:m>
                <a:r>
                  <a:rPr lang="en-US" sz="1100" dirty="0"/>
                  <a:t> in </a:t>
                </a:r>
                <a14:m>
                  <m:oMath xmlns:m="http://schemas.openxmlformats.org/officeDocument/2006/math">
                    <m:r>
                      <a:rPr lang="en-US" sz="1100" i="1">
                        <a:latin typeface="Cambria Math" panose="02040503050406030204" pitchFamily="18" charset="0"/>
                      </a:rPr>
                      <m:t>𝑂</m:t>
                    </m:r>
                    <m:r>
                      <a:rPr lang="en-US" sz="1100" i="1">
                        <a:latin typeface="Cambria Math" panose="02040503050406030204" pitchFamily="18" charset="0"/>
                      </a:rPr>
                      <m:t>(</m:t>
                    </m:r>
                    <m:func>
                      <m:funcPr>
                        <m:ctrlPr>
                          <a:rPr lang="en-US" sz="1100" i="1">
                            <a:latin typeface="Cambria Math" panose="02040503050406030204" pitchFamily="18" charset="0"/>
                          </a:rPr>
                        </m:ctrlPr>
                      </m:funcPr>
                      <m:fName>
                        <m:r>
                          <m:rPr>
                            <m:sty m:val="p"/>
                          </m:rPr>
                          <a:rPr lang="en-US" sz="1100">
                            <a:latin typeface="Cambria Math" panose="02040503050406030204" pitchFamily="18" charset="0"/>
                          </a:rPr>
                          <m:t>log</m:t>
                        </m:r>
                      </m:fName>
                      <m:e>
                        <m:r>
                          <a:rPr lang="en-US" sz="1100" i="1">
                            <a:latin typeface="Cambria Math" panose="02040503050406030204" pitchFamily="18" charset="0"/>
                          </a:rPr>
                          <m:t>𝑁</m:t>
                        </m:r>
                      </m:e>
                    </m:func>
                    <m:r>
                      <a:rPr lang="en-US" sz="1100" i="1">
                        <a:latin typeface="Cambria Math" panose="02040503050406030204" pitchFamily="18" charset="0"/>
                      </a:rPr>
                      <m:t>)</m:t>
                    </m:r>
                  </m:oMath>
                </a14:m>
                <a:r>
                  <a:rPr lang="en-US" sz="1100" dirty="0"/>
                  <a:t>.</a:t>
                </a:r>
              </a:p>
              <a:p>
                <a:pPr marL="1200150" lvl="2" indent="-285750">
                  <a:buFont typeface="Wingdings" panose="05000000000000000000" pitchFamily="2" charset="2"/>
                  <a:buChar char="Ø"/>
                </a:pPr>
                <a:r>
                  <a:rPr lang="en-US" sz="1100" dirty="0"/>
                  <a:t>Case 2 – Otherwise, discard </a:t>
                </a:r>
                <a14:m>
                  <m:oMath xmlns:m="http://schemas.openxmlformats.org/officeDocument/2006/math">
                    <m:r>
                      <a:rPr lang="en-US" sz="1100" i="1" dirty="0">
                        <a:latin typeface="Cambria Math" panose="02040503050406030204" pitchFamily="18" charset="0"/>
                      </a:rPr>
                      <m:t>𝑣</m:t>
                    </m:r>
                  </m:oMath>
                </a14:m>
                <a:r>
                  <a:rPr lang="en-US" sz="1100" dirty="0"/>
                  <a:t> in </a:t>
                </a:r>
                <a14:m>
                  <m:oMath xmlns:m="http://schemas.openxmlformats.org/officeDocument/2006/math">
                    <m:r>
                      <a:rPr lang="en-US" sz="1100" b="0" i="1" smtClean="0">
                        <a:latin typeface="Cambria Math" panose="02040503050406030204" pitchFamily="18" charset="0"/>
                      </a:rPr>
                      <m:t>𝑂</m:t>
                    </m:r>
                    <m:r>
                      <a:rPr lang="en-US" sz="1100" b="0" i="1" smtClean="0">
                        <a:latin typeface="Cambria Math" panose="02040503050406030204" pitchFamily="18" charset="0"/>
                      </a:rPr>
                      <m:t>(1)</m:t>
                    </m:r>
                  </m:oMath>
                </a14:m>
                <a:r>
                  <a:rPr lang="en-US" sz="1100" dirty="0"/>
                  <a:t>.</a:t>
                </a:r>
              </a:p>
            </p:txBody>
          </p:sp>
        </mc:Choice>
        <mc:Fallback xmlns="">
          <p:sp>
            <p:nvSpPr>
              <p:cNvPr id="11" name="文本占位符 44">
                <a:extLst>
                  <a:ext uri="{FF2B5EF4-FFF2-40B4-BE49-F238E27FC236}">
                    <a16:creationId xmlns:a16="http://schemas.microsoft.com/office/drawing/2014/main" id="{1ECA083C-7149-BFCC-3247-76BEF05058BE}"/>
                  </a:ext>
                </a:extLst>
              </p:cNvPr>
              <p:cNvSpPr txBox="1">
                <a:spLocks noRot="1" noChangeAspect="1" noMove="1" noResize="1" noEditPoints="1" noAdjustHandles="1" noChangeArrowheads="1" noChangeShapeType="1" noTextEdit="1"/>
              </p:cNvSpPr>
              <p:nvPr/>
            </p:nvSpPr>
            <p:spPr>
              <a:xfrm>
                <a:off x="5963540" y="2006846"/>
                <a:ext cx="6019138" cy="2830272"/>
              </a:xfrm>
              <a:prstGeom prst="rect">
                <a:avLst/>
              </a:prstGeom>
              <a:blipFill>
                <a:blip r:embed="rId7"/>
                <a:stretch>
                  <a:fillRect t="-889"/>
                </a:stretch>
              </a:blipFill>
              <a:ln>
                <a:solidFill>
                  <a:schemeClr val="tx1"/>
                </a:solidFill>
              </a:ln>
            </p:spPr>
            <p:txBody>
              <a:bodyPr/>
              <a:lstStyle/>
              <a:p>
                <a:r>
                  <a:rPr lang="en-US">
                    <a:noFill/>
                  </a:rPr>
                  <a:t> </a:t>
                </a:r>
              </a:p>
            </p:txBody>
          </p:sp>
        </mc:Fallback>
      </mc:AlternateContent>
      <p:sp>
        <p:nvSpPr>
          <p:cNvPr id="158" name="TextBox 157">
            <a:extLst>
              <a:ext uri="{FF2B5EF4-FFF2-40B4-BE49-F238E27FC236}">
                <a16:creationId xmlns:a16="http://schemas.microsoft.com/office/drawing/2014/main" id="{7617C6D5-7400-9F28-BE18-1EB0B4D617D8}"/>
              </a:ext>
            </a:extLst>
          </p:cNvPr>
          <p:cNvSpPr txBox="1"/>
          <p:nvPr/>
        </p:nvSpPr>
        <p:spPr>
          <a:xfrm>
            <a:off x="5826034" y="1601591"/>
            <a:ext cx="2103525" cy="369332"/>
          </a:xfrm>
          <a:prstGeom prst="rect">
            <a:avLst/>
          </a:prstGeom>
          <a:noFill/>
        </p:spPr>
        <p:txBody>
          <a:bodyPr wrap="none" rtlCol="0">
            <a:spAutoFit/>
          </a:bodyPr>
          <a:lstStyle/>
          <a:p>
            <a:r>
              <a:rPr lang="en-US" dirty="0"/>
              <a:t>Search in iterations: </a:t>
            </a:r>
          </a:p>
        </p:txBody>
      </p:sp>
      <p:grpSp>
        <p:nvGrpSpPr>
          <p:cNvPr id="167" name="Group 166">
            <a:extLst>
              <a:ext uri="{FF2B5EF4-FFF2-40B4-BE49-F238E27FC236}">
                <a16:creationId xmlns:a16="http://schemas.microsoft.com/office/drawing/2014/main" id="{D17EC6DD-8C52-CC19-6055-C8C117645B91}"/>
              </a:ext>
            </a:extLst>
          </p:cNvPr>
          <p:cNvGrpSpPr/>
          <p:nvPr/>
        </p:nvGrpSpPr>
        <p:grpSpPr>
          <a:xfrm>
            <a:off x="2559222" y="1819342"/>
            <a:ext cx="677443" cy="330176"/>
            <a:chOff x="2559222" y="2974062"/>
            <a:chExt cx="677443" cy="330176"/>
          </a:xfrm>
        </p:grpSpPr>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AB8E0EAC-D6A7-D538-C904-3B14E3DBF8F9}"/>
                    </a:ext>
                  </a:extLst>
                </p:cNvPr>
                <p:cNvSpPr txBox="1"/>
                <p:nvPr/>
              </p:nvSpPr>
              <p:spPr>
                <a:xfrm>
                  <a:off x="2923759" y="2974062"/>
                  <a:ext cx="312906"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FF0000"/>
                            </a:solidFill>
                            <a:latin typeface="Cambria Math" panose="02040503050406030204" pitchFamily="18" charset="0"/>
                          </a:rPr>
                          <m:t>𝒗</m:t>
                        </m:r>
                      </m:oMath>
                    </m:oMathPara>
                  </a14:m>
                  <a:endParaRPr lang="en-US" sz="1200" b="1" dirty="0">
                    <a:solidFill>
                      <a:srgbClr val="FF0000"/>
                    </a:solidFill>
                  </a:endParaRPr>
                </a:p>
              </p:txBody>
            </p:sp>
          </mc:Choice>
          <mc:Fallback xmlns="">
            <p:sp>
              <p:nvSpPr>
                <p:cNvPr id="160" name="TextBox 159">
                  <a:extLst>
                    <a:ext uri="{FF2B5EF4-FFF2-40B4-BE49-F238E27FC236}">
                      <a16:creationId xmlns:a16="http://schemas.microsoft.com/office/drawing/2014/main" id="{AB8E0EAC-D6A7-D538-C904-3B14E3DBF8F9}"/>
                    </a:ext>
                  </a:extLst>
                </p:cNvPr>
                <p:cNvSpPr txBox="1">
                  <a:spLocks noRot="1" noChangeAspect="1" noMove="1" noResize="1" noEditPoints="1" noAdjustHandles="1" noChangeArrowheads="1" noChangeShapeType="1" noTextEdit="1"/>
                </p:cNvSpPr>
                <p:nvPr/>
              </p:nvSpPr>
              <p:spPr>
                <a:xfrm>
                  <a:off x="2923759" y="2974062"/>
                  <a:ext cx="312906" cy="276999"/>
                </a:xfrm>
                <a:prstGeom prst="rect">
                  <a:avLst/>
                </a:prstGeom>
                <a:blipFill>
                  <a:blip r:embed="rId8"/>
                  <a:stretch>
                    <a:fillRect/>
                  </a:stretch>
                </a:blipFill>
              </p:spPr>
              <p:txBody>
                <a:bodyPr/>
                <a:lstStyle/>
                <a:p>
                  <a:r>
                    <a:rPr lang="en-US">
                      <a:noFill/>
                    </a:rPr>
                    <a:t> </a:t>
                  </a:r>
                </a:p>
              </p:txBody>
            </p:sp>
          </mc:Fallback>
        </mc:AlternateContent>
        <p:cxnSp>
          <p:nvCxnSpPr>
            <p:cNvPr id="162" name="Straight Connector 161">
              <a:extLst>
                <a:ext uri="{FF2B5EF4-FFF2-40B4-BE49-F238E27FC236}">
                  <a16:creationId xmlns:a16="http://schemas.microsoft.com/office/drawing/2014/main" id="{9D8ECA45-7B77-CCA1-9943-BB90C40C6AC4}"/>
                </a:ext>
              </a:extLst>
            </p:cNvPr>
            <p:cNvCxnSpPr>
              <a:cxnSpLocks/>
              <a:stCxn id="39" idx="6"/>
              <a:endCxn id="43" idx="2"/>
            </p:cNvCxnSpPr>
            <p:nvPr/>
          </p:nvCxnSpPr>
          <p:spPr>
            <a:xfrm>
              <a:off x="2559222" y="3294098"/>
              <a:ext cx="500235" cy="10140"/>
            </a:xfrm>
            <a:prstGeom prst="line">
              <a:avLst/>
            </a:prstGeom>
            <a:ln w="38100">
              <a:solidFill>
                <a:srgbClr val="FF0000"/>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411504B8-8044-8165-4AC6-1054E0F3EDAE}"/>
              </a:ext>
            </a:extLst>
          </p:cNvPr>
          <p:cNvGrpSpPr/>
          <p:nvPr/>
        </p:nvGrpSpPr>
        <p:grpSpPr>
          <a:xfrm>
            <a:off x="472887" y="3282411"/>
            <a:ext cx="4758120" cy="1625366"/>
            <a:chOff x="472887" y="4437131"/>
            <a:chExt cx="4758120" cy="1625366"/>
          </a:xfrm>
        </p:grpSpPr>
        <p:grpSp>
          <p:nvGrpSpPr>
            <p:cNvPr id="19" name="Group 18">
              <a:extLst>
                <a:ext uri="{FF2B5EF4-FFF2-40B4-BE49-F238E27FC236}">
                  <a16:creationId xmlns:a16="http://schemas.microsoft.com/office/drawing/2014/main" id="{F44D490F-0ECE-0B9F-2F45-EC5D990B2646}"/>
                </a:ext>
              </a:extLst>
            </p:cNvPr>
            <p:cNvGrpSpPr/>
            <p:nvPr/>
          </p:nvGrpSpPr>
          <p:grpSpPr>
            <a:xfrm>
              <a:off x="2721743" y="5606354"/>
              <a:ext cx="2509264" cy="360000"/>
              <a:chOff x="8824686" y="3936600"/>
              <a:chExt cx="2509264" cy="360000"/>
            </a:xfrm>
          </p:grpSpPr>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C39A21B-6F49-D031-DBA5-0F12198B34E3}"/>
                      </a:ext>
                    </a:extLst>
                  </p:cNvPr>
                  <p:cNvSpPr/>
                  <p:nvPr/>
                </p:nvSpPr>
                <p:spPr>
                  <a:xfrm>
                    <a:off x="8824686"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 </m:t>
                          </m:r>
                        </m:oMath>
                      </m:oMathPara>
                    </a14:m>
                    <a:endParaRPr lang="en-US" b="1" dirty="0"/>
                  </a:p>
                </p:txBody>
              </p:sp>
            </mc:Choice>
            <mc:Fallback xmlns="">
              <p:sp>
                <p:nvSpPr>
                  <p:cNvPr id="20" name="Rectangle 19">
                    <a:extLst>
                      <a:ext uri="{FF2B5EF4-FFF2-40B4-BE49-F238E27FC236}">
                        <a16:creationId xmlns:a16="http://schemas.microsoft.com/office/drawing/2014/main" id="{2C39A21B-6F49-D031-DBA5-0F12198B34E3}"/>
                      </a:ext>
                    </a:extLst>
                  </p:cNvPr>
                  <p:cNvSpPr>
                    <a:spLocks noRot="1" noChangeAspect="1" noMove="1" noResize="1" noEditPoints="1" noAdjustHandles="1" noChangeArrowheads="1" noChangeShapeType="1" noTextEdit="1"/>
                  </p:cNvSpPr>
                  <p:nvPr/>
                </p:nvSpPr>
                <p:spPr>
                  <a:xfrm>
                    <a:off x="8824686" y="3936600"/>
                    <a:ext cx="360000" cy="360000"/>
                  </a:xfrm>
                  <a:prstGeom prst="rect">
                    <a:avLst/>
                  </a:prstGeom>
                  <a:blipFill>
                    <a:blip r:embed="rId9"/>
                    <a:stretch>
                      <a:fillRect b="-16667"/>
                    </a:stretch>
                  </a:blipFill>
                  <a:ln w="12700">
                    <a:solidFill>
                      <a:srgbClr val="2D76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805D5482-C389-ED60-FA56-7D8AE0644DDB}"/>
                  </a:ext>
                </a:extLst>
              </p:cNvPr>
              <p:cNvSpPr/>
              <p:nvPr/>
            </p:nvSpPr>
            <p:spPr>
              <a:xfrm>
                <a:off x="9184686"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B3CD1DCD-70F1-1F78-AF73-36B379BDB37D}"/>
                  </a:ext>
                </a:extLst>
              </p:cNvPr>
              <p:cNvSpPr/>
              <p:nvPr/>
            </p:nvSpPr>
            <p:spPr>
              <a:xfrm>
                <a:off x="9544686"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01B798C-61FC-38A5-95E5-8035FF054B39}"/>
                  </a:ext>
                </a:extLst>
              </p:cNvPr>
              <p:cNvSpPr/>
              <p:nvPr/>
            </p:nvSpPr>
            <p:spPr>
              <a:xfrm>
                <a:off x="9904686"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3D0D8600-7240-DDC0-FEEB-681319540150}"/>
                  </a:ext>
                </a:extLst>
              </p:cNvPr>
              <p:cNvSpPr/>
              <p:nvPr/>
            </p:nvSpPr>
            <p:spPr>
              <a:xfrm>
                <a:off x="10259318"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5E0476F8-CF66-E8EF-38BE-05B49ACC3EDB}"/>
                  </a:ext>
                </a:extLst>
              </p:cNvPr>
              <p:cNvSpPr/>
              <p:nvPr/>
            </p:nvSpPr>
            <p:spPr>
              <a:xfrm>
                <a:off x="10619318"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9D660BF-19BE-B467-9E9B-9852973127CE}"/>
                  </a:ext>
                </a:extLst>
              </p:cNvPr>
              <p:cNvSpPr/>
              <p:nvPr/>
            </p:nvSpPr>
            <p:spPr>
              <a:xfrm>
                <a:off x="10973950" y="3936600"/>
                <a:ext cx="360000" cy="360000"/>
              </a:xfrm>
              <a:prstGeom prst="rect">
                <a:avLst/>
              </a:prstGeom>
              <a:solidFill>
                <a:srgbClr val="60A918"/>
              </a:solidFill>
              <a:ln w="127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 name="Group 6">
              <a:extLst>
                <a:ext uri="{FF2B5EF4-FFF2-40B4-BE49-F238E27FC236}">
                  <a16:creationId xmlns:a16="http://schemas.microsoft.com/office/drawing/2014/main" id="{9DF8A0AD-2754-DC68-B5A9-797528E6A39F}"/>
                </a:ext>
              </a:extLst>
            </p:cNvPr>
            <p:cNvGrpSpPr/>
            <p:nvPr/>
          </p:nvGrpSpPr>
          <p:grpSpPr>
            <a:xfrm>
              <a:off x="2730912" y="4937801"/>
              <a:ext cx="1076680" cy="360000"/>
              <a:chOff x="8824686" y="3167745"/>
              <a:chExt cx="1076680" cy="360000"/>
            </a:xfrm>
          </p:grpSpPr>
          <p:sp>
            <p:nvSpPr>
              <p:cNvPr id="9" name="Rectangle 8">
                <a:extLst>
                  <a:ext uri="{FF2B5EF4-FFF2-40B4-BE49-F238E27FC236}">
                    <a16:creationId xmlns:a16="http://schemas.microsoft.com/office/drawing/2014/main" id="{9D6111BD-7AC8-13CE-2BD2-0BC7CAE08364}"/>
                  </a:ext>
                </a:extLst>
              </p:cNvPr>
              <p:cNvSpPr/>
              <p:nvPr/>
            </p:nvSpPr>
            <p:spPr>
              <a:xfrm>
                <a:off x="8824686" y="3167745"/>
                <a:ext cx="360000" cy="360000"/>
              </a:xfrm>
              <a:prstGeom prst="rect">
                <a:avLst/>
              </a:prstGeom>
              <a:solidFill>
                <a:srgbClr val="60A918"/>
              </a:solidFill>
              <a:ln w="635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E858A36-97DE-68D9-C192-8B6AC6CD4C83}"/>
                  </a:ext>
                </a:extLst>
              </p:cNvPr>
              <p:cNvSpPr/>
              <p:nvPr/>
            </p:nvSpPr>
            <p:spPr>
              <a:xfrm>
                <a:off x="9181366" y="3167745"/>
                <a:ext cx="360000" cy="360000"/>
              </a:xfrm>
              <a:prstGeom prst="rect">
                <a:avLst/>
              </a:prstGeom>
              <a:solidFill>
                <a:srgbClr val="60A918"/>
              </a:solidFill>
              <a:ln w="635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04528D3-C9B3-9B83-FC85-20CBBB74BFF8}"/>
                  </a:ext>
                </a:extLst>
              </p:cNvPr>
              <p:cNvSpPr/>
              <p:nvPr/>
            </p:nvSpPr>
            <p:spPr>
              <a:xfrm>
                <a:off x="9541366" y="3167745"/>
                <a:ext cx="360000" cy="360000"/>
              </a:xfrm>
              <a:prstGeom prst="rect">
                <a:avLst/>
              </a:prstGeom>
              <a:solidFill>
                <a:srgbClr val="60A918"/>
              </a:solidFill>
              <a:ln w="63500">
                <a:solidFill>
                  <a:srgbClr val="2D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6" name="Group 155">
              <a:extLst>
                <a:ext uri="{FF2B5EF4-FFF2-40B4-BE49-F238E27FC236}">
                  <a16:creationId xmlns:a16="http://schemas.microsoft.com/office/drawing/2014/main" id="{DA30EE2D-5A9B-D35F-ECB8-B56F5E5817E8}"/>
                </a:ext>
              </a:extLst>
            </p:cNvPr>
            <p:cNvGrpSpPr/>
            <p:nvPr/>
          </p:nvGrpSpPr>
          <p:grpSpPr>
            <a:xfrm>
              <a:off x="472887" y="4840871"/>
              <a:ext cx="2172390" cy="556952"/>
              <a:chOff x="472887" y="4919425"/>
              <a:chExt cx="2172390" cy="556952"/>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4D15296-3E02-C39E-C87C-7ED14B7A27FF}"/>
                      </a:ext>
                    </a:extLst>
                  </p:cNvPr>
                  <p:cNvSpPr txBox="1"/>
                  <p:nvPr/>
                </p:nvSpPr>
                <p:spPr>
                  <a:xfrm>
                    <a:off x="773942" y="4919425"/>
                    <a:ext cx="1543115" cy="400110"/>
                  </a:xfrm>
                  <a:prstGeom prst="rect">
                    <a:avLst/>
                  </a:prstGeom>
                  <a:noFill/>
                </p:spPr>
                <p:txBody>
                  <a:bodyPr wrap="none" rtlCol="0">
                    <a:spAutoFit/>
                  </a:bodyPr>
                  <a:lstStyle/>
                  <a:p>
                    <a:r>
                      <a:rPr lang="en-US" sz="2000" dirty="0"/>
                      <a:t>Result Set: </a:t>
                    </a:r>
                    <a14:m>
                      <m:oMath xmlns:m="http://schemas.openxmlformats.org/officeDocument/2006/math">
                        <m:r>
                          <a:rPr lang="en-US" sz="2000" i="1" smtClean="0">
                            <a:latin typeface="Cambria Math" panose="02040503050406030204" pitchFamily="18" charset="0"/>
                            <a:ea typeface="Cambria Math" panose="02040503050406030204" pitchFamily="18" charset="0"/>
                          </a:rPr>
                          <m:t>ℛ</m:t>
                        </m:r>
                      </m:oMath>
                    </a14:m>
                    <a:endParaRPr lang="en-US" sz="2000" dirty="0"/>
                  </a:p>
                </p:txBody>
              </p:sp>
            </mc:Choice>
            <mc:Fallback xmlns="">
              <p:sp>
                <p:nvSpPr>
                  <p:cNvPr id="8" name="TextBox 7">
                    <a:extLst>
                      <a:ext uri="{FF2B5EF4-FFF2-40B4-BE49-F238E27FC236}">
                        <a16:creationId xmlns:a16="http://schemas.microsoft.com/office/drawing/2014/main" id="{C4D15296-3E02-C39E-C87C-7ED14B7A27FF}"/>
                      </a:ext>
                    </a:extLst>
                  </p:cNvPr>
                  <p:cNvSpPr txBox="1">
                    <a:spLocks noRot="1" noChangeAspect="1" noMove="1" noResize="1" noEditPoints="1" noAdjustHandles="1" noChangeArrowheads="1" noChangeShapeType="1" noTextEdit="1"/>
                  </p:cNvSpPr>
                  <p:nvPr/>
                </p:nvSpPr>
                <p:spPr>
                  <a:xfrm>
                    <a:off x="773942" y="4919425"/>
                    <a:ext cx="1543115" cy="400110"/>
                  </a:xfrm>
                  <a:prstGeom prst="rect">
                    <a:avLst/>
                  </a:prstGeom>
                  <a:blipFill>
                    <a:blip r:embed="rId10"/>
                    <a:stretch>
                      <a:fillRect l="-4065" t="-9375" b="-28125"/>
                    </a:stretch>
                  </a:blipFill>
                </p:spPr>
                <p:txBody>
                  <a:bodyPr/>
                  <a:lstStyle/>
                  <a:p>
                    <a:r>
                      <a:rPr lang="en-US">
                        <a:noFill/>
                      </a:rPr>
                      <a:t> </a:t>
                    </a:r>
                  </a:p>
                </p:txBody>
              </p:sp>
            </mc:Fallback>
          </mc:AlternateContent>
          <p:sp>
            <p:nvSpPr>
              <p:cNvPr id="154" name="TextBox 153">
                <a:extLst>
                  <a:ext uri="{FF2B5EF4-FFF2-40B4-BE49-F238E27FC236}">
                    <a16:creationId xmlns:a16="http://schemas.microsoft.com/office/drawing/2014/main" id="{93862F8B-AD03-1647-22D8-B453DA804D19}"/>
                  </a:ext>
                </a:extLst>
              </p:cNvPr>
              <p:cNvSpPr txBox="1"/>
              <p:nvPr/>
            </p:nvSpPr>
            <p:spPr>
              <a:xfrm>
                <a:off x="472887" y="5222461"/>
                <a:ext cx="2172390" cy="253916"/>
              </a:xfrm>
              <a:prstGeom prst="rect">
                <a:avLst/>
              </a:prstGeom>
              <a:noFill/>
            </p:spPr>
            <p:txBody>
              <a:bodyPr wrap="none" rtlCol="0">
                <a:spAutoFit/>
              </a:bodyPr>
              <a:lstStyle/>
              <a:p>
                <a:r>
                  <a:rPr lang="en-US" sz="1050" dirty="0"/>
                  <a:t>(max-heap ordered by the distance)</a:t>
                </a:r>
              </a:p>
            </p:txBody>
          </p:sp>
        </p:grpSp>
        <p:grpSp>
          <p:nvGrpSpPr>
            <p:cNvPr id="157" name="Group 156">
              <a:extLst>
                <a:ext uri="{FF2B5EF4-FFF2-40B4-BE49-F238E27FC236}">
                  <a16:creationId xmlns:a16="http://schemas.microsoft.com/office/drawing/2014/main" id="{044903D6-7540-E555-9293-F1C9B7914784}"/>
                </a:ext>
              </a:extLst>
            </p:cNvPr>
            <p:cNvGrpSpPr/>
            <p:nvPr/>
          </p:nvGrpSpPr>
          <p:grpSpPr>
            <a:xfrm>
              <a:off x="478268" y="5510210"/>
              <a:ext cx="2121093" cy="552287"/>
              <a:chOff x="474532" y="5586299"/>
              <a:chExt cx="2121093" cy="552287"/>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9539808-FD52-3CEB-2D30-A2749FDA2BB1}"/>
                      </a:ext>
                    </a:extLst>
                  </p:cNvPr>
                  <p:cNvSpPr txBox="1"/>
                  <p:nvPr/>
                </p:nvSpPr>
                <p:spPr>
                  <a:xfrm>
                    <a:off x="754458" y="5586299"/>
                    <a:ext cx="1558504" cy="400110"/>
                  </a:xfrm>
                  <a:prstGeom prst="rect">
                    <a:avLst/>
                  </a:prstGeom>
                  <a:noFill/>
                </p:spPr>
                <p:txBody>
                  <a:bodyPr wrap="none" rtlCol="0">
                    <a:spAutoFit/>
                  </a:bodyPr>
                  <a:lstStyle/>
                  <a:p>
                    <a:r>
                      <a:rPr lang="en-US" sz="2000" dirty="0"/>
                      <a:t>Search Set: </a:t>
                    </a:r>
                    <a14:m>
                      <m:oMath xmlns:m="http://schemas.openxmlformats.org/officeDocument/2006/math">
                        <m:r>
                          <a:rPr lang="en-US" sz="2000" i="1" smtClean="0">
                            <a:latin typeface="Cambria Math" panose="02040503050406030204" pitchFamily="18" charset="0"/>
                            <a:ea typeface="Cambria Math" panose="02040503050406030204" pitchFamily="18" charset="0"/>
                          </a:rPr>
                          <m:t>𝒮</m:t>
                        </m:r>
                      </m:oMath>
                    </a14:m>
                    <a:endParaRPr lang="en-US" sz="2000" dirty="0"/>
                  </a:p>
                </p:txBody>
              </p:sp>
            </mc:Choice>
            <mc:Fallback xmlns="">
              <p:sp>
                <p:nvSpPr>
                  <p:cNvPr id="18" name="TextBox 17">
                    <a:extLst>
                      <a:ext uri="{FF2B5EF4-FFF2-40B4-BE49-F238E27FC236}">
                        <a16:creationId xmlns:a16="http://schemas.microsoft.com/office/drawing/2014/main" id="{69539808-FD52-3CEB-2D30-A2749FDA2BB1}"/>
                      </a:ext>
                    </a:extLst>
                  </p:cNvPr>
                  <p:cNvSpPr txBox="1">
                    <a:spLocks noRot="1" noChangeAspect="1" noMove="1" noResize="1" noEditPoints="1" noAdjustHandles="1" noChangeArrowheads="1" noChangeShapeType="1" noTextEdit="1"/>
                  </p:cNvSpPr>
                  <p:nvPr/>
                </p:nvSpPr>
                <p:spPr>
                  <a:xfrm>
                    <a:off x="754458" y="5586299"/>
                    <a:ext cx="1558504" cy="400110"/>
                  </a:xfrm>
                  <a:prstGeom prst="rect">
                    <a:avLst/>
                  </a:prstGeom>
                  <a:blipFill>
                    <a:blip r:embed="rId11"/>
                    <a:stretch>
                      <a:fillRect l="-4032" t="-9375" b="-28125"/>
                    </a:stretch>
                  </a:blipFill>
                </p:spPr>
                <p:txBody>
                  <a:bodyPr/>
                  <a:lstStyle/>
                  <a:p>
                    <a:r>
                      <a:rPr lang="en-US">
                        <a:noFill/>
                      </a:rPr>
                      <a:t> </a:t>
                    </a:r>
                  </a:p>
                </p:txBody>
              </p:sp>
            </mc:Fallback>
          </mc:AlternateContent>
          <p:sp>
            <p:nvSpPr>
              <p:cNvPr id="155" name="TextBox 154">
                <a:extLst>
                  <a:ext uri="{FF2B5EF4-FFF2-40B4-BE49-F238E27FC236}">
                    <a16:creationId xmlns:a16="http://schemas.microsoft.com/office/drawing/2014/main" id="{F3B8B698-5C68-4204-B9AA-036B7806146C}"/>
                  </a:ext>
                </a:extLst>
              </p:cNvPr>
              <p:cNvSpPr txBox="1"/>
              <p:nvPr/>
            </p:nvSpPr>
            <p:spPr>
              <a:xfrm>
                <a:off x="474532" y="5884670"/>
                <a:ext cx="2121093" cy="253916"/>
              </a:xfrm>
              <a:prstGeom prst="rect">
                <a:avLst/>
              </a:prstGeom>
              <a:noFill/>
            </p:spPr>
            <p:txBody>
              <a:bodyPr wrap="none" rtlCol="0">
                <a:spAutoFit/>
              </a:bodyPr>
              <a:lstStyle/>
              <a:p>
                <a:r>
                  <a:rPr lang="en-US" sz="1050" dirty="0"/>
                  <a:t>(min-heap ordered by the distance)</a:t>
                </a:r>
              </a:p>
            </p:txBody>
          </p:sp>
        </p:grpSp>
        <p:sp>
          <p:nvSpPr>
            <p:cNvPr id="168" name="Right Brace 167">
              <a:extLst>
                <a:ext uri="{FF2B5EF4-FFF2-40B4-BE49-F238E27FC236}">
                  <a16:creationId xmlns:a16="http://schemas.microsoft.com/office/drawing/2014/main" id="{6F95F812-FE5F-CBBE-3220-5CD9FBF95C1B}"/>
                </a:ext>
              </a:extLst>
            </p:cNvPr>
            <p:cNvSpPr/>
            <p:nvPr/>
          </p:nvSpPr>
          <p:spPr>
            <a:xfrm rot="16200000">
              <a:off x="3189132" y="4249571"/>
              <a:ext cx="145224" cy="10872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9B47910F-3CBE-5E02-79C4-4AD3424D7F68}"/>
                    </a:ext>
                  </a:extLst>
                </p:cNvPr>
                <p:cNvSpPr txBox="1"/>
                <p:nvPr/>
              </p:nvSpPr>
              <p:spPr>
                <a:xfrm>
                  <a:off x="2329027" y="4437131"/>
                  <a:ext cx="1899431" cy="275140"/>
                </a:xfrm>
                <a:prstGeom prst="rect">
                  <a:avLst/>
                </a:prstGeom>
                <a:noFill/>
              </p:spPr>
              <p:txBody>
                <a:bodyPr wrap="none" rtlCol="0">
                  <a:spAutoFit/>
                </a:bodyPr>
                <a:lstStyle/>
                <a:p>
                  <a:r>
                    <a:rPr lang="en-US" sz="1100" dirty="0"/>
                    <a:t>Fixed Size </a:t>
                  </a:r>
                  <a14:m>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𝑁</m:t>
                          </m:r>
                        </m:e>
                        <m:sub>
                          <m:r>
                            <a:rPr lang="en-US" sz="1100" b="0" i="1" smtClean="0">
                              <a:latin typeface="Cambria Math" panose="02040503050406030204" pitchFamily="18" charset="0"/>
                            </a:rPr>
                            <m:t>𝑒𝑓</m:t>
                          </m:r>
                        </m:sub>
                      </m:sSub>
                    </m:oMath>
                  </a14:m>
                  <a:r>
                    <a:rPr lang="en-US" sz="1100" dirty="0"/>
                    <a:t> (Larger than </a:t>
                  </a:r>
                  <a14:m>
                    <m:oMath xmlns:m="http://schemas.openxmlformats.org/officeDocument/2006/math">
                      <m:r>
                        <a:rPr lang="en-US" sz="1100" b="0" i="1" smtClean="0">
                          <a:latin typeface="Cambria Math" panose="02040503050406030204" pitchFamily="18" charset="0"/>
                        </a:rPr>
                        <m:t>𝐾</m:t>
                      </m:r>
                    </m:oMath>
                  </a14:m>
                  <a:r>
                    <a:rPr lang="en-US" sz="1100" dirty="0"/>
                    <a:t>)</a:t>
                  </a:r>
                </a:p>
              </p:txBody>
            </p:sp>
          </mc:Choice>
          <mc:Fallback xmlns="">
            <p:sp>
              <p:nvSpPr>
                <p:cNvPr id="169" name="TextBox 168">
                  <a:extLst>
                    <a:ext uri="{FF2B5EF4-FFF2-40B4-BE49-F238E27FC236}">
                      <a16:creationId xmlns:a16="http://schemas.microsoft.com/office/drawing/2014/main" id="{9B47910F-3CBE-5E02-79C4-4AD3424D7F68}"/>
                    </a:ext>
                  </a:extLst>
                </p:cNvPr>
                <p:cNvSpPr txBox="1">
                  <a:spLocks noRot="1" noChangeAspect="1" noMove="1" noResize="1" noEditPoints="1" noAdjustHandles="1" noChangeArrowheads="1" noChangeShapeType="1" noTextEdit="1"/>
                </p:cNvSpPr>
                <p:nvPr/>
              </p:nvSpPr>
              <p:spPr>
                <a:xfrm>
                  <a:off x="2329027" y="4437131"/>
                  <a:ext cx="1899431" cy="275140"/>
                </a:xfrm>
                <a:prstGeom prst="rect">
                  <a:avLst/>
                </a:prstGeom>
                <a:blipFill>
                  <a:blip r:embed="rId12"/>
                  <a:stretch>
                    <a:fillRect b="-9091"/>
                  </a:stretch>
                </a:blipFill>
              </p:spPr>
              <p:txBody>
                <a:bodyPr/>
                <a:lstStyle/>
                <a:p>
                  <a:r>
                    <a:rPr lang="en-US">
                      <a:noFill/>
                    </a:rPr>
                    <a:t> </a:t>
                  </a:r>
                </a:p>
              </p:txBody>
            </p:sp>
          </mc:Fallback>
        </mc:AlternateContent>
      </p:grpSp>
      <p:sp>
        <p:nvSpPr>
          <p:cNvPr id="171" name="TextBox 170">
            <a:extLst>
              <a:ext uri="{FF2B5EF4-FFF2-40B4-BE49-F238E27FC236}">
                <a16:creationId xmlns:a16="http://schemas.microsoft.com/office/drawing/2014/main" id="{71C56D87-4AFB-8551-01D7-6BF1A269606F}"/>
              </a:ext>
            </a:extLst>
          </p:cNvPr>
          <p:cNvSpPr txBox="1"/>
          <p:nvPr/>
        </p:nvSpPr>
        <p:spPr>
          <a:xfrm>
            <a:off x="7420632" y="3096801"/>
            <a:ext cx="2510624" cy="307777"/>
          </a:xfrm>
          <a:prstGeom prst="rect">
            <a:avLst/>
          </a:prstGeom>
          <a:noFill/>
        </p:spPr>
        <p:txBody>
          <a:bodyPr wrap="none" rtlCol="0">
            <a:spAutoFit/>
          </a:bodyPr>
          <a:lstStyle/>
          <a:p>
            <a:r>
              <a:rPr lang="en-US" sz="1400" b="1" dirty="0">
                <a:solidFill>
                  <a:srgbClr val="0000FF"/>
                </a:solidFill>
                <a:latin typeface="Apple Symbols" panose="02000000000000000000" pitchFamily="2" charset="-79"/>
                <a:ea typeface="Apple Symbols" panose="02000000000000000000" pitchFamily="2" charset="-79"/>
                <a:cs typeface="Apple Symbols" panose="02000000000000000000" pitchFamily="2" charset="-79"/>
              </a:rPr>
              <a:t>(*) Step 3 dominates the time cost.</a:t>
            </a:r>
          </a:p>
        </p:txBody>
      </p:sp>
      <p:sp>
        <p:nvSpPr>
          <p:cNvPr id="172" name="TextBox 171">
            <a:extLst>
              <a:ext uri="{FF2B5EF4-FFF2-40B4-BE49-F238E27FC236}">
                <a16:creationId xmlns:a16="http://schemas.microsoft.com/office/drawing/2014/main" id="{7FFDD3AA-921F-8327-BAE0-FB87CE550D0B}"/>
              </a:ext>
            </a:extLst>
          </p:cNvPr>
          <p:cNvSpPr txBox="1"/>
          <p:nvPr/>
        </p:nvSpPr>
        <p:spPr>
          <a:xfrm>
            <a:off x="7720238" y="4520632"/>
            <a:ext cx="3304110" cy="307777"/>
          </a:xfrm>
          <a:prstGeom prst="rect">
            <a:avLst/>
          </a:prstGeom>
          <a:noFill/>
        </p:spPr>
        <p:txBody>
          <a:bodyPr wrap="none" rtlCol="0">
            <a:spAutoFit/>
          </a:bodyPr>
          <a:lstStyle/>
          <a:p>
            <a:r>
              <a:rPr lang="en-US" sz="1400" b="1" dirty="0">
                <a:solidFill>
                  <a:srgbClr val="0000FF"/>
                </a:solidFill>
                <a:latin typeface="Apple Symbols" panose="02000000000000000000" pitchFamily="2" charset="-79"/>
                <a:ea typeface="Apple Symbols" panose="02000000000000000000" pitchFamily="2" charset="-79"/>
                <a:cs typeface="Apple Symbols" panose="02000000000000000000" pitchFamily="2" charset="-79"/>
              </a:rPr>
              <a:t>(**) Case 2 does not require the exact distance.</a:t>
            </a:r>
          </a:p>
        </p:txBody>
      </p:sp>
      <p:sp>
        <p:nvSpPr>
          <p:cNvPr id="173" name="TextBox 172">
            <a:extLst>
              <a:ext uri="{FF2B5EF4-FFF2-40B4-BE49-F238E27FC236}">
                <a16:creationId xmlns:a16="http://schemas.microsoft.com/office/drawing/2014/main" id="{87AB67C6-6A03-CA20-385D-C3DB5FF0EED2}"/>
              </a:ext>
            </a:extLst>
          </p:cNvPr>
          <p:cNvSpPr txBox="1"/>
          <p:nvPr/>
        </p:nvSpPr>
        <p:spPr>
          <a:xfrm>
            <a:off x="8271895" y="3638694"/>
            <a:ext cx="2419252" cy="307777"/>
          </a:xfrm>
          <a:prstGeom prst="rect">
            <a:avLst/>
          </a:prstGeom>
          <a:noFill/>
        </p:spPr>
        <p:txBody>
          <a:bodyPr wrap="none" rtlCol="0">
            <a:spAutoFit/>
          </a:bodyPr>
          <a:lstStyle/>
          <a:p>
            <a:r>
              <a:rPr lang="en-US" sz="1400" b="1" dirty="0">
                <a:solidFill>
                  <a:srgbClr val="0000FF"/>
                </a:solidFill>
                <a:latin typeface="Apple Symbols" panose="02000000000000000000" pitchFamily="2" charset="-79"/>
                <a:ea typeface="Apple Symbols" panose="02000000000000000000" pitchFamily="2" charset="-79"/>
                <a:cs typeface="Apple Symbols" panose="02000000000000000000" pitchFamily="2" charset="-79"/>
              </a:rPr>
              <a:t>(***) Most cases would be Case 2.</a:t>
            </a:r>
          </a:p>
        </p:txBody>
      </p:sp>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D81DF264-AC17-517B-6F53-C08565E95AD0}"/>
                  </a:ext>
                </a:extLst>
              </p:cNvPr>
              <p:cNvSpPr txBox="1"/>
              <p:nvPr/>
            </p:nvSpPr>
            <p:spPr>
              <a:xfrm>
                <a:off x="4293860" y="3192947"/>
                <a:ext cx="11914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𝑑𝑖𝑠𝑡</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𝑣</m:t>
                      </m:r>
                      <m:r>
                        <a:rPr lang="en-US" b="0" i="1" smtClean="0">
                          <a:solidFill>
                            <a:schemeClr val="accent5"/>
                          </a:solidFill>
                          <a:latin typeface="Cambria Math" panose="02040503050406030204" pitchFamily="18" charset="0"/>
                        </a:rPr>
                        <m:t>, </m:t>
                      </m:r>
                      <m:r>
                        <a:rPr lang="en-US" b="0" i="1" smtClean="0">
                          <a:solidFill>
                            <a:schemeClr val="accent5"/>
                          </a:solidFill>
                          <a:latin typeface="Cambria Math" panose="02040503050406030204" pitchFamily="18" charset="0"/>
                        </a:rPr>
                        <m:t>𝑞</m:t>
                      </m:r>
                      <m:r>
                        <a:rPr lang="en-US" b="0" i="1" smtClean="0">
                          <a:solidFill>
                            <a:schemeClr val="accent5"/>
                          </a:solidFill>
                          <a:latin typeface="Cambria Math" panose="02040503050406030204" pitchFamily="18" charset="0"/>
                        </a:rPr>
                        <m:t>)</m:t>
                      </m:r>
                    </m:oMath>
                  </m:oMathPara>
                </a14:m>
                <a:endParaRPr lang="en-US" dirty="0">
                  <a:solidFill>
                    <a:schemeClr val="accent5"/>
                  </a:solidFill>
                </a:endParaRPr>
              </a:p>
            </p:txBody>
          </p:sp>
        </mc:Choice>
        <mc:Fallback xmlns="">
          <p:sp>
            <p:nvSpPr>
              <p:cNvPr id="175" name="TextBox 174">
                <a:extLst>
                  <a:ext uri="{FF2B5EF4-FFF2-40B4-BE49-F238E27FC236}">
                    <a16:creationId xmlns:a16="http://schemas.microsoft.com/office/drawing/2014/main" id="{D81DF264-AC17-517B-6F53-C08565E95AD0}"/>
                  </a:ext>
                </a:extLst>
              </p:cNvPr>
              <p:cNvSpPr txBox="1">
                <a:spLocks noRot="1" noChangeAspect="1" noMove="1" noResize="1" noEditPoints="1" noAdjustHandles="1" noChangeArrowheads="1" noChangeShapeType="1" noTextEdit="1"/>
              </p:cNvSpPr>
              <p:nvPr/>
            </p:nvSpPr>
            <p:spPr>
              <a:xfrm>
                <a:off x="4293860" y="3192947"/>
                <a:ext cx="1191480" cy="369332"/>
              </a:xfrm>
              <a:prstGeom prst="rect">
                <a:avLst/>
              </a:prstGeom>
              <a:blipFill>
                <a:blip r:embed="rId13"/>
                <a:stretch>
                  <a:fillRect b="-13333"/>
                </a:stretch>
              </a:blipFill>
            </p:spPr>
            <p:txBody>
              <a:bodyPr/>
              <a:lstStyle/>
              <a:p>
                <a:r>
                  <a:rPr lang="en-US">
                    <a:noFill/>
                  </a:rPr>
                  <a:t> </a:t>
                </a:r>
              </a:p>
            </p:txBody>
          </p:sp>
        </mc:Fallback>
      </mc:AlternateContent>
      <p:sp>
        <p:nvSpPr>
          <p:cNvPr id="176" name="Bent Arrow 175">
            <a:extLst>
              <a:ext uri="{FF2B5EF4-FFF2-40B4-BE49-F238E27FC236}">
                <a16:creationId xmlns:a16="http://schemas.microsoft.com/office/drawing/2014/main" id="{8DA919F5-C098-ED2C-251F-4F390A42B10B}"/>
              </a:ext>
            </a:extLst>
          </p:cNvPr>
          <p:cNvSpPr/>
          <p:nvPr/>
        </p:nvSpPr>
        <p:spPr>
          <a:xfrm rot="10800000">
            <a:off x="3955304" y="3540997"/>
            <a:ext cx="934296" cy="435699"/>
          </a:xfrm>
          <a:prstGeom prst="bentArrow">
            <a:avLst>
              <a:gd name="adj1" fmla="val 2723"/>
              <a:gd name="adj2" fmla="val 5508"/>
              <a:gd name="adj3" fmla="val 19431"/>
              <a:gd name="adj4" fmla="val 43750"/>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1">
                    <a:shade val="50000"/>
                  </a:schemeClr>
                </a:solidFill>
              </a:ln>
              <a:solidFill>
                <a:schemeClr val="tx1"/>
              </a:solidFill>
            </a:endParaRPr>
          </a:p>
        </p:txBody>
      </p:sp>
      <p:sp>
        <p:nvSpPr>
          <p:cNvPr id="177" name="TextBox 176">
            <a:extLst>
              <a:ext uri="{FF2B5EF4-FFF2-40B4-BE49-F238E27FC236}">
                <a16:creationId xmlns:a16="http://schemas.microsoft.com/office/drawing/2014/main" id="{11C00A22-0231-65CC-ED85-388DB232EB7B}"/>
              </a:ext>
            </a:extLst>
          </p:cNvPr>
          <p:cNvSpPr txBox="1"/>
          <p:nvPr/>
        </p:nvSpPr>
        <p:spPr>
          <a:xfrm>
            <a:off x="4054465" y="3710377"/>
            <a:ext cx="735971" cy="276999"/>
          </a:xfrm>
          <a:prstGeom prst="rect">
            <a:avLst/>
          </a:prstGeom>
          <a:noFill/>
        </p:spPr>
        <p:txBody>
          <a:bodyPr wrap="none" rtlCol="0">
            <a:spAutoFit/>
          </a:bodyPr>
          <a:lstStyle/>
          <a:p>
            <a:r>
              <a:rPr lang="en-US" sz="1200" dirty="0">
                <a:solidFill>
                  <a:schemeClr val="accent5"/>
                </a:solidFill>
              </a:rPr>
              <a:t>compare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1DCBC4-ED36-A8C9-E643-014EAB1649CC}"/>
                  </a:ext>
                </a:extLst>
              </p:cNvPr>
              <p:cNvSpPr txBox="1"/>
              <p:nvPr/>
            </p:nvSpPr>
            <p:spPr>
              <a:xfrm>
                <a:off x="2717457" y="4473080"/>
                <a:ext cx="36420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chemeClr val="bg1"/>
                          </a:solidFill>
                          <a:latin typeface="Cambria Math" panose="02040503050406030204" pitchFamily="18" charset="0"/>
                        </a:rPr>
                        <m:t>𝒖</m:t>
                      </m:r>
                    </m:oMath>
                  </m:oMathPara>
                </a14:m>
                <a:endParaRPr lang="en-US" sz="1600" b="1" dirty="0">
                  <a:solidFill>
                    <a:schemeClr val="bg1"/>
                  </a:solidFill>
                </a:endParaRPr>
              </a:p>
            </p:txBody>
          </p:sp>
        </mc:Choice>
        <mc:Fallback xmlns="">
          <p:sp>
            <p:nvSpPr>
              <p:cNvPr id="5" name="TextBox 4">
                <a:extLst>
                  <a:ext uri="{FF2B5EF4-FFF2-40B4-BE49-F238E27FC236}">
                    <a16:creationId xmlns:a16="http://schemas.microsoft.com/office/drawing/2014/main" id="{FE1DCBC4-ED36-A8C9-E643-014EAB1649CC}"/>
                  </a:ext>
                </a:extLst>
              </p:cNvPr>
              <p:cNvSpPr txBox="1">
                <a:spLocks noRot="1" noChangeAspect="1" noMove="1" noResize="1" noEditPoints="1" noAdjustHandles="1" noChangeArrowheads="1" noChangeShapeType="1" noTextEdit="1"/>
              </p:cNvSpPr>
              <p:nvPr/>
            </p:nvSpPr>
            <p:spPr>
              <a:xfrm>
                <a:off x="2717457" y="4473080"/>
                <a:ext cx="364202" cy="338554"/>
              </a:xfrm>
              <a:prstGeom prst="rect">
                <a:avLst/>
              </a:prstGeom>
              <a:blipFill>
                <a:blip r:embed="rId14"/>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951569CA-B4C3-92A5-0236-4ECD81BEF45D}"/>
              </a:ext>
            </a:extLst>
          </p:cNvPr>
          <p:cNvSpPr txBox="1"/>
          <p:nvPr/>
        </p:nvSpPr>
        <p:spPr>
          <a:xfrm>
            <a:off x="10340" y="6198275"/>
            <a:ext cx="3770722" cy="276999"/>
          </a:xfrm>
          <a:prstGeom prst="rect">
            <a:avLst/>
          </a:prstGeom>
          <a:noFill/>
        </p:spPr>
        <p:txBody>
          <a:bodyPr wrap="square">
            <a:spAutoFit/>
          </a:bodyPr>
          <a:lstStyle/>
          <a:p>
            <a:r>
              <a:rPr lang="en-US" sz="1200" dirty="0"/>
              <a:t>* By “distance”, we refer to the distance from the query.</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C17E604-B1BC-AB0B-99A8-5DFB934E72C8}"/>
                  </a:ext>
                </a:extLst>
              </p:cNvPr>
              <p:cNvSpPr txBox="1"/>
              <p:nvPr/>
            </p:nvSpPr>
            <p:spPr>
              <a:xfrm>
                <a:off x="5961310" y="3388282"/>
                <a:ext cx="6019138" cy="1015663"/>
              </a:xfrm>
              <a:prstGeom prst="rect">
                <a:avLst/>
              </a:prstGeom>
              <a:noFill/>
            </p:spPr>
            <p:txBody>
              <a:bodyPr wrap="square">
                <a:spAutoFit/>
              </a:bodyPr>
              <a:lstStyle/>
              <a:p>
                <a:pPr marL="285750" indent="-285750">
                  <a:buFont typeface="Wingdings" panose="05000000000000000000" pitchFamily="2" charset="2"/>
                  <a:buChar char="Ø"/>
                </a:pPr>
                <a:r>
                  <a:rPr lang="en-US" sz="1400" dirty="0">
                    <a:solidFill>
                      <a:srgbClr val="0000FF"/>
                    </a:solidFill>
                  </a:rPr>
                  <a:t>Step 3 &amp; 4 – </a:t>
                </a:r>
                <a14:m>
                  <m:oMath xmlns:m="http://schemas.openxmlformats.org/officeDocument/2006/math">
                    <m:r>
                      <a:rPr lang="en-US" sz="1400" i="1">
                        <a:solidFill>
                          <a:srgbClr val="0000FF"/>
                        </a:solidFill>
                        <a:latin typeface="Cambria Math" panose="02040503050406030204" pitchFamily="18" charset="0"/>
                      </a:rPr>
                      <m:t>𝑂</m:t>
                    </m:r>
                    <m:r>
                      <a:rPr lang="en-US" sz="1400" i="1">
                        <a:solidFill>
                          <a:srgbClr val="0000FF"/>
                        </a:solidFill>
                        <a:latin typeface="Cambria Math" panose="02040503050406030204" pitchFamily="18" charset="0"/>
                      </a:rPr>
                      <m:t>(</m:t>
                    </m:r>
                    <m:r>
                      <a:rPr lang="en-US" sz="1400" i="1">
                        <a:solidFill>
                          <a:srgbClr val="0000FF"/>
                        </a:solidFill>
                        <a:latin typeface="Cambria Math" panose="02040503050406030204" pitchFamily="18" charset="0"/>
                      </a:rPr>
                      <m:t>𝐷</m:t>
                    </m:r>
                    <m:r>
                      <a:rPr lang="en-US" sz="1400" i="1">
                        <a:solidFill>
                          <a:srgbClr val="0000FF"/>
                        </a:solidFill>
                        <a:latin typeface="Cambria Math" panose="02040503050406030204" pitchFamily="18" charset="0"/>
                      </a:rPr>
                      <m:t>)</m:t>
                    </m:r>
                  </m:oMath>
                </a14:m>
                <a:r>
                  <a:rPr lang="en-US" sz="1400" dirty="0">
                    <a:solidFill>
                      <a:srgbClr val="0000FF"/>
                    </a:solidFill>
                  </a:rPr>
                  <a:t> + </a:t>
                </a:r>
                <a14:m>
                  <m:oMath xmlns:m="http://schemas.openxmlformats.org/officeDocument/2006/math">
                    <m:r>
                      <a:rPr lang="en-US" sz="1400" i="1">
                        <a:solidFill>
                          <a:srgbClr val="0000FF"/>
                        </a:solidFill>
                        <a:latin typeface="Cambria Math" panose="02040503050406030204" pitchFamily="18" charset="0"/>
                      </a:rPr>
                      <m:t>𝑂</m:t>
                    </m:r>
                    <m:r>
                      <a:rPr lang="en-US" sz="1400" i="1">
                        <a:solidFill>
                          <a:srgbClr val="0000FF"/>
                        </a:solidFill>
                        <a:latin typeface="Cambria Math" panose="02040503050406030204" pitchFamily="18" charset="0"/>
                      </a:rPr>
                      <m:t>(1)</m:t>
                    </m:r>
                  </m:oMath>
                </a14:m>
                <a:r>
                  <a:rPr lang="en-US" sz="1400" dirty="0">
                    <a:solidFill>
                      <a:srgbClr val="0000FF"/>
                    </a:solidFill>
                  </a:rPr>
                  <a:t> or </a:t>
                </a:r>
                <a14:m>
                  <m:oMath xmlns:m="http://schemas.openxmlformats.org/officeDocument/2006/math">
                    <m:r>
                      <a:rPr lang="en-US" sz="1400" i="1">
                        <a:solidFill>
                          <a:srgbClr val="0000FF"/>
                        </a:solidFill>
                        <a:latin typeface="Cambria Math" panose="02040503050406030204" pitchFamily="18" charset="0"/>
                      </a:rPr>
                      <m:t>𝑂</m:t>
                    </m:r>
                    <m:r>
                      <a:rPr lang="en-US" sz="1400" i="1">
                        <a:solidFill>
                          <a:srgbClr val="0000FF"/>
                        </a:solidFill>
                        <a:latin typeface="Cambria Math" panose="02040503050406030204" pitchFamily="18" charset="0"/>
                      </a:rPr>
                      <m:t>(</m:t>
                    </m:r>
                    <m:func>
                      <m:funcPr>
                        <m:ctrlPr>
                          <a:rPr lang="en-US" sz="1400" i="1">
                            <a:solidFill>
                              <a:srgbClr val="0000FF"/>
                            </a:solidFill>
                            <a:latin typeface="Cambria Math" panose="02040503050406030204" pitchFamily="18" charset="0"/>
                          </a:rPr>
                        </m:ctrlPr>
                      </m:funcPr>
                      <m:fName>
                        <m:r>
                          <m:rPr>
                            <m:sty m:val="p"/>
                          </m:rPr>
                          <a:rPr lang="en-US" sz="1400">
                            <a:solidFill>
                              <a:srgbClr val="0000FF"/>
                            </a:solidFill>
                            <a:latin typeface="Cambria Math" panose="02040503050406030204" pitchFamily="18" charset="0"/>
                          </a:rPr>
                          <m:t>log</m:t>
                        </m:r>
                      </m:fName>
                      <m:e>
                        <m:r>
                          <a:rPr lang="en-US" sz="1400" i="1">
                            <a:solidFill>
                              <a:srgbClr val="0000FF"/>
                            </a:solidFill>
                            <a:latin typeface="Cambria Math" panose="02040503050406030204" pitchFamily="18" charset="0"/>
                          </a:rPr>
                          <m:t>𝑁</m:t>
                        </m:r>
                      </m:e>
                    </m:func>
                    <m:r>
                      <a:rPr lang="en-US" sz="1400" i="1">
                        <a:solidFill>
                          <a:srgbClr val="0000FF"/>
                        </a:solidFill>
                        <a:latin typeface="Cambria Math" panose="02040503050406030204" pitchFamily="18" charset="0"/>
                      </a:rPr>
                      <m:t>)</m:t>
                    </m:r>
                  </m:oMath>
                </a14:m>
                <a:endParaRPr lang="en-US" sz="1400" dirty="0">
                  <a:solidFill>
                    <a:srgbClr val="0000FF"/>
                  </a:solidFill>
                </a:endParaRPr>
              </a:p>
              <a:p>
                <a:pPr marL="742950" lvl="1" indent="-285750">
                  <a:buFont typeface="Wingdings" panose="05000000000000000000" pitchFamily="2" charset="2"/>
                  <a:buChar char="Ø"/>
                </a:pPr>
                <a:r>
                  <a:rPr lang="en-US" sz="1200" dirty="0">
                    <a:solidFill>
                      <a:srgbClr val="0000FF"/>
                    </a:solidFill>
                  </a:rPr>
                  <a:t>Decide whether the </a:t>
                </a:r>
                <a14:m>
                  <m:oMath xmlns:m="http://schemas.openxmlformats.org/officeDocument/2006/math">
                    <m:r>
                      <a:rPr lang="en-US" sz="1200" b="0" i="1" smtClean="0">
                        <a:solidFill>
                          <a:srgbClr val="0000FF"/>
                        </a:solidFill>
                        <a:latin typeface="Cambria Math" panose="02040503050406030204" pitchFamily="18" charset="0"/>
                      </a:rPr>
                      <m:t>𝑑𝑖𝑠𝑡</m:t>
                    </m:r>
                    <m:r>
                      <a:rPr lang="en-US" sz="1200" b="0" i="1" smtClean="0">
                        <a:solidFill>
                          <a:srgbClr val="0000FF"/>
                        </a:solidFill>
                        <a:latin typeface="Cambria Math" panose="02040503050406030204" pitchFamily="18" charset="0"/>
                      </a:rPr>
                      <m:t>(</m:t>
                    </m:r>
                    <m:r>
                      <a:rPr lang="en-US" sz="1200" b="0" i="1" smtClean="0">
                        <a:solidFill>
                          <a:srgbClr val="0000FF"/>
                        </a:solidFill>
                        <a:latin typeface="Cambria Math" panose="02040503050406030204" pitchFamily="18" charset="0"/>
                      </a:rPr>
                      <m:t>𝑣</m:t>
                    </m:r>
                    <m:r>
                      <a:rPr lang="en-US" sz="1200" b="0" i="1" smtClean="0">
                        <a:solidFill>
                          <a:srgbClr val="0000FF"/>
                        </a:solidFill>
                        <a:latin typeface="Cambria Math" panose="02040503050406030204" pitchFamily="18" charset="0"/>
                      </a:rPr>
                      <m:t>,</m:t>
                    </m:r>
                    <m:r>
                      <a:rPr lang="en-US" sz="1200" b="0" i="1" smtClean="0">
                        <a:solidFill>
                          <a:srgbClr val="0000FF"/>
                        </a:solidFill>
                        <a:latin typeface="Cambria Math" panose="02040503050406030204" pitchFamily="18" charset="0"/>
                      </a:rPr>
                      <m:t>𝑞</m:t>
                    </m:r>
                    <m:r>
                      <a:rPr lang="en-US" sz="1200" b="0" i="1" smtClean="0">
                        <a:solidFill>
                          <a:srgbClr val="0000FF"/>
                        </a:solidFill>
                        <a:latin typeface="Cambria Math" panose="02040503050406030204" pitchFamily="18" charset="0"/>
                      </a:rPr>
                      <m:t>)</m:t>
                    </m:r>
                  </m:oMath>
                </a14:m>
                <a:r>
                  <a:rPr lang="en-US" sz="1200" i="1" dirty="0">
                    <a:solidFill>
                      <a:srgbClr val="0000FF"/>
                    </a:solidFill>
                  </a:rPr>
                  <a:t> </a:t>
                </a:r>
                <a:r>
                  <a:rPr lang="en-US" sz="1200" dirty="0">
                    <a:solidFill>
                      <a:srgbClr val="0000FF"/>
                    </a:solidFill>
                  </a:rPr>
                  <a:t>is no greater than  “the maximum in </a:t>
                </a:r>
                <a14:m>
                  <m:oMath xmlns:m="http://schemas.openxmlformats.org/officeDocument/2006/math">
                    <m:r>
                      <a:rPr lang="en-US" sz="1200" i="1" smtClean="0">
                        <a:solidFill>
                          <a:srgbClr val="0000FF"/>
                        </a:solidFill>
                        <a:latin typeface="Cambria Math" panose="02040503050406030204" pitchFamily="18" charset="0"/>
                        <a:ea typeface="Cambria Math" panose="02040503050406030204" pitchFamily="18" charset="0"/>
                      </a:rPr>
                      <m:t>ℛ</m:t>
                    </m:r>
                  </m:oMath>
                </a14:m>
                <a:r>
                  <a:rPr lang="en-US" sz="1200" dirty="0">
                    <a:solidFill>
                      <a:srgbClr val="0000FF"/>
                    </a:solidFill>
                  </a:rPr>
                  <a:t>” and if so return the exact distance.</a:t>
                </a:r>
              </a:p>
              <a:p>
                <a:pPr marL="1200150" lvl="2" indent="-285750">
                  <a:buFont typeface="Wingdings" panose="05000000000000000000" pitchFamily="2" charset="2"/>
                  <a:buChar char="Ø"/>
                </a:pPr>
                <a:r>
                  <a:rPr lang="en-US" sz="1100" dirty="0">
                    <a:solidFill>
                      <a:srgbClr val="0000FF"/>
                    </a:solidFill>
                  </a:rPr>
                  <a:t>Case 1 – If so, update both sets in </a:t>
                </a:r>
                <a14:m>
                  <m:oMath xmlns:m="http://schemas.openxmlformats.org/officeDocument/2006/math">
                    <m:r>
                      <a:rPr lang="en-US" sz="1100" i="1" smtClean="0">
                        <a:solidFill>
                          <a:srgbClr val="0000FF"/>
                        </a:solidFill>
                        <a:latin typeface="Cambria Math" panose="02040503050406030204" pitchFamily="18" charset="0"/>
                      </a:rPr>
                      <m:t>𝑂</m:t>
                    </m:r>
                    <m:r>
                      <a:rPr lang="en-US" sz="1100" i="1" smtClean="0">
                        <a:solidFill>
                          <a:srgbClr val="0000FF"/>
                        </a:solidFill>
                        <a:latin typeface="Cambria Math" panose="02040503050406030204" pitchFamily="18" charset="0"/>
                      </a:rPr>
                      <m:t>(</m:t>
                    </m:r>
                    <m:func>
                      <m:funcPr>
                        <m:ctrlPr>
                          <a:rPr lang="en-US" sz="1100" i="1">
                            <a:solidFill>
                              <a:srgbClr val="0000FF"/>
                            </a:solidFill>
                            <a:latin typeface="Cambria Math" panose="02040503050406030204" pitchFamily="18" charset="0"/>
                          </a:rPr>
                        </m:ctrlPr>
                      </m:funcPr>
                      <m:fName>
                        <m:r>
                          <m:rPr>
                            <m:sty m:val="p"/>
                          </m:rPr>
                          <a:rPr lang="en-US" sz="1100">
                            <a:solidFill>
                              <a:srgbClr val="0000FF"/>
                            </a:solidFill>
                            <a:latin typeface="Cambria Math" panose="02040503050406030204" pitchFamily="18" charset="0"/>
                          </a:rPr>
                          <m:t>log</m:t>
                        </m:r>
                      </m:fName>
                      <m:e>
                        <m:r>
                          <a:rPr lang="en-US" sz="1100" i="1">
                            <a:solidFill>
                              <a:srgbClr val="0000FF"/>
                            </a:solidFill>
                            <a:latin typeface="Cambria Math" panose="02040503050406030204" pitchFamily="18" charset="0"/>
                          </a:rPr>
                          <m:t>𝑁</m:t>
                        </m:r>
                      </m:e>
                    </m:func>
                    <m:r>
                      <a:rPr lang="en-US" sz="1100" i="1" smtClean="0">
                        <a:solidFill>
                          <a:srgbClr val="0000FF"/>
                        </a:solidFill>
                        <a:latin typeface="Cambria Math" panose="02040503050406030204" pitchFamily="18" charset="0"/>
                      </a:rPr>
                      <m:t>)</m:t>
                    </m:r>
                  </m:oMath>
                </a14:m>
                <a:r>
                  <a:rPr lang="en-US" sz="1100" dirty="0">
                    <a:solidFill>
                      <a:srgbClr val="0000FF"/>
                    </a:solidFill>
                  </a:rPr>
                  <a:t>.</a:t>
                </a:r>
              </a:p>
              <a:p>
                <a:pPr marL="1200150" lvl="2" indent="-285750">
                  <a:buFont typeface="Wingdings" panose="05000000000000000000" pitchFamily="2" charset="2"/>
                  <a:buChar char="Ø"/>
                </a:pPr>
                <a:r>
                  <a:rPr lang="en-US" sz="1100" dirty="0">
                    <a:solidFill>
                      <a:srgbClr val="0000FF"/>
                    </a:solidFill>
                  </a:rPr>
                  <a:t>Case 2 – Otherwise, discard </a:t>
                </a:r>
                <a14:m>
                  <m:oMath xmlns:m="http://schemas.openxmlformats.org/officeDocument/2006/math">
                    <m:r>
                      <a:rPr lang="en-US" sz="1100" i="1" dirty="0">
                        <a:solidFill>
                          <a:srgbClr val="0000FF"/>
                        </a:solidFill>
                        <a:latin typeface="Cambria Math" panose="02040503050406030204" pitchFamily="18" charset="0"/>
                      </a:rPr>
                      <m:t>𝑣</m:t>
                    </m:r>
                  </m:oMath>
                </a14:m>
                <a:r>
                  <a:rPr lang="en-US" sz="1100" dirty="0">
                    <a:solidFill>
                      <a:srgbClr val="0000FF"/>
                    </a:solidFill>
                  </a:rPr>
                  <a:t> in </a:t>
                </a:r>
                <a14:m>
                  <m:oMath xmlns:m="http://schemas.openxmlformats.org/officeDocument/2006/math">
                    <m:r>
                      <a:rPr lang="en-US" sz="1100" b="0" i="1" smtClean="0">
                        <a:solidFill>
                          <a:srgbClr val="0000FF"/>
                        </a:solidFill>
                        <a:latin typeface="Cambria Math" panose="02040503050406030204" pitchFamily="18" charset="0"/>
                      </a:rPr>
                      <m:t>𝑂</m:t>
                    </m:r>
                    <m:r>
                      <a:rPr lang="en-US" sz="1100" b="0" i="1" smtClean="0">
                        <a:solidFill>
                          <a:srgbClr val="0000FF"/>
                        </a:solidFill>
                        <a:latin typeface="Cambria Math" panose="02040503050406030204" pitchFamily="18" charset="0"/>
                      </a:rPr>
                      <m:t>(1)</m:t>
                    </m:r>
                  </m:oMath>
                </a14:m>
                <a:r>
                  <a:rPr lang="en-US" sz="1100" dirty="0">
                    <a:solidFill>
                      <a:srgbClr val="0000FF"/>
                    </a:solidFill>
                  </a:rPr>
                  <a:t> (the exact distance is not required).</a:t>
                </a:r>
              </a:p>
            </p:txBody>
          </p:sp>
        </mc:Choice>
        <mc:Fallback xmlns="">
          <p:sp>
            <p:nvSpPr>
              <p:cNvPr id="21" name="TextBox 20">
                <a:extLst>
                  <a:ext uri="{FF2B5EF4-FFF2-40B4-BE49-F238E27FC236}">
                    <a16:creationId xmlns:a16="http://schemas.microsoft.com/office/drawing/2014/main" id="{0C17E604-B1BC-AB0B-99A8-5DFB934E72C8}"/>
                  </a:ext>
                </a:extLst>
              </p:cNvPr>
              <p:cNvSpPr txBox="1">
                <a:spLocks noRot="1" noChangeAspect="1" noMove="1" noResize="1" noEditPoints="1" noAdjustHandles="1" noChangeArrowheads="1" noChangeShapeType="1" noTextEdit="1"/>
              </p:cNvSpPr>
              <p:nvPr/>
            </p:nvSpPr>
            <p:spPr>
              <a:xfrm>
                <a:off x="5961310" y="3388282"/>
                <a:ext cx="6019138" cy="1015663"/>
              </a:xfrm>
              <a:prstGeom prst="rect">
                <a:avLst/>
              </a:prstGeom>
              <a:blipFill>
                <a:blip r:embed="rId15"/>
                <a:stretch>
                  <a:fillRect l="-211" t="-1235" b="-2469"/>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ACE4957-42D9-C717-169E-575F27D8B127}"/>
              </a:ext>
            </a:extLst>
          </p:cNvPr>
          <p:cNvSpPr txBox="1"/>
          <p:nvPr/>
        </p:nvSpPr>
        <p:spPr>
          <a:xfrm>
            <a:off x="119256" y="5512723"/>
            <a:ext cx="11953487" cy="523220"/>
          </a:xfrm>
          <a:prstGeom prst="rect">
            <a:avLst/>
          </a:prstGeom>
          <a:noFill/>
        </p:spPr>
        <p:txBody>
          <a:bodyPr wrap="square" rtlCol="0">
            <a:spAutoFit/>
          </a:bodyPr>
          <a:lstStyle/>
          <a:p>
            <a:pPr algn="ctr"/>
            <a:r>
              <a:rPr lang="en-US" sz="2800" b="1" dirty="0">
                <a:solidFill>
                  <a:srgbClr val="FF0000"/>
                </a:solidFill>
              </a:rPr>
              <a:t>Similar analysis can be made on nearly all other types of ANN algorithms </a:t>
            </a:r>
          </a:p>
        </p:txBody>
      </p:sp>
      <p:sp>
        <p:nvSpPr>
          <p:cNvPr id="3" name="Footer Placeholder 2">
            <a:extLst>
              <a:ext uri="{FF2B5EF4-FFF2-40B4-BE49-F238E27FC236}">
                <a16:creationId xmlns:a16="http://schemas.microsoft.com/office/drawing/2014/main" id="{F7382889-BB86-1080-D63A-161E5F3BEB0D}"/>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313457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4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1" end="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2" end="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
                                            <p:txEl>
                                              <p:pRg st="5" end="5"/>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xEl>
                                              <p:pRg st="6" end="6"/>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xEl>
                                              <p:pRg st="7" end="7"/>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
                                            <p:txEl>
                                              <p:pRg st="8" end="8"/>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1">
                                            <p:txEl>
                                              <p:pRg st="4" end="4"/>
                                            </p:txEl>
                                          </p:spTgt>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1">
                                            <p:txEl>
                                              <p:pRg st="5" end="5"/>
                                            </p:txEl>
                                          </p:spTgt>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1">
                                            <p:txEl>
                                              <p:pRg st="6" end="6"/>
                                            </p:txEl>
                                          </p:spTgt>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1">
                                            <p:txEl>
                                              <p:pRg st="7" end="7"/>
                                            </p:txEl>
                                          </p:spTgt>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1">
                                            <p:txEl>
                                              <p:pRg st="8" end="8"/>
                                            </p:txEl>
                                          </p:spTgt>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11">
                                            <p:txEl>
                                              <p:pRg st="9" end="9"/>
                                            </p:txEl>
                                          </p:spTgt>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73"/>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71"/>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72"/>
                                        </p:tgtEl>
                                        <p:attrNameLst>
                                          <p:attrName>style.visibility</p:attrName>
                                        </p:attrNameLst>
                                      </p:cBhvr>
                                      <p:to>
                                        <p:strVal val="hidden"/>
                                      </p:to>
                                    </p:set>
                                  </p:childTnLst>
                                </p:cTn>
                              </p:par>
                              <p:par>
                                <p:cTn id="107" presetID="1" presetClass="entr" presetSubtype="0" fill="hold" grpId="0" nodeType="withEffect">
                                  <p:stCondLst>
                                    <p:cond delay="0"/>
                                  </p:stCondLst>
                                  <p:childTnLst>
                                    <p:set>
                                      <p:cBhvr>
                                        <p:cTn id="108" dur="1" fill="hold">
                                          <p:stCondLst>
                                            <p:cond delay="0"/>
                                          </p:stCondLst>
                                        </p:cTn>
                                        <p:tgtEl>
                                          <p:spTgt spid="2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145" grpId="0"/>
      <p:bldP spid="145" grpId="1"/>
      <p:bldP spid="146" grpId="0"/>
      <p:bldP spid="149" grpId="0"/>
      <p:bldP spid="150" grpId="0"/>
      <p:bldP spid="153" grpId="0"/>
      <p:bldP spid="11" grpId="0" animBg="1"/>
      <p:bldP spid="158" grpId="0"/>
      <p:bldP spid="171" grpId="0"/>
      <p:bldP spid="171" grpId="1"/>
      <p:bldP spid="172" grpId="0"/>
      <p:bldP spid="172" grpId="1"/>
      <p:bldP spid="173" grpId="0"/>
      <p:bldP spid="173" grpId="1"/>
      <p:bldP spid="175" grpId="0"/>
      <p:bldP spid="176" grpId="0" animBg="1"/>
      <p:bldP spid="177" grpId="0"/>
      <p:bldP spid="5" grpId="0"/>
      <p:bldP spid="22" grpId="0"/>
      <p:bldP spid="2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Distance Comparison Operation</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5</a:t>
            </a:fld>
            <a:endParaRPr lang="en-US"/>
          </a:p>
        </p:txBody>
      </p:sp>
      <mc:AlternateContent xmlns:mc="http://schemas.openxmlformats.org/markup-compatibility/2006" xmlns:a14="http://schemas.microsoft.com/office/drawing/2010/main">
        <mc:Choice Requires="a14">
          <p:sp>
            <p:nvSpPr>
              <p:cNvPr id="3" name="文本占位符 44">
                <a:extLst>
                  <a:ext uri="{FF2B5EF4-FFF2-40B4-BE49-F238E27FC236}">
                    <a16:creationId xmlns:a16="http://schemas.microsoft.com/office/drawing/2014/main" id="{ABD9DF65-46A1-F4F5-B6AA-6C86A9AF3632}"/>
                  </a:ext>
                </a:extLst>
              </p:cNvPr>
              <p:cNvSpPr txBox="1">
                <a:spLocks/>
              </p:cNvSpPr>
              <p:nvPr/>
            </p:nvSpPr>
            <p:spPr>
              <a:xfrm>
                <a:off x="677517" y="1379225"/>
                <a:ext cx="10836965" cy="3450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b="1" dirty="0">
                    <a:latin typeface="Calibri" panose="020F0502020204030204" pitchFamily="34" charset="0"/>
                    <a:ea typeface="Microsoft YaHei" panose="020B0503020204020204" pitchFamily="34" charset="-122"/>
                    <a:cs typeface="Calibri" panose="020F0502020204030204" pitchFamily="34" charset="0"/>
                  </a:rPr>
                  <a:t>Definition – Distance Comparison Operation (DCO)</a:t>
                </a:r>
                <a:r>
                  <a:rPr lang="en-US" altLang="zh-CN" sz="2400" dirty="0">
                    <a:latin typeface="Calibri" panose="020F0502020204030204" pitchFamily="34" charset="0"/>
                    <a:ea typeface="Microsoft YaHei" panose="020B0503020204020204" pitchFamily="34" charset="-122"/>
                    <a:cs typeface="Calibri" panose="020F0502020204030204" pitchFamily="34" charset="0"/>
                  </a:rPr>
                  <a:t>: </a:t>
                </a:r>
              </a:p>
              <a:p>
                <a:pPr lvl="1"/>
                <a:r>
                  <a:rPr lang="en-US" altLang="zh-CN" sz="2000" dirty="0">
                    <a:latin typeface="Calibri" panose="020F0502020204030204" pitchFamily="34" charset="0"/>
                    <a:ea typeface="Microsoft YaHei" panose="020B0503020204020204" pitchFamily="34" charset="-122"/>
                    <a:cs typeface="Calibri" panose="020F0502020204030204" pitchFamily="34" charset="0"/>
                  </a:rPr>
                  <a:t>Given a data vector </a:t>
                </a:r>
                <a14:m>
                  <m:oMath xmlns:m="http://schemas.openxmlformats.org/officeDocument/2006/math">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𝐨</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 query vector </a:t>
                </a:r>
                <a14:m>
                  <m:oMath xmlns:m="http://schemas.openxmlformats.org/officeDocument/2006/math">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𝐪</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and a distance threshold </a:t>
                </a:r>
                <a14:m>
                  <m:oMath xmlns:m="http://schemas.openxmlformats.org/officeDocument/2006/math">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𝑟</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the distance comparison operation is to decide whether </a:t>
                </a:r>
                <a14:m>
                  <m:oMath xmlns:m="http://schemas.openxmlformats.org/officeDocument/2006/math">
                    <m:d>
                      <m:dPr>
                        <m:begChr m:val="‖"/>
                        <m:endChr m:val="‖"/>
                        <m:ctrlPr>
                          <a:rPr lang="en-US" altLang="zh-CN" sz="2000" b="1" i="1" smtClean="0">
                            <a:latin typeface="Cambria Math" panose="02040503050406030204" pitchFamily="18" charset="0"/>
                            <a:ea typeface="Microsoft YaHei" panose="020B0503020204020204" pitchFamily="34" charset="-122"/>
                            <a:cs typeface="Calibri" panose="020F0502020204030204" pitchFamily="34" charset="0"/>
                          </a:rPr>
                        </m:ctrlPr>
                      </m:dPr>
                      <m:e>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𝐨</m:t>
                        </m:r>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𝑟</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and if so, return the exact distance </a:t>
                </a:r>
                <a14:m>
                  <m:oMath xmlns:m="http://schemas.openxmlformats.org/officeDocument/2006/math">
                    <m:d>
                      <m:dPr>
                        <m:begChr m:val="‖"/>
                        <m:endChr m:val="‖"/>
                        <m:ctrlPr>
                          <a:rPr lang="en-US" altLang="zh-CN" sz="2000" b="1" i="1">
                            <a:latin typeface="Cambria Math" panose="02040503050406030204" pitchFamily="18" charset="0"/>
                            <a:ea typeface="Microsoft YaHei" panose="020B0503020204020204" pitchFamily="34" charset="-122"/>
                            <a:cs typeface="Calibri" panose="020F0502020204030204" pitchFamily="34" charset="0"/>
                          </a:rPr>
                        </m:ctrlPr>
                      </m:dPr>
                      <m:e>
                        <m:r>
                          <a:rPr lang="en-US" altLang="zh-CN" sz="2000" b="1">
                            <a:latin typeface="Cambria Math" panose="02040503050406030204" pitchFamily="18" charset="0"/>
                            <a:ea typeface="Microsoft YaHei" panose="020B0503020204020204" pitchFamily="34" charset="-122"/>
                            <a:cs typeface="Calibri" panose="020F0502020204030204" pitchFamily="34" charset="0"/>
                          </a:rPr>
                          <m:t>𝐨</m:t>
                        </m:r>
                        <m:r>
                          <a:rPr lang="en-US" altLang="zh-CN" sz="2000" b="1">
                            <a:latin typeface="Cambria Math" panose="02040503050406030204" pitchFamily="18" charset="0"/>
                            <a:ea typeface="Microsoft YaHei" panose="020B0503020204020204" pitchFamily="34" charset="-122"/>
                            <a:cs typeface="Calibri" panose="020F0502020204030204" pitchFamily="34" charset="0"/>
                          </a:rPr>
                          <m:t>−</m:t>
                        </m:r>
                        <m:r>
                          <a:rPr lang="en-US" altLang="zh-CN" sz="2000" b="1">
                            <a:latin typeface="Cambria Math" panose="02040503050406030204" pitchFamily="18" charset="0"/>
                            <a:ea typeface="Microsoft YaHei" panose="020B0503020204020204" pitchFamily="34" charset="-122"/>
                            <a:cs typeface="Calibri" panose="020F0502020204030204" pitchFamily="34" charset="0"/>
                          </a:rPr>
                          <m:t>𝐪</m:t>
                        </m:r>
                      </m:e>
                    </m:d>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p>
              <a:p>
                <a:pPr lvl="2"/>
                <a:r>
                  <a:rPr lang="en-US" altLang="zh-CN" sz="1800" dirty="0">
                    <a:solidFill>
                      <a:srgbClr val="0000FF"/>
                    </a:solidFill>
                    <a:latin typeface="Calibri" panose="020F0502020204030204" pitchFamily="34" charset="0"/>
                    <a:ea typeface="Microsoft YaHei" panose="020B0503020204020204" pitchFamily="34" charset="-122"/>
                    <a:cs typeface="Calibri" panose="020F0502020204030204" pitchFamily="34" charset="0"/>
                  </a:rPr>
                  <a:t>If </a:t>
                </a:r>
                <a14:m>
                  <m:oMath xmlns:m="http://schemas.openxmlformats.org/officeDocument/2006/math">
                    <m:d>
                      <m:dPr>
                        <m:begChr m:val="‖"/>
                        <m:endChr m:val="‖"/>
                        <m:ctrlPr>
                          <a:rPr lang="en-US" altLang="zh-CN" sz="1800" b="1" i="1">
                            <a:solidFill>
                              <a:srgbClr val="0000FF"/>
                            </a:solidFill>
                            <a:latin typeface="Cambria Math" panose="02040503050406030204" pitchFamily="18" charset="0"/>
                            <a:ea typeface="Microsoft YaHei" panose="020B0503020204020204" pitchFamily="34" charset="-122"/>
                            <a:cs typeface="Calibri" panose="020F0502020204030204" pitchFamily="34" charset="0"/>
                          </a:rPr>
                        </m:ctrlPr>
                      </m:dPr>
                      <m:e>
                        <m:r>
                          <a:rPr lang="en-US" altLang="zh-CN" sz="1800" b="1">
                            <a:solidFill>
                              <a:srgbClr val="0000FF"/>
                            </a:solidFill>
                            <a:latin typeface="Cambria Math" panose="02040503050406030204" pitchFamily="18" charset="0"/>
                            <a:ea typeface="Microsoft YaHei" panose="020B0503020204020204" pitchFamily="34" charset="-122"/>
                            <a:cs typeface="Calibri" panose="020F0502020204030204" pitchFamily="34" charset="0"/>
                          </a:rPr>
                          <m:t>𝐨</m:t>
                        </m:r>
                        <m:r>
                          <a:rPr lang="en-US" altLang="zh-CN" sz="1800" b="1">
                            <a:solidFill>
                              <a:srgbClr val="0000FF"/>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sz="1800" b="1">
                            <a:solidFill>
                              <a:srgbClr val="0000FF"/>
                            </a:solidFill>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sz="1800" i="1">
                        <a:solidFill>
                          <a:srgbClr val="0000FF"/>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sz="1800" i="1">
                        <a:solidFill>
                          <a:srgbClr val="0000FF"/>
                        </a:solidFill>
                        <a:latin typeface="Cambria Math" panose="02040503050406030204" pitchFamily="18" charset="0"/>
                        <a:ea typeface="Microsoft YaHei" panose="020B0503020204020204" pitchFamily="34" charset="-122"/>
                        <a:cs typeface="Calibri" panose="020F0502020204030204" pitchFamily="34" charset="0"/>
                      </a:rPr>
                      <m:t>𝑟</m:t>
                    </m:r>
                  </m:oMath>
                </a14:m>
                <a:r>
                  <a:rPr lang="en-US" altLang="zh-CN" sz="1800" dirty="0">
                    <a:solidFill>
                      <a:srgbClr val="0000FF"/>
                    </a:solidFill>
                    <a:latin typeface="Calibri" panose="020F0502020204030204" pitchFamily="34" charset="0"/>
                    <a:ea typeface="Microsoft YaHei" panose="020B0503020204020204" pitchFamily="34" charset="-122"/>
                    <a:cs typeface="Calibri" panose="020F0502020204030204" pitchFamily="34" charset="0"/>
                  </a:rPr>
                  <a:t>, we say the object and the DCO are positive. </a:t>
                </a:r>
              </a:p>
              <a:p>
                <a:pPr lvl="2"/>
                <a:r>
                  <a:rPr lang="en-US" altLang="zh-CN" sz="1800" dirty="0">
                    <a:solidFill>
                      <a:srgbClr val="0000FF"/>
                    </a:solidFill>
                    <a:latin typeface="Calibri" panose="020F0502020204030204" pitchFamily="34" charset="0"/>
                    <a:ea typeface="Microsoft YaHei" panose="020B0503020204020204" pitchFamily="34" charset="-122"/>
                    <a:cs typeface="Calibri" panose="020F0502020204030204" pitchFamily="34" charset="0"/>
                  </a:rPr>
                  <a:t>Otherwise, we say they are negative. </a:t>
                </a:r>
              </a:p>
              <a:p>
                <a:pPr lvl="1"/>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3" name="文本占位符 44">
                <a:extLst>
                  <a:ext uri="{FF2B5EF4-FFF2-40B4-BE49-F238E27FC236}">
                    <a16:creationId xmlns:a16="http://schemas.microsoft.com/office/drawing/2014/main" id="{ABD9DF65-46A1-F4F5-B6AA-6C86A9AF3632}"/>
                  </a:ext>
                </a:extLst>
              </p:cNvPr>
              <p:cNvSpPr txBox="1">
                <a:spLocks noRot="1" noChangeAspect="1" noMove="1" noResize="1" noEditPoints="1" noAdjustHandles="1" noChangeArrowheads="1" noChangeShapeType="1" noTextEdit="1"/>
              </p:cNvSpPr>
              <p:nvPr/>
            </p:nvSpPr>
            <p:spPr>
              <a:xfrm>
                <a:off x="677517" y="1379225"/>
                <a:ext cx="10836965" cy="345080"/>
              </a:xfrm>
              <a:prstGeom prst="rect">
                <a:avLst/>
              </a:prstGeom>
              <a:blipFill>
                <a:blip r:embed="rId4"/>
                <a:stretch>
                  <a:fillRect l="-731" t="-24561" b="-403509"/>
                </a:stretch>
              </a:blipFill>
            </p:spPr>
            <p:txBody>
              <a:bodyPr/>
              <a:lstStyle/>
              <a:p>
                <a:r>
                  <a:rPr lang="en-SG">
                    <a:noFill/>
                  </a:rPr>
                  <a:t> </a:t>
                </a:r>
              </a:p>
            </p:txBody>
          </p:sp>
        </mc:Fallback>
      </mc:AlternateContent>
      <p:sp>
        <p:nvSpPr>
          <p:cNvPr id="6" name="TextBox 5">
            <a:extLst>
              <a:ext uri="{FF2B5EF4-FFF2-40B4-BE49-F238E27FC236}">
                <a16:creationId xmlns:a16="http://schemas.microsoft.com/office/drawing/2014/main" id="{5CB7D882-2DDF-9457-8F56-E8633FEFA907}"/>
              </a:ext>
            </a:extLst>
          </p:cNvPr>
          <p:cNvSpPr txBox="1"/>
          <p:nvPr/>
        </p:nvSpPr>
        <p:spPr>
          <a:xfrm>
            <a:off x="677517" y="5589131"/>
            <a:ext cx="5536003" cy="400110"/>
          </a:xfrm>
          <a:prstGeom prst="rect">
            <a:avLst/>
          </a:prstGeom>
          <a:noFill/>
        </p:spPr>
        <p:txBody>
          <a:bodyPr wrap="none" rtlCol="0">
            <a:spAutoFit/>
          </a:bodyPr>
          <a:lstStyle/>
          <a:p>
            <a:r>
              <a:rPr lang="en-US" sz="2000" b="1" dirty="0">
                <a:solidFill>
                  <a:srgbClr val="FF0000"/>
                </a:solidFill>
              </a:rPr>
              <a:t>We target to conduct DCOs efficiently and reliably.</a:t>
            </a:r>
          </a:p>
        </p:txBody>
      </p:sp>
      <p:pic>
        <p:nvPicPr>
          <p:cNvPr id="9" name="Picture 8">
            <a:extLst>
              <a:ext uri="{FF2B5EF4-FFF2-40B4-BE49-F238E27FC236}">
                <a16:creationId xmlns:a16="http://schemas.microsoft.com/office/drawing/2014/main" id="{A1A09CFA-6BEE-D537-F7F8-4CAEE25A3532}"/>
              </a:ext>
            </a:extLst>
          </p:cNvPr>
          <p:cNvPicPr>
            <a:picLocks noChangeAspect="1"/>
          </p:cNvPicPr>
          <p:nvPr/>
        </p:nvPicPr>
        <p:blipFill>
          <a:blip r:embed="rId5"/>
          <a:stretch>
            <a:fillRect/>
          </a:stretch>
        </p:blipFill>
        <p:spPr>
          <a:xfrm>
            <a:off x="6590417" y="2801990"/>
            <a:ext cx="4763383" cy="3583756"/>
          </a:xfrm>
          <a:prstGeom prst="rect">
            <a:avLst/>
          </a:prstGeom>
        </p:spPr>
      </p:pic>
      <p:sp>
        <p:nvSpPr>
          <p:cNvPr id="11" name="TextBox 10">
            <a:extLst>
              <a:ext uri="{FF2B5EF4-FFF2-40B4-BE49-F238E27FC236}">
                <a16:creationId xmlns:a16="http://schemas.microsoft.com/office/drawing/2014/main" id="{FAC59759-DB13-8C7E-488A-5267EF0065B9}"/>
              </a:ext>
            </a:extLst>
          </p:cNvPr>
          <p:cNvSpPr txBox="1"/>
          <p:nvPr/>
        </p:nvSpPr>
        <p:spPr>
          <a:xfrm>
            <a:off x="207948" y="3547177"/>
            <a:ext cx="6382469" cy="1692771"/>
          </a:xfrm>
          <a:prstGeom prst="rect">
            <a:avLst/>
          </a:prstGeom>
          <a:noFill/>
        </p:spPr>
        <p:txBody>
          <a:bodyPr wrap="square">
            <a:spAutoFit/>
          </a:bodyPr>
          <a:lstStyle/>
          <a:p>
            <a:pPr marL="800100" lvl="1" indent="-342900">
              <a:buFont typeface="Arial" panose="020B0604020202020204" pitchFamily="34" charset="0"/>
              <a:buChar char="•"/>
            </a:pPr>
            <a:r>
              <a:rPr lang="en-US" altLang="zh-CN" sz="2400" dirty="0">
                <a:latin typeface="Calibri" panose="020F0502020204030204" pitchFamily="34" charset="0"/>
                <a:ea typeface="Microsoft YaHei" panose="020B0503020204020204" pitchFamily="34" charset="-122"/>
                <a:cs typeface="Calibri" panose="020F0502020204030204" pitchFamily="34" charset="0"/>
              </a:rPr>
              <a:t>Observations</a:t>
            </a:r>
          </a:p>
          <a:p>
            <a:pPr marL="1257300" lvl="2" indent="-342900">
              <a:buFont typeface="Arial" panose="020B0604020202020204" pitchFamily="34" charset="0"/>
              <a:buChar char="•"/>
            </a:pPr>
            <a:r>
              <a:rPr lang="en-US" sz="2000" dirty="0">
                <a:solidFill>
                  <a:srgbClr val="0000FF"/>
                </a:solidFill>
                <a:latin typeface="Apple Symbols" panose="02000000000000000000" pitchFamily="2" charset="-79"/>
                <a:ea typeface="Apple Symbols" panose="02000000000000000000" pitchFamily="2" charset="-79"/>
                <a:cs typeface="Apple Symbols" panose="02000000000000000000" pitchFamily="2" charset="-79"/>
              </a:rPr>
              <a:t>(*) DCOs dominate the time cost of ANN algorithms.</a:t>
            </a:r>
          </a:p>
          <a:p>
            <a:pPr marL="1257300" lvl="2" indent="-342900">
              <a:buFont typeface="Arial" panose="020B0604020202020204" pitchFamily="34" charset="0"/>
              <a:buChar char="•"/>
            </a:pPr>
            <a:r>
              <a:rPr lang="en-US" sz="2000" dirty="0">
                <a:latin typeface="Apple Symbols" panose="02000000000000000000" pitchFamily="2" charset="-79"/>
                <a:ea typeface="Apple Symbols" panose="02000000000000000000" pitchFamily="2" charset="-79"/>
                <a:cs typeface="Apple Symbols" panose="02000000000000000000" pitchFamily="2" charset="-79"/>
              </a:rPr>
              <a:t>(**) Negative objects will be discarded and do not require the exact distances. </a:t>
            </a:r>
          </a:p>
          <a:p>
            <a:pPr marL="1257300" lvl="2" indent="-342900">
              <a:buFont typeface="Arial" panose="020B0604020202020204" pitchFamily="34" charset="0"/>
              <a:buChar char="•"/>
            </a:pPr>
            <a:r>
              <a:rPr lang="en-US" sz="2000" dirty="0">
                <a:solidFill>
                  <a:srgbClr val="0000FF"/>
                </a:solidFill>
                <a:latin typeface="Apple Symbols" panose="02000000000000000000" pitchFamily="2" charset="-79"/>
                <a:ea typeface="Apple Symbols" panose="02000000000000000000" pitchFamily="2" charset="-79"/>
                <a:cs typeface="Apple Symbols" panose="02000000000000000000" pitchFamily="2" charset="-79"/>
              </a:rPr>
              <a:t>(***) Most DCOs/objects are negative.</a:t>
            </a:r>
          </a:p>
        </p:txBody>
      </p:sp>
      <p:sp>
        <p:nvSpPr>
          <p:cNvPr id="5" name="Footer Placeholder 4">
            <a:extLst>
              <a:ext uri="{FF2B5EF4-FFF2-40B4-BE49-F238E27FC236}">
                <a16:creationId xmlns:a16="http://schemas.microsoft.com/office/drawing/2014/main" id="{2D36B057-06F2-D91A-5224-FB44FBAADACA}"/>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99478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E1249A16-B54E-73D0-7A43-D63277C5D732}"/>
              </a:ext>
            </a:extLst>
          </p:cNvPr>
          <p:cNvGrpSpPr/>
          <p:nvPr/>
        </p:nvGrpSpPr>
        <p:grpSpPr>
          <a:xfrm>
            <a:off x="672061" y="4152597"/>
            <a:ext cx="1440000" cy="1440000"/>
            <a:chOff x="672061" y="4152597"/>
            <a:chExt cx="1440000" cy="1440000"/>
          </a:xfrm>
        </p:grpSpPr>
        <p:sp>
          <p:nvSpPr>
            <p:cNvPr id="12" name="Oval 11">
              <a:extLst>
                <a:ext uri="{FF2B5EF4-FFF2-40B4-BE49-F238E27FC236}">
                  <a16:creationId xmlns:a16="http://schemas.microsoft.com/office/drawing/2014/main" id="{7546DD61-72C8-C800-1794-DBA879A1902D}"/>
                </a:ext>
              </a:extLst>
            </p:cNvPr>
            <p:cNvSpPr/>
            <p:nvPr/>
          </p:nvSpPr>
          <p:spPr>
            <a:xfrm>
              <a:off x="672061" y="4152597"/>
              <a:ext cx="1440000" cy="1440000"/>
            </a:xfrm>
            <a:prstGeom prst="ellipse">
              <a:avLst/>
            </a:prstGeom>
            <a:solidFill>
              <a:schemeClr val="accent2">
                <a:alpha val="29819"/>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994C0663-E780-E3FC-D497-4753E46A7D7D}"/>
                </a:ext>
              </a:extLst>
            </p:cNvPr>
            <p:cNvSpPr/>
            <p:nvPr/>
          </p:nvSpPr>
          <p:spPr>
            <a:xfrm>
              <a:off x="1347817" y="4785849"/>
              <a:ext cx="144000" cy="144000"/>
            </a:xfrm>
            <a:prstGeom prst="star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E071F834-30FD-4CD6-CD30-D190B1785425}"/>
                </a:ext>
              </a:extLst>
            </p:cNvPr>
            <p:cNvSpPr txBox="1"/>
            <p:nvPr/>
          </p:nvSpPr>
          <p:spPr>
            <a:xfrm>
              <a:off x="718861" y="4449982"/>
              <a:ext cx="738728" cy="369332"/>
            </a:xfrm>
            <a:prstGeom prst="rect">
              <a:avLst/>
            </a:prstGeom>
            <a:noFill/>
          </p:spPr>
          <p:txBody>
            <a:bodyPr wrap="none" rtlCol="0">
              <a:spAutoFit/>
            </a:bodyPr>
            <a:lstStyle/>
            <a:p>
              <a:r>
                <a:rPr lang="en-US" b="1" dirty="0">
                  <a:solidFill>
                    <a:schemeClr val="accent2"/>
                  </a:solidFill>
                </a:rPr>
                <a:t>query</a:t>
              </a:r>
            </a:p>
          </p:txBody>
        </p:sp>
      </p:grpSp>
      <p:grpSp>
        <p:nvGrpSpPr>
          <p:cNvPr id="7" name="Group 6">
            <a:extLst>
              <a:ext uri="{FF2B5EF4-FFF2-40B4-BE49-F238E27FC236}">
                <a16:creationId xmlns:a16="http://schemas.microsoft.com/office/drawing/2014/main" id="{EBC6E230-3393-F095-2CF7-4C30CAEBE65B}"/>
              </a:ext>
            </a:extLst>
          </p:cNvPr>
          <p:cNvGrpSpPr/>
          <p:nvPr/>
        </p:nvGrpSpPr>
        <p:grpSpPr>
          <a:xfrm>
            <a:off x="2045941" y="4356059"/>
            <a:ext cx="1440000" cy="1440000"/>
            <a:chOff x="1719297" y="4528905"/>
            <a:chExt cx="1440000" cy="1440000"/>
          </a:xfrm>
        </p:grpSpPr>
        <p:sp>
          <p:nvSpPr>
            <p:cNvPr id="3" name="Oval 2">
              <a:extLst>
                <a:ext uri="{FF2B5EF4-FFF2-40B4-BE49-F238E27FC236}">
                  <a16:creationId xmlns:a16="http://schemas.microsoft.com/office/drawing/2014/main" id="{6A761CB8-8915-E65E-FD59-0B7A73A751A6}"/>
                </a:ext>
              </a:extLst>
            </p:cNvPr>
            <p:cNvSpPr/>
            <p:nvPr/>
          </p:nvSpPr>
          <p:spPr>
            <a:xfrm>
              <a:off x="1719297" y="4528905"/>
              <a:ext cx="1440000" cy="1440000"/>
            </a:xfrm>
            <a:prstGeom prst="ellipse">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5-point Star 4">
              <a:extLst>
                <a:ext uri="{FF2B5EF4-FFF2-40B4-BE49-F238E27FC236}">
                  <a16:creationId xmlns:a16="http://schemas.microsoft.com/office/drawing/2014/main" id="{3DA73923-93CF-D63F-0820-921C21F7166A}"/>
                </a:ext>
              </a:extLst>
            </p:cNvPr>
            <p:cNvSpPr/>
            <p:nvPr/>
          </p:nvSpPr>
          <p:spPr>
            <a:xfrm>
              <a:off x="2395053" y="5162157"/>
              <a:ext cx="144000" cy="144000"/>
            </a:xfrm>
            <a:prstGeom prst="star5">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4C90BA2-9E08-236A-DED4-FBDFB35383D6}"/>
                </a:ext>
              </a:extLst>
            </p:cNvPr>
            <p:cNvSpPr txBox="1"/>
            <p:nvPr/>
          </p:nvSpPr>
          <p:spPr>
            <a:xfrm>
              <a:off x="2169689" y="5370575"/>
              <a:ext cx="738728" cy="369332"/>
            </a:xfrm>
            <a:prstGeom prst="rect">
              <a:avLst/>
            </a:prstGeom>
            <a:noFill/>
          </p:spPr>
          <p:txBody>
            <a:bodyPr wrap="none" rtlCol="0">
              <a:spAutoFit/>
            </a:bodyPr>
            <a:lstStyle/>
            <a:p>
              <a:r>
                <a:rPr lang="en-US" b="1" dirty="0">
                  <a:solidFill>
                    <a:schemeClr val="accent6"/>
                  </a:solidFill>
                </a:rPr>
                <a:t>query</a:t>
              </a:r>
            </a:p>
          </p:txBody>
        </p:sp>
      </p:grpSp>
      <p:sp>
        <p:nvSpPr>
          <p:cNvPr id="2" name="Title 1"/>
          <p:cNvSpPr>
            <a:spLocks noGrp="1"/>
          </p:cNvSpPr>
          <p:nvPr>
            <p:ph type="title"/>
          </p:nvPr>
        </p:nvSpPr>
        <p:spPr/>
        <p:txBody>
          <a:bodyPr/>
          <a:lstStyle/>
          <a:p>
            <a:r>
              <a:rPr lang="en-US" altLang="zh-HK" dirty="0"/>
              <a:t>Flexibility and Adaptivity</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6</a:t>
            </a:fld>
            <a:endParaRPr lang="en-US"/>
          </a:p>
        </p:txBody>
      </p:sp>
      <mc:AlternateContent xmlns:mc="http://schemas.openxmlformats.org/markup-compatibility/2006" xmlns:a14="http://schemas.microsoft.com/office/drawing/2010/main">
        <mc:Choice Requires="a14">
          <p:sp>
            <p:nvSpPr>
              <p:cNvPr id="9" name="文本占位符 44">
                <a:extLst>
                  <a:ext uri="{FF2B5EF4-FFF2-40B4-BE49-F238E27FC236}">
                    <a16:creationId xmlns:a16="http://schemas.microsoft.com/office/drawing/2014/main" id="{49FC0AB3-865F-5F94-ED1E-DCB6588F255E}"/>
                  </a:ext>
                </a:extLst>
              </p:cNvPr>
              <p:cNvSpPr txBox="1">
                <a:spLocks/>
              </p:cNvSpPr>
              <p:nvPr/>
            </p:nvSpPr>
            <p:spPr>
              <a:xfrm>
                <a:off x="677517" y="1372207"/>
                <a:ext cx="10836965" cy="19128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Calibri" panose="020F0502020204030204" pitchFamily="34" charset="0"/>
                    <a:ea typeface="Microsoft YaHei" panose="020B0503020204020204" pitchFamily="34" charset="-122"/>
                    <a:cs typeface="Calibri" panose="020F0502020204030204" pitchFamily="34" charset="0"/>
                  </a:rPr>
                  <a:t>Different DCOs need the distances of different accuracy.</a:t>
                </a:r>
              </a:p>
              <a:p>
                <a:pPr lvl="1"/>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A is positive. 				</a:t>
                </a:r>
                <a14:m>
                  <m:oMath xmlns:m="http://schemas.openxmlformats.org/officeDocument/2006/math">
                    <m:r>
                      <a:rPr lang="en-US" altLang="zh-CN" sz="2000" i="1">
                        <a:solidFill>
                          <a:schemeClr val="accent2"/>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 exact distance</a:t>
                </a:r>
              </a:p>
              <a:p>
                <a:pPr lvl="1"/>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B is close to the query. 			</a:t>
                </a:r>
                <a14:m>
                  <m:oMath xmlns:m="http://schemas.openxmlformats.org/officeDocument/2006/math">
                    <m:r>
                      <a:rPr lang="en-US" altLang="zh-CN" sz="2000" i="1">
                        <a:solidFill>
                          <a:schemeClr val="accent2"/>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 high-accuracy approximate distance</a:t>
                </a:r>
              </a:p>
              <a:p>
                <a:pPr lvl="1"/>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C is far away from the query. 		</a:t>
                </a:r>
                <a14:m>
                  <m:oMath xmlns:m="http://schemas.openxmlformats.org/officeDocument/2006/math">
                    <m:r>
                      <a:rPr lang="en-US" altLang="zh-CN" sz="2000" i="1" smtClean="0">
                        <a:solidFill>
                          <a:schemeClr val="accent2"/>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2"/>
                    </a:solidFill>
                    <a:latin typeface="Calibri" panose="020F0502020204030204" pitchFamily="34" charset="0"/>
                    <a:ea typeface="Microsoft YaHei" panose="020B0503020204020204" pitchFamily="34" charset="-122"/>
                    <a:cs typeface="Calibri" panose="020F0502020204030204" pitchFamily="34" charset="0"/>
                  </a:rPr>
                  <a:t> low-accuracy approximate distance</a:t>
                </a:r>
              </a:p>
              <a:p>
                <a:pPr lvl="1"/>
                <a:r>
                  <a:rPr lang="en-US" altLang="zh-CN" sz="2000" dirty="0">
                    <a:latin typeface="Calibri" panose="020F0502020204030204" pitchFamily="34" charset="0"/>
                    <a:ea typeface="Microsoft YaHei" panose="020B0503020204020204" pitchFamily="34" charset="-122"/>
                    <a:cs typeface="Calibri" panose="020F0502020204030204" pitchFamily="34" charset="0"/>
                  </a:rPr>
                  <a:t>The needed accuracy depends on both data and </a:t>
                </a:r>
                <a:r>
                  <a:rPr lang="en-US" altLang="zh-CN" sz="2000" b="1" dirty="0">
                    <a:latin typeface="Calibri" panose="020F0502020204030204" pitchFamily="34" charset="0"/>
                    <a:ea typeface="Microsoft YaHei" panose="020B0503020204020204" pitchFamily="34" charset="-122"/>
                    <a:cs typeface="Calibri" panose="020F0502020204030204" pitchFamily="34" charset="0"/>
                  </a:rPr>
                  <a:t>query</a:t>
                </a:r>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r>
                  <a:rPr lang="en-US" altLang="zh-CN" sz="2400" dirty="0">
                    <a:latin typeface="Calibri" panose="020F0502020204030204" pitchFamily="34" charset="0"/>
                    <a:ea typeface="Microsoft YaHei" panose="020B0503020204020204" pitchFamily="34" charset="-122"/>
                    <a:cs typeface="Calibri" panose="020F0502020204030204" pitchFamily="34" charset="0"/>
                  </a:rPr>
                  <a:t>The distance of higher accuracy needs more computations.</a:t>
                </a: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9" name="文本占位符 44">
                <a:extLst>
                  <a:ext uri="{FF2B5EF4-FFF2-40B4-BE49-F238E27FC236}">
                    <a16:creationId xmlns:a16="http://schemas.microsoft.com/office/drawing/2014/main" id="{49FC0AB3-865F-5F94-ED1E-DCB6588F255E}"/>
                  </a:ext>
                </a:extLst>
              </p:cNvPr>
              <p:cNvSpPr txBox="1">
                <a:spLocks noRot="1" noChangeAspect="1" noMove="1" noResize="1" noEditPoints="1" noAdjustHandles="1" noChangeArrowheads="1" noChangeShapeType="1" noTextEdit="1"/>
              </p:cNvSpPr>
              <p:nvPr/>
            </p:nvSpPr>
            <p:spPr>
              <a:xfrm>
                <a:off x="677517" y="1372207"/>
                <a:ext cx="10836965" cy="1912828"/>
              </a:xfrm>
              <a:prstGeom prst="rect">
                <a:avLst/>
              </a:prstGeom>
              <a:blipFill>
                <a:blip r:embed="rId4"/>
                <a:stretch>
                  <a:fillRect l="-731" t="-4459" b="-23567"/>
                </a:stretch>
              </a:blipFill>
            </p:spPr>
            <p:txBody>
              <a:bodyPr/>
              <a:lstStyle/>
              <a:p>
                <a:r>
                  <a:rPr lang="en-SG">
                    <a:noFill/>
                  </a:rPr>
                  <a:t> </a:t>
                </a:r>
              </a:p>
            </p:txBody>
          </p:sp>
        </mc:Fallback>
      </mc:AlternateContent>
      <p:grpSp>
        <p:nvGrpSpPr>
          <p:cNvPr id="23" name="Group 22">
            <a:extLst>
              <a:ext uri="{FF2B5EF4-FFF2-40B4-BE49-F238E27FC236}">
                <a16:creationId xmlns:a16="http://schemas.microsoft.com/office/drawing/2014/main" id="{C7184392-164E-C9A9-EB10-EFD651BEA4A8}"/>
              </a:ext>
            </a:extLst>
          </p:cNvPr>
          <p:cNvGrpSpPr/>
          <p:nvPr/>
        </p:nvGrpSpPr>
        <p:grpSpPr>
          <a:xfrm>
            <a:off x="1260413" y="3805515"/>
            <a:ext cx="1687791" cy="1349078"/>
            <a:chOff x="1260413" y="3805515"/>
            <a:chExt cx="1687791" cy="1349078"/>
          </a:xfrm>
        </p:grpSpPr>
        <p:sp>
          <p:nvSpPr>
            <p:cNvPr id="10" name="Oval 9">
              <a:extLst>
                <a:ext uri="{FF2B5EF4-FFF2-40B4-BE49-F238E27FC236}">
                  <a16:creationId xmlns:a16="http://schemas.microsoft.com/office/drawing/2014/main" id="{57F5E32E-6122-4F79-F3E2-AF7594EC27D7}"/>
                </a:ext>
              </a:extLst>
            </p:cNvPr>
            <p:cNvSpPr/>
            <p:nvPr/>
          </p:nvSpPr>
          <p:spPr>
            <a:xfrm>
              <a:off x="1504389" y="434200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6C18F6E5-BC58-7CD1-D796-C535519CD492}"/>
                </a:ext>
              </a:extLst>
            </p:cNvPr>
            <p:cNvSpPr/>
            <p:nvPr/>
          </p:nvSpPr>
          <p:spPr>
            <a:xfrm>
              <a:off x="2246724" y="501059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5660528E-414C-CD1E-4B5B-11117F6CD622}"/>
                </a:ext>
              </a:extLst>
            </p:cNvPr>
            <p:cNvSpPr/>
            <p:nvPr/>
          </p:nvSpPr>
          <p:spPr>
            <a:xfrm>
              <a:off x="2797334" y="4115855"/>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41FECF38-FCD3-A31F-37E4-746107DE36AD}"/>
                </a:ext>
              </a:extLst>
            </p:cNvPr>
            <p:cNvSpPr txBox="1"/>
            <p:nvPr/>
          </p:nvSpPr>
          <p:spPr>
            <a:xfrm>
              <a:off x="1260413" y="4114115"/>
              <a:ext cx="317716" cy="369332"/>
            </a:xfrm>
            <a:prstGeom prst="rect">
              <a:avLst/>
            </a:prstGeom>
            <a:noFill/>
          </p:spPr>
          <p:txBody>
            <a:bodyPr wrap="none" rtlCol="0">
              <a:spAutoFit/>
            </a:bodyPr>
            <a:lstStyle/>
            <a:p>
              <a:r>
                <a:rPr lang="en-US" dirty="0">
                  <a:solidFill>
                    <a:schemeClr val="accent5"/>
                  </a:solidFill>
                </a:rPr>
                <a:t>A</a:t>
              </a:r>
            </a:p>
          </p:txBody>
        </p:sp>
        <p:sp>
          <p:nvSpPr>
            <p:cNvPr id="17" name="TextBox 16">
              <a:extLst>
                <a:ext uri="{FF2B5EF4-FFF2-40B4-BE49-F238E27FC236}">
                  <a16:creationId xmlns:a16="http://schemas.microsoft.com/office/drawing/2014/main" id="{C70E0EBB-5EAB-2E32-56DB-38A7934A5862}"/>
                </a:ext>
              </a:extLst>
            </p:cNvPr>
            <p:cNvSpPr txBox="1"/>
            <p:nvPr/>
          </p:nvSpPr>
          <p:spPr>
            <a:xfrm>
              <a:off x="2640106" y="3805515"/>
              <a:ext cx="308098" cy="369332"/>
            </a:xfrm>
            <a:prstGeom prst="rect">
              <a:avLst/>
            </a:prstGeom>
            <a:noFill/>
          </p:spPr>
          <p:txBody>
            <a:bodyPr wrap="none" rtlCol="0">
              <a:spAutoFit/>
            </a:bodyPr>
            <a:lstStyle/>
            <a:p>
              <a:r>
                <a:rPr lang="en-US" dirty="0">
                  <a:solidFill>
                    <a:schemeClr val="accent5"/>
                  </a:solidFill>
                </a:rPr>
                <a:t>C</a:t>
              </a:r>
            </a:p>
          </p:txBody>
        </p:sp>
        <p:sp>
          <p:nvSpPr>
            <p:cNvPr id="18" name="TextBox 17">
              <a:extLst>
                <a:ext uri="{FF2B5EF4-FFF2-40B4-BE49-F238E27FC236}">
                  <a16:creationId xmlns:a16="http://schemas.microsoft.com/office/drawing/2014/main" id="{52C23B80-0C3F-72C2-3BE4-2C474D1D783D}"/>
                </a:ext>
              </a:extLst>
            </p:cNvPr>
            <p:cNvSpPr txBox="1"/>
            <p:nvPr/>
          </p:nvSpPr>
          <p:spPr>
            <a:xfrm>
              <a:off x="2097374" y="4715001"/>
              <a:ext cx="309700" cy="369332"/>
            </a:xfrm>
            <a:prstGeom prst="rect">
              <a:avLst/>
            </a:prstGeom>
            <a:noFill/>
          </p:spPr>
          <p:txBody>
            <a:bodyPr wrap="none" rtlCol="0">
              <a:spAutoFit/>
            </a:bodyPr>
            <a:lstStyle/>
            <a:p>
              <a:r>
                <a:rPr lang="en-US" dirty="0">
                  <a:solidFill>
                    <a:schemeClr val="accent5"/>
                  </a:solidFill>
                </a:rPr>
                <a:t>B</a:t>
              </a:r>
            </a:p>
          </p:txBody>
        </p:sp>
      </p:grpSp>
      <p:sp>
        <p:nvSpPr>
          <p:cNvPr id="20" name="TextBox 19">
            <a:extLst>
              <a:ext uri="{FF2B5EF4-FFF2-40B4-BE49-F238E27FC236}">
                <a16:creationId xmlns:a16="http://schemas.microsoft.com/office/drawing/2014/main" id="{CEFF9E8B-2D1E-6D08-E0EC-19769224F931}"/>
              </a:ext>
            </a:extLst>
          </p:cNvPr>
          <p:cNvSpPr txBox="1"/>
          <p:nvPr/>
        </p:nvSpPr>
        <p:spPr>
          <a:xfrm>
            <a:off x="3883493" y="4042241"/>
            <a:ext cx="8057324" cy="1631216"/>
          </a:xfrm>
          <a:prstGeom prst="rect">
            <a:avLst/>
          </a:prstGeom>
          <a:noFill/>
        </p:spPr>
        <p:txBody>
          <a:bodyPr wrap="square" rtlCol="0">
            <a:spAutoFit/>
          </a:bodyPr>
          <a:lstStyle/>
          <a:p>
            <a:r>
              <a:rPr lang="en-US" sz="2000" b="1" dirty="0">
                <a:solidFill>
                  <a:srgbClr val="0000FF"/>
                </a:solidFill>
              </a:rPr>
              <a:t>Flexibility</a:t>
            </a:r>
            <a:r>
              <a:rPr lang="en-US" sz="2000" dirty="0"/>
              <a:t>: How to make it possible that </a:t>
            </a:r>
            <a:r>
              <a:rPr lang="en-US" sz="2000" b="1" u="sng" dirty="0"/>
              <a:t>different DCOs</a:t>
            </a:r>
            <a:r>
              <a:rPr lang="en-US" sz="2000" b="1" dirty="0"/>
              <a:t> </a:t>
            </a:r>
            <a:r>
              <a:rPr lang="en-US" sz="2000" dirty="0"/>
              <a:t>can choose </a:t>
            </a:r>
            <a:r>
              <a:rPr lang="en-US" sz="2000" b="1" u="sng" dirty="0"/>
              <a:t>different accuracy</a:t>
            </a:r>
            <a:r>
              <a:rPr lang="en-US" sz="2000" b="1" dirty="0"/>
              <a:t> </a:t>
            </a:r>
            <a:r>
              <a:rPr lang="en-US" sz="2000" dirty="0"/>
              <a:t>of their distances </a:t>
            </a:r>
            <a:r>
              <a:rPr lang="en-US" sz="2000" b="1" u="sng" dirty="0"/>
              <a:t>during the query phase</a:t>
            </a:r>
            <a:r>
              <a:rPr lang="en-US" sz="2000" dirty="0"/>
              <a:t>?</a:t>
            </a:r>
          </a:p>
          <a:p>
            <a:endParaRPr lang="en-US" sz="2000" dirty="0"/>
          </a:p>
          <a:p>
            <a:r>
              <a:rPr lang="en-US" sz="2000" b="1" dirty="0">
                <a:solidFill>
                  <a:srgbClr val="0000FF"/>
                </a:solidFill>
              </a:rPr>
              <a:t>Adaptivity</a:t>
            </a:r>
            <a:r>
              <a:rPr lang="en-US" sz="2000" dirty="0"/>
              <a:t>: How to decide </a:t>
            </a:r>
            <a:r>
              <a:rPr lang="en-US" sz="2000" b="1" u="sng" dirty="0"/>
              <a:t>the minimum needed accuracy</a:t>
            </a:r>
            <a:r>
              <a:rPr lang="en-US" sz="2000" dirty="0"/>
              <a:t> to ensure the reliability of DCOs?</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3D3C5E3-7E19-8869-31FE-602DB25709DB}"/>
                  </a:ext>
                </a:extLst>
              </p:cNvPr>
              <p:cNvSpPr txBox="1"/>
              <p:nvPr/>
            </p:nvSpPr>
            <p:spPr>
              <a:xfrm>
                <a:off x="672061" y="1716909"/>
                <a:ext cx="10681739" cy="1143903"/>
              </a:xfrm>
              <a:prstGeom prst="rect">
                <a:avLst/>
              </a:prstGeom>
              <a:noFill/>
            </p:spPr>
            <p:txBody>
              <a:bodyPr wrap="square">
                <a:spAutoFit/>
              </a:bodyPr>
              <a:lstStyle/>
              <a:p>
                <a:pPr marL="800100" lvl="1" indent="-342900">
                  <a:spcBef>
                    <a:spcPts val="400"/>
                  </a:spcBef>
                  <a:buFont typeface="Arial" panose="020B0604020202020204" pitchFamily="34" charset="0"/>
                  <a:buChar char="•"/>
                </a:pPr>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B is positive. 				</a:t>
                </a:r>
                <a14:m>
                  <m:oMath xmlns:m="http://schemas.openxmlformats.org/officeDocument/2006/math">
                    <m:r>
                      <a:rPr lang="en-US" altLang="zh-CN" sz="2000" i="1">
                        <a:solidFill>
                          <a:schemeClr val="accent6"/>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 exact distance</a:t>
                </a:r>
              </a:p>
              <a:p>
                <a:pPr marL="800100" lvl="1" indent="-342900">
                  <a:spcBef>
                    <a:spcPts val="400"/>
                  </a:spcBef>
                  <a:buFont typeface="Arial" panose="020B0604020202020204" pitchFamily="34" charset="0"/>
                  <a:buChar char="•"/>
                </a:pPr>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C is close to the query. 			</a:t>
                </a:r>
                <a14:m>
                  <m:oMath xmlns:m="http://schemas.openxmlformats.org/officeDocument/2006/math">
                    <m:r>
                      <a:rPr lang="en-US" altLang="zh-CN" sz="2000" i="1">
                        <a:solidFill>
                          <a:schemeClr val="accent6"/>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 high-accuracy approximate distance</a:t>
                </a:r>
              </a:p>
              <a:p>
                <a:pPr marL="800100" lvl="1" indent="-342900">
                  <a:spcBef>
                    <a:spcPts val="400"/>
                  </a:spcBef>
                  <a:buFont typeface="Arial" panose="020B0604020202020204" pitchFamily="34" charset="0"/>
                  <a:buChar char="•"/>
                </a:pPr>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A is far away from the query. 		</a:t>
                </a:r>
                <a14:m>
                  <m:oMath xmlns:m="http://schemas.openxmlformats.org/officeDocument/2006/math">
                    <m:r>
                      <a:rPr lang="en-US" altLang="zh-CN" sz="2000" i="1" smtClean="0">
                        <a:solidFill>
                          <a:schemeClr val="accent6"/>
                        </a:solidFill>
                        <a:latin typeface="Cambria Math" panose="02040503050406030204" pitchFamily="18" charset="0"/>
                        <a:ea typeface="Cambria Math" panose="02040503050406030204" pitchFamily="18" charset="0"/>
                        <a:cs typeface="Calibri" panose="020F0502020204030204" pitchFamily="34" charset="0"/>
                      </a:rPr>
                      <m:t>⇒</m:t>
                    </m:r>
                  </m:oMath>
                </a14:m>
                <a:r>
                  <a:rPr lang="en-US" altLang="zh-CN" sz="2000" dirty="0">
                    <a:solidFill>
                      <a:schemeClr val="accent6"/>
                    </a:solidFill>
                    <a:latin typeface="Calibri" panose="020F0502020204030204" pitchFamily="34" charset="0"/>
                    <a:ea typeface="Microsoft YaHei" panose="020B0503020204020204" pitchFamily="34" charset="-122"/>
                    <a:cs typeface="Calibri" panose="020F0502020204030204" pitchFamily="34" charset="0"/>
                  </a:rPr>
                  <a:t> low-accuracy approximate distance</a:t>
                </a:r>
              </a:p>
            </p:txBody>
          </p:sp>
        </mc:Choice>
        <mc:Fallback xmlns="">
          <p:sp>
            <p:nvSpPr>
              <p:cNvPr id="22" name="TextBox 21">
                <a:extLst>
                  <a:ext uri="{FF2B5EF4-FFF2-40B4-BE49-F238E27FC236}">
                    <a16:creationId xmlns:a16="http://schemas.microsoft.com/office/drawing/2014/main" id="{73D3C5E3-7E19-8869-31FE-602DB25709DB}"/>
                  </a:ext>
                </a:extLst>
              </p:cNvPr>
              <p:cNvSpPr txBox="1">
                <a:spLocks noRot="1" noChangeAspect="1" noMove="1" noResize="1" noEditPoints="1" noAdjustHandles="1" noChangeArrowheads="1" noChangeShapeType="1" noTextEdit="1"/>
              </p:cNvSpPr>
              <p:nvPr/>
            </p:nvSpPr>
            <p:spPr>
              <a:xfrm>
                <a:off x="672061" y="1716909"/>
                <a:ext cx="10681739" cy="1143903"/>
              </a:xfrm>
              <a:prstGeom prst="rect">
                <a:avLst/>
              </a:prstGeom>
              <a:blipFill>
                <a:blip r:embed="rId5"/>
                <a:stretch>
                  <a:fillRect t="-3209" b="-6952"/>
                </a:stretch>
              </a:blipFill>
            </p:spPr>
            <p:txBody>
              <a:bodyPr/>
              <a:lstStyle/>
              <a:p>
                <a:r>
                  <a:rPr lang="en-SG">
                    <a:noFill/>
                  </a:rPr>
                  <a:t> </a:t>
                </a:r>
              </a:p>
            </p:txBody>
          </p:sp>
        </mc:Fallback>
      </mc:AlternateContent>
      <p:sp>
        <p:nvSpPr>
          <p:cNvPr id="8" name="Footer Placeholder 7">
            <a:extLst>
              <a:ext uri="{FF2B5EF4-FFF2-40B4-BE49-F238E27FC236}">
                <a16:creationId xmlns:a16="http://schemas.microsoft.com/office/drawing/2014/main" id="{63A1D63C-1B67-2EA0-EA98-AE5AD8C8F6D2}"/>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287147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9">
                                            <p:txEl>
                                              <p:pRg st="2" end="2"/>
                                            </p:txEl>
                                          </p:spTgt>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
                                            <p:txEl>
                                              <p:pRg st="3" end="3"/>
                                            </p:txEl>
                                          </p:spTgt>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4"/>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2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Flexibility</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7</a:t>
            </a:fld>
            <a:endParaRPr lang="en-US"/>
          </a:p>
        </p:txBody>
      </p:sp>
      <p:sp>
        <p:nvSpPr>
          <p:cNvPr id="8" name="TextBox 7">
            <a:extLst>
              <a:ext uri="{FF2B5EF4-FFF2-40B4-BE49-F238E27FC236}">
                <a16:creationId xmlns:a16="http://schemas.microsoft.com/office/drawing/2014/main" id="{E05B8914-3117-CEE0-E708-055EC6470507}"/>
              </a:ext>
            </a:extLst>
          </p:cNvPr>
          <p:cNvSpPr txBox="1"/>
          <p:nvPr/>
        </p:nvSpPr>
        <p:spPr>
          <a:xfrm>
            <a:off x="6312550" y="4767654"/>
            <a:ext cx="5213506" cy="1631216"/>
          </a:xfrm>
          <a:prstGeom prst="rect">
            <a:avLst/>
          </a:prstGeom>
          <a:noFill/>
          <a:ln>
            <a:solidFill>
              <a:schemeClr val="accent5"/>
            </a:solidFill>
          </a:ln>
        </p:spPr>
        <p:txBody>
          <a:bodyPr wrap="square" rtlCol="0">
            <a:spAutoFit/>
          </a:bodyPr>
          <a:lstStyle/>
          <a:p>
            <a:r>
              <a:rPr lang="en-US" sz="2800" dirty="0">
                <a:solidFill>
                  <a:srgbClr val="0000FF"/>
                </a:solidFill>
              </a:rPr>
              <a:t>Solution: </a:t>
            </a:r>
          </a:p>
          <a:p>
            <a:r>
              <a:rPr lang="en-US" sz="2400" dirty="0"/>
              <a:t>To randomly transform the vectors and </a:t>
            </a:r>
            <a:r>
              <a:rPr lang="en-US" sz="2400" b="1" u="sng" dirty="0"/>
              <a:t>sample different number of dimensions as needed</a:t>
            </a:r>
            <a:r>
              <a:rPr lang="en-US" sz="2400" dirty="0"/>
              <a:t> </a:t>
            </a:r>
            <a:r>
              <a:rPr lang="en-US" sz="2400" b="1" u="sng" dirty="0"/>
              <a:t>during the query phase</a:t>
            </a:r>
            <a:r>
              <a:rPr lang="en-US" sz="2400" dirty="0"/>
              <a:t>.</a:t>
            </a:r>
          </a:p>
        </p:txBody>
      </p:sp>
      <p:sp>
        <p:nvSpPr>
          <p:cNvPr id="10" name="TextBox 9">
            <a:extLst>
              <a:ext uri="{FF2B5EF4-FFF2-40B4-BE49-F238E27FC236}">
                <a16:creationId xmlns:a16="http://schemas.microsoft.com/office/drawing/2014/main" id="{1EBC9FDB-BD8D-2432-CE8D-61C293EE9979}"/>
              </a:ext>
            </a:extLst>
          </p:cNvPr>
          <p:cNvSpPr txBox="1"/>
          <p:nvPr/>
        </p:nvSpPr>
        <p:spPr>
          <a:xfrm>
            <a:off x="684884" y="4767654"/>
            <a:ext cx="5213506" cy="1631216"/>
          </a:xfrm>
          <a:prstGeom prst="rect">
            <a:avLst/>
          </a:prstGeom>
          <a:noFill/>
          <a:ln>
            <a:solidFill>
              <a:schemeClr val="accent5"/>
            </a:solidFill>
          </a:ln>
        </p:spPr>
        <p:txBody>
          <a:bodyPr wrap="square" rtlCol="0">
            <a:spAutoFit/>
          </a:bodyPr>
          <a:lstStyle/>
          <a:p>
            <a:r>
              <a:rPr lang="en-US" sz="2800" dirty="0">
                <a:solidFill>
                  <a:srgbClr val="0000FF"/>
                </a:solidFill>
              </a:rPr>
              <a:t>Question (Flexibility): </a:t>
            </a:r>
          </a:p>
          <a:p>
            <a:r>
              <a:rPr lang="en-US" sz="2400" dirty="0"/>
              <a:t>How to make it possible that </a:t>
            </a:r>
            <a:r>
              <a:rPr lang="en-US" sz="2400" b="1" u="sng" dirty="0"/>
              <a:t>different DCOs</a:t>
            </a:r>
            <a:r>
              <a:rPr lang="en-US" sz="2400" b="1" dirty="0"/>
              <a:t> </a:t>
            </a:r>
            <a:r>
              <a:rPr lang="en-US" sz="2400" dirty="0"/>
              <a:t>can choose </a:t>
            </a:r>
            <a:r>
              <a:rPr lang="en-US" sz="2400" b="1" u="sng" dirty="0"/>
              <a:t>different accuracy</a:t>
            </a:r>
            <a:r>
              <a:rPr lang="en-US" sz="2400" b="1" dirty="0"/>
              <a:t> </a:t>
            </a:r>
            <a:r>
              <a:rPr lang="en-US" sz="2400" dirty="0"/>
              <a:t>of their distances </a:t>
            </a:r>
            <a:r>
              <a:rPr lang="en-US" sz="2400" b="1" u="sng" dirty="0"/>
              <a:t>during the query phase</a:t>
            </a:r>
            <a:r>
              <a:rPr lang="en-US" sz="2400" dirty="0"/>
              <a:t>?</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3FF61EC-E3B9-0316-33BB-7E083699A653}"/>
                  </a:ext>
                </a:extLst>
              </p:cNvPr>
              <p:cNvSpPr txBox="1"/>
              <p:nvPr/>
            </p:nvSpPr>
            <p:spPr>
              <a:xfrm>
                <a:off x="7811190" y="1600463"/>
                <a:ext cx="4106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03FF61EC-E3B9-0316-33BB-7E083699A653}"/>
                  </a:ext>
                </a:extLst>
              </p:cNvPr>
              <p:cNvSpPr txBox="1">
                <a:spLocks noRot="1" noChangeAspect="1" noMove="1" noResize="1" noEditPoints="1" noAdjustHandles="1" noChangeArrowheads="1" noChangeShapeType="1" noTextEdit="1"/>
              </p:cNvSpPr>
              <p:nvPr/>
            </p:nvSpPr>
            <p:spPr>
              <a:xfrm>
                <a:off x="7811190" y="1600463"/>
                <a:ext cx="41068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8AE89B1-D116-490D-8B12-ECED94127252}"/>
                  </a:ext>
                </a:extLst>
              </p:cNvPr>
              <p:cNvSpPr txBox="1"/>
              <p:nvPr/>
            </p:nvSpPr>
            <p:spPr>
              <a:xfrm>
                <a:off x="6369331" y="1596846"/>
                <a:ext cx="4026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47" name="TextBox 46">
                <a:extLst>
                  <a:ext uri="{FF2B5EF4-FFF2-40B4-BE49-F238E27FC236}">
                    <a16:creationId xmlns:a16="http://schemas.microsoft.com/office/drawing/2014/main" id="{A8AE89B1-D116-490D-8B12-ECED94127252}"/>
                  </a:ext>
                </a:extLst>
              </p:cNvPr>
              <p:cNvSpPr txBox="1">
                <a:spLocks noRot="1" noChangeAspect="1" noMove="1" noResize="1" noEditPoints="1" noAdjustHandles="1" noChangeArrowheads="1" noChangeShapeType="1" noTextEdit="1"/>
              </p:cNvSpPr>
              <p:nvPr/>
            </p:nvSpPr>
            <p:spPr>
              <a:xfrm>
                <a:off x="6369331" y="1596846"/>
                <a:ext cx="402674" cy="369332"/>
              </a:xfrm>
              <a:prstGeom prst="rect">
                <a:avLst/>
              </a:prstGeom>
              <a:blipFill>
                <a:blip r:embed="rId5"/>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E231F383-0815-B4A7-2B30-4757984A826B}"/>
              </a:ext>
            </a:extLst>
          </p:cNvPr>
          <p:cNvSpPr txBox="1"/>
          <p:nvPr/>
        </p:nvSpPr>
        <p:spPr>
          <a:xfrm>
            <a:off x="6600451" y="2395383"/>
            <a:ext cx="1010918" cy="307777"/>
          </a:xfrm>
          <a:prstGeom prst="rect">
            <a:avLst/>
          </a:prstGeom>
          <a:noFill/>
        </p:spPr>
        <p:txBody>
          <a:bodyPr wrap="none" rtlCol="0">
            <a:spAutoFit/>
          </a:bodyPr>
          <a:lstStyle/>
          <a:p>
            <a:r>
              <a:rPr lang="en-US" sz="1400" dirty="0"/>
              <a:t>data vector</a:t>
            </a:r>
          </a:p>
        </p:txBody>
      </p:sp>
      <p:graphicFrame>
        <p:nvGraphicFramePr>
          <p:cNvPr id="74" name="Table 72">
            <a:extLst>
              <a:ext uri="{FF2B5EF4-FFF2-40B4-BE49-F238E27FC236}">
                <a16:creationId xmlns:a16="http://schemas.microsoft.com/office/drawing/2014/main" id="{A77BC049-B5C4-A7F7-45C9-2FC7210EFD87}"/>
              </a:ext>
            </a:extLst>
          </p:cNvPr>
          <p:cNvGraphicFramePr>
            <a:graphicFrameLocks noGrp="1"/>
          </p:cNvGraphicFramePr>
          <p:nvPr/>
        </p:nvGraphicFramePr>
        <p:xfrm>
          <a:off x="3275626" y="1370951"/>
          <a:ext cx="864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gridCol w="216000">
                  <a:extLst>
                    <a:ext uri="{9D8B030D-6E8A-4147-A177-3AD203B41FA5}">
                      <a16:colId xmlns:a16="http://schemas.microsoft.com/office/drawing/2014/main" val="2601217576"/>
                    </a:ext>
                  </a:extLst>
                </a:gridCol>
                <a:gridCol w="216000">
                  <a:extLst>
                    <a:ext uri="{9D8B030D-6E8A-4147-A177-3AD203B41FA5}">
                      <a16:colId xmlns:a16="http://schemas.microsoft.com/office/drawing/2014/main" val="525891364"/>
                    </a:ext>
                  </a:extLst>
                </a:gridCol>
                <a:gridCol w="216000">
                  <a:extLst>
                    <a:ext uri="{9D8B030D-6E8A-4147-A177-3AD203B41FA5}">
                      <a16:colId xmlns:a16="http://schemas.microsoft.com/office/drawing/2014/main" val="3637733457"/>
                    </a:ext>
                  </a:extLst>
                </a:gridCol>
              </a:tblGrid>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extLst>
                  <a:ext uri="{0D108BD9-81ED-4DB2-BD59-A6C34878D82A}">
                    <a16:rowId xmlns:a16="http://schemas.microsoft.com/office/drawing/2014/main" val="2461034141"/>
                  </a:ext>
                </a:extLst>
              </a:tr>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434665891"/>
                  </a:ext>
                </a:extLst>
              </a:tr>
              <a:tr h="208439">
                <a:tc>
                  <a:txBody>
                    <a:bodyPr/>
                    <a:lstStyle/>
                    <a:p>
                      <a:endParaRPr lang="en-US" sz="800"/>
                    </a:p>
                  </a:txBody>
                  <a:tcPr>
                    <a:solidFill>
                      <a:schemeClr val="accent5"/>
                    </a:solidFill>
                  </a:tcPr>
                </a:tc>
                <a:tc>
                  <a:txBody>
                    <a:bodyPr/>
                    <a:lstStyle/>
                    <a:p>
                      <a:endParaRPr lang="en-US" sz="800" dirty="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4272068050"/>
                  </a:ext>
                </a:extLst>
              </a:tr>
            </a:tbl>
          </a:graphicData>
        </a:graphic>
      </p:graphicFrame>
      <p:sp>
        <p:nvSpPr>
          <p:cNvPr id="75" name="TextBox 74">
            <a:extLst>
              <a:ext uri="{FF2B5EF4-FFF2-40B4-BE49-F238E27FC236}">
                <a16:creationId xmlns:a16="http://schemas.microsoft.com/office/drawing/2014/main" id="{BE9263CF-7C22-68D1-B640-CDD28BC2D8F1}"/>
              </a:ext>
            </a:extLst>
          </p:cNvPr>
          <p:cNvSpPr txBox="1"/>
          <p:nvPr/>
        </p:nvSpPr>
        <p:spPr>
          <a:xfrm>
            <a:off x="2796496" y="2413189"/>
            <a:ext cx="1823451" cy="461665"/>
          </a:xfrm>
          <a:prstGeom prst="rect">
            <a:avLst/>
          </a:prstGeom>
          <a:noFill/>
        </p:spPr>
        <p:txBody>
          <a:bodyPr wrap="square" rtlCol="0">
            <a:spAutoFit/>
          </a:bodyPr>
          <a:lstStyle/>
          <a:p>
            <a:pPr algn="ctr"/>
            <a:r>
              <a:rPr lang="en-US" sz="1200" dirty="0"/>
              <a:t>Random Orthogonal </a:t>
            </a:r>
            <a:r>
              <a:rPr lang="en-US" sz="1200" b="1" dirty="0"/>
              <a:t>Transformation</a:t>
            </a:r>
          </a:p>
        </p:txBody>
      </p:sp>
      <p:cxnSp>
        <p:nvCxnSpPr>
          <p:cNvPr id="77" name="Straight Arrow Connector 76">
            <a:extLst>
              <a:ext uri="{FF2B5EF4-FFF2-40B4-BE49-F238E27FC236}">
                <a16:creationId xmlns:a16="http://schemas.microsoft.com/office/drawing/2014/main" id="{A50C2B44-7816-4C4D-8DEF-C78A5354359E}"/>
              </a:ext>
            </a:extLst>
          </p:cNvPr>
          <p:cNvCxnSpPr>
            <a:cxnSpLocks/>
          </p:cNvCxnSpPr>
          <p:nvPr/>
        </p:nvCxnSpPr>
        <p:spPr>
          <a:xfrm>
            <a:off x="4234243" y="1781512"/>
            <a:ext cx="682353"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937B3FB-3D1E-3C18-5D69-330B5E5A21C8}"/>
              </a:ext>
            </a:extLst>
          </p:cNvPr>
          <p:cNvSpPr txBox="1"/>
          <p:nvPr/>
        </p:nvSpPr>
        <p:spPr>
          <a:xfrm>
            <a:off x="4139626" y="1524284"/>
            <a:ext cx="871585" cy="276999"/>
          </a:xfrm>
          <a:prstGeom prst="rect">
            <a:avLst/>
          </a:prstGeom>
          <a:noFill/>
        </p:spPr>
        <p:txBody>
          <a:bodyPr wrap="none" rtlCol="0">
            <a:spAutoFit/>
          </a:bodyPr>
          <a:lstStyle/>
          <a:p>
            <a:r>
              <a:rPr lang="en-US" sz="1200" b="1" dirty="0">
                <a:solidFill>
                  <a:schemeClr val="accent5"/>
                </a:solidFill>
              </a:rPr>
              <a:t>subsample</a:t>
            </a:r>
          </a:p>
        </p:txBody>
      </p:sp>
      <p:graphicFrame>
        <p:nvGraphicFramePr>
          <p:cNvPr id="82" name="Table 72">
            <a:extLst>
              <a:ext uri="{FF2B5EF4-FFF2-40B4-BE49-F238E27FC236}">
                <a16:creationId xmlns:a16="http://schemas.microsoft.com/office/drawing/2014/main" id="{19966532-C6F7-319C-159D-30057BAF8D1F}"/>
              </a:ext>
            </a:extLst>
          </p:cNvPr>
          <p:cNvGraphicFramePr>
            <a:graphicFrameLocks noGrp="1"/>
          </p:cNvGraphicFramePr>
          <p:nvPr/>
        </p:nvGraphicFramePr>
        <p:xfrm>
          <a:off x="5260586" y="1370951"/>
          <a:ext cx="85628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gridCol w="208280">
                  <a:extLst>
                    <a:ext uri="{9D8B030D-6E8A-4147-A177-3AD203B41FA5}">
                      <a16:colId xmlns:a16="http://schemas.microsoft.com/office/drawing/2014/main" val="2601217576"/>
                    </a:ext>
                  </a:extLst>
                </a:gridCol>
                <a:gridCol w="216000">
                  <a:extLst>
                    <a:ext uri="{9D8B030D-6E8A-4147-A177-3AD203B41FA5}">
                      <a16:colId xmlns:a16="http://schemas.microsoft.com/office/drawing/2014/main" val="525891364"/>
                    </a:ext>
                  </a:extLst>
                </a:gridCol>
                <a:gridCol w="216000">
                  <a:extLst>
                    <a:ext uri="{9D8B030D-6E8A-4147-A177-3AD203B41FA5}">
                      <a16:colId xmlns:a16="http://schemas.microsoft.com/office/drawing/2014/main" val="3637733457"/>
                    </a:ext>
                  </a:extLst>
                </a:gridCol>
              </a:tblGrid>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2461034141"/>
                  </a:ext>
                </a:extLst>
              </a:tr>
              <a:tr h="184100">
                <a:tc>
                  <a:txBody>
                    <a:bodyPr/>
                    <a:lstStyle/>
                    <a:p>
                      <a:endParaRPr lang="en-US" sz="800"/>
                    </a:p>
                  </a:txBody>
                  <a:tcPr>
                    <a:noFill/>
                  </a:tcPr>
                </a:tc>
                <a:tc>
                  <a:txBody>
                    <a:bodyPr/>
                    <a:lstStyle/>
                    <a:p>
                      <a:endParaRPr lang="en-US" sz="800" dirty="0"/>
                    </a:p>
                  </a:txBody>
                  <a:tcPr>
                    <a:noFill/>
                  </a:tcPr>
                </a:tc>
                <a:tc>
                  <a:txBody>
                    <a:bodyPr/>
                    <a:lstStyle/>
                    <a:p>
                      <a:endParaRPr lang="en-US" sz="800"/>
                    </a:p>
                  </a:txBody>
                  <a:tcPr>
                    <a:noFill/>
                  </a:tcPr>
                </a:tc>
                <a:tc>
                  <a:txBody>
                    <a:bodyPr/>
                    <a:lstStyle/>
                    <a:p>
                      <a:endParaRPr lang="en-US" sz="800" dirty="0"/>
                    </a:p>
                  </a:txBody>
                  <a:tcPr>
                    <a:noFill/>
                  </a:tcPr>
                </a:tc>
                <a:extLst>
                  <a:ext uri="{0D108BD9-81ED-4DB2-BD59-A6C34878D82A}">
                    <a16:rowId xmlns:a16="http://schemas.microsoft.com/office/drawing/2014/main" val="434665891"/>
                  </a:ext>
                </a:extLst>
              </a:tr>
              <a:tr h="208439">
                <a:tc>
                  <a:txBody>
                    <a:bodyPr/>
                    <a:lstStyle/>
                    <a:p>
                      <a:endParaRPr lang="en-US" sz="800" dirty="0"/>
                    </a:p>
                  </a:txBody>
                  <a:tcPr>
                    <a:noFill/>
                  </a:tcPr>
                </a:tc>
                <a:tc>
                  <a:txBody>
                    <a:bodyPr/>
                    <a:lstStyle/>
                    <a:p>
                      <a:endParaRPr lang="en-US" sz="800" dirty="0"/>
                    </a:p>
                  </a:txBody>
                  <a:tcPr>
                    <a:noFill/>
                  </a:tcPr>
                </a:tc>
                <a:tc>
                  <a:txBody>
                    <a:bodyPr/>
                    <a:lstStyle/>
                    <a:p>
                      <a:endParaRPr lang="en-US" sz="800"/>
                    </a:p>
                  </a:txBody>
                  <a:tcPr>
                    <a:noFill/>
                  </a:tcPr>
                </a:tc>
                <a:tc>
                  <a:txBody>
                    <a:bodyPr/>
                    <a:lstStyle/>
                    <a:p>
                      <a:endParaRPr lang="en-US" sz="800" dirty="0"/>
                    </a:p>
                  </a:txBody>
                  <a:tcPr>
                    <a:noFill/>
                  </a:tcPr>
                </a:tc>
                <a:extLst>
                  <a:ext uri="{0D108BD9-81ED-4DB2-BD59-A6C34878D82A}">
                    <a16:rowId xmlns:a16="http://schemas.microsoft.com/office/drawing/2014/main" val="4272068050"/>
                  </a:ext>
                </a:extLst>
              </a:tr>
            </a:tbl>
          </a:graphicData>
        </a:graphic>
      </p:graphicFrame>
      <p:graphicFrame>
        <p:nvGraphicFramePr>
          <p:cNvPr id="83" name="Table 72">
            <a:extLst>
              <a:ext uri="{FF2B5EF4-FFF2-40B4-BE49-F238E27FC236}">
                <a16:creationId xmlns:a16="http://schemas.microsoft.com/office/drawing/2014/main" id="{95DFCC31-1685-6AE3-2011-F1C80DD34DBF}"/>
              </a:ext>
            </a:extLst>
          </p:cNvPr>
          <p:cNvGraphicFramePr>
            <a:graphicFrameLocks noGrp="1"/>
          </p:cNvGraphicFramePr>
          <p:nvPr/>
        </p:nvGraphicFramePr>
        <p:xfrm>
          <a:off x="6970451" y="1370951"/>
          <a:ext cx="216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chemeClr val="accent4"/>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2461034141"/>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434665891"/>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4272068050"/>
                  </a:ext>
                </a:extLst>
              </a:tr>
            </a:tbl>
          </a:graphicData>
        </a:graphic>
      </p:graphicFrame>
      <p:graphicFrame>
        <p:nvGraphicFramePr>
          <p:cNvPr id="84" name="Table 72">
            <a:extLst>
              <a:ext uri="{FF2B5EF4-FFF2-40B4-BE49-F238E27FC236}">
                <a16:creationId xmlns:a16="http://schemas.microsoft.com/office/drawing/2014/main" id="{BA920726-51BD-C356-18FF-B24C00B5FCC1}"/>
              </a:ext>
            </a:extLst>
          </p:cNvPr>
          <p:cNvGraphicFramePr>
            <a:graphicFrameLocks noGrp="1"/>
          </p:cNvGraphicFramePr>
          <p:nvPr/>
        </p:nvGraphicFramePr>
        <p:xfrm>
          <a:off x="8545677" y="1370951"/>
          <a:ext cx="216000" cy="42672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5"/>
                    </a:solidFill>
                  </a:tcPr>
                </a:tc>
                <a:extLst>
                  <a:ext uri="{0D108BD9-81ED-4DB2-BD59-A6C34878D82A}">
                    <a16:rowId xmlns:a16="http://schemas.microsoft.com/office/drawing/2014/main" val="2461034141"/>
                  </a:ext>
                </a:extLst>
              </a:tr>
            </a:tbl>
          </a:graphicData>
        </a:graphic>
      </p:graphicFrame>
      <p:sp>
        <p:nvSpPr>
          <p:cNvPr id="85" name="TextBox 84">
            <a:extLst>
              <a:ext uri="{FF2B5EF4-FFF2-40B4-BE49-F238E27FC236}">
                <a16:creationId xmlns:a16="http://schemas.microsoft.com/office/drawing/2014/main" id="{1C6DCB50-9241-3D0B-1ECC-B210046B1700}"/>
              </a:ext>
            </a:extLst>
          </p:cNvPr>
          <p:cNvSpPr txBox="1"/>
          <p:nvPr/>
        </p:nvSpPr>
        <p:spPr>
          <a:xfrm>
            <a:off x="4777000" y="2415424"/>
            <a:ext cx="1823451" cy="461665"/>
          </a:xfrm>
          <a:prstGeom prst="rect">
            <a:avLst/>
          </a:prstGeom>
          <a:noFill/>
        </p:spPr>
        <p:txBody>
          <a:bodyPr wrap="square" rtlCol="0">
            <a:spAutoFit/>
          </a:bodyPr>
          <a:lstStyle/>
          <a:p>
            <a:pPr algn="ctr"/>
            <a:r>
              <a:rPr lang="en-US" sz="1200" dirty="0"/>
              <a:t>Random Orthogonal </a:t>
            </a:r>
            <a:r>
              <a:rPr lang="en-US" sz="1200" b="1" dirty="0"/>
              <a:t>Projection</a:t>
            </a:r>
          </a:p>
        </p:txBody>
      </p:sp>
      <p:sp>
        <p:nvSpPr>
          <p:cNvPr id="86" name="TextBox 85">
            <a:extLst>
              <a:ext uri="{FF2B5EF4-FFF2-40B4-BE49-F238E27FC236}">
                <a16:creationId xmlns:a16="http://schemas.microsoft.com/office/drawing/2014/main" id="{AC709481-9118-1BBD-4DDB-8CEF7D187C9D}"/>
              </a:ext>
            </a:extLst>
          </p:cNvPr>
          <p:cNvSpPr txBox="1"/>
          <p:nvPr/>
        </p:nvSpPr>
        <p:spPr>
          <a:xfrm>
            <a:off x="7777924" y="2395383"/>
            <a:ext cx="1751505" cy="307777"/>
          </a:xfrm>
          <a:prstGeom prst="rect">
            <a:avLst/>
          </a:prstGeom>
          <a:noFill/>
        </p:spPr>
        <p:txBody>
          <a:bodyPr wrap="none" rtlCol="0">
            <a:spAutoFit/>
          </a:bodyPr>
          <a:lstStyle/>
          <a:p>
            <a:r>
              <a:rPr lang="en-US" sz="1400" dirty="0"/>
              <a:t>projected data vector</a:t>
            </a: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FBA8013-F476-93AE-A313-312E5BAA018D}"/>
                  </a:ext>
                </a:extLst>
              </p:cNvPr>
              <p:cNvSpPr txBox="1"/>
              <p:nvPr/>
            </p:nvSpPr>
            <p:spPr>
              <a:xfrm>
                <a:off x="6337763" y="3245651"/>
                <a:ext cx="4106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oMath>
                  </m:oMathPara>
                </a14:m>
                <a:endParaRPr lang="en-US" dirty="0"/>
              </a:p>
            </p:txBody>
          </p:sp>
        </mc:Choice>
        <mc:Fallback xmlns="">
          <p:sp>
            <p:nvSpPr>
              <p:cNvPr id="87" name="TextBox 86">
                <a:extLst>
                  <a:ext uri="{FF2B5EF4-FFF2-40B4-BE49-F238E27FC236}">
                    <a16:creationId xmlns:a16="http://schemas.microsoft.com/office/drawing/2014/main" id="{6FBA8013-F476-93AE-A313-312E5BAA018D}"/>
                  </a:ext>
                </a:extLst>
              </p:cNvPr>
              <p:cNvSpPr txBox="1">
                <a:spLocks noRot="1" noChangeAspect="1" noMove="1" noResize="1" noEditPoints="1" noAdjustHandles="1" noChangeArrowheads="1" noChangeShapeType="1" noTextEdit="1"/>
              </p:cNvSpPr>
              <p:nvPr/>
            </p:nvSpPr>
            <p:spPr>
              <a:xfrm>
                <a:off x="6337763" y="3245651"/>
                <a:ext cx="41068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DA227C2-8074-AD07-C2C5-3CBD19F4BE1A}"/>
                  </a:ext>
                </a:extLst>
              </p:cNvPr>
              <p:cNvSpPr txBox="1"/>
              <p:nvPr/>
            </p:nvSpPr>
            <p:spPr>
              <a:xfrm>
                <a:off x="4418610" y="3240593"/>
                <a:ext cx="4026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88" name="TextBox 87">
                <a:extLst>
                  <a:ext uri="{FF2B5EF4-FFF2-40B4-BE49-F238E27FC236}">
                    <a16:creationId xmlns:a16="http://schemas.microsoft.com/office/drawing/2014/main" id="{FDA227C2-8074-AD07-C2C5-3CBD19F4BE1A}"/>
                  </a:ext>
                </a:extLst>
              </p:cNvPr>
              <p:cNvSpPr txBox="1">
                <a:spLocks noRot="1" noChangeAspect="1" noMove="1" noResize="1" noEditPoints="1" noAdjustHandles="1" noChangeArrowheads="1" noChangeShapeType="1" noTextEdit="1"/>
              </p:cNvSpPr>
              <p:nvPr/>
            </p:nvSpPr>
            <p:spPr>
              <a:xfrm>
                <a:off x="4418610" y="3240593"/>
                <a:ext cx="402674" cy="369332"/>
              </a:xfrm>
              <a:prstGeom prst="rect">
                <a:avLst/>
              </a:prstGeom>
              <a:blipFill>
                <a:blip r:embed="rId7"/>
                <a:stretch>
                  <a:fillRect/>
                </a:stretch>
              </a:blipFill>
            </p:spPr>
            <p:txBody>
              <a:bodyPr/>
              <a:lstStyle/>
              <a:p>
                <a:r>
                  <a:rPr lang="en-US">
                    <a:noFill/>
                  </a:rPr>
                  <a:t> </a:t>
                </a:r>
              </a:p>
            </p:txBody>
          </p:sp>
        </mc:Fallback>
      </mc:AlternateContent>
      <p:sp>
        <p:nvSpPr>
          <p:cNvPr id="89" name="TextBox 88">
            <a:extLst>
              <a:ext uri="{FF2B5EF4-FFF2-40B4-BE49-F238E27FC236}">
                <a16:creationId xmlns:a16="http://schemas.microsoft.com/office/drawing/2014/main" id="{3F4B3D22-0447-32A8-F5C2-9E78F9BF0A1B}"/>
              </a:ext>
            </a:extLst>
          </p:cNvPr>
          <p:cNvSpPr txBox="1"/>
          <p:nvPr/>
        </p:nvSpPr>
        <p:spPr>
          <a:xfrm>
            <a:off x="5213789" y="4135892"/>
            <a:ext cx="1010918" cy="307777"/>
          </a:xfrm>
          <a:prstGeom prst="rect">
            <a:avLst/>
          </a:prstGeom>
          <a:noFill/>
        </p:spPr>
        <p:txBody>
          <a:bodyPr wrap="none" rtlCol="0">
            <a:spAutoFit/>
          </a:bodyPr>
          <a:lstStyle/>
          <a:p>
            <a:r>
              <a:rPr lang="en-US" sz="1400" dirty="0"/>
              <a:t>data vector</a:t>
            </a:r>
          </a:p>
        </p:txBody>
      </p:sp>
      <p:graphicFrame>
        <p:nvGraphicFramePr>
          <p:cNvPr id="90" name="Table 72">
            <a:extLst>
              <a:ext uri="{FF2B5EF4-FFF2-40B4-BE49-F238E27FC236}">
                <a16:creationId xmlns:a16="http://schemas.microsoft.com/office/drawing/2014/main" id="{62682BED-97DB-1EEC-E4E4-49B5090A19C4}"/>
              </a:ext>
            </a:extLst>
          </p:cNvPr>
          <p:cNvGraphicFramePr>
            <a:graphicFrameLocks noGrp="1"/>
          </p:cNvGraphicFramePr>
          <p:nvPr/>
        </p:nvGraphicFramePr>
        <p:xfrm>
          <a:off x="3275626" y="3030439"/>
          <a:ext cx="864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gridCol w="216000">
                  <a:extLst>
                    <a:ext uri="{9D8B030D-6E8A-4147-A177-3AD203B41FA5}">
                      <a16:colId xmlns:a16="http://schemas.microsoft.com/office/drawing/2014/main" val="2601217576"/>
                    </a:ext>
                  </a:extLst>
                </a:gridCol>
                <a:gridCol w="216000">
                  <a:extLst>
                    <a:ext uri="{9D8B030D-6E8A-4147-A177-3AD203B41FA5}">
                      <a16:colId xmlns:a16="http://schemas.microsoft.com/office/drawing/2014/main" val="525891364"/>
                    </a:ext>
                  </a:extLst>
                </a:gridCol>
                <a:gridCol w="216000">
                  <a:extLst>
                    <a:ext uri="{9D8B030D-6E8A-4147-A177-3AD203B41FA5}">
                      <a16:colId xmlns:a16="http://schemas.microsoft.com/office/drawing/2014/main" val="3637733457"/>
                    </a:ext>
                  </a:extLst>
                </a:gridCol>
              </a:tblGrid>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a:p>
                  </a:txBody>
                  <a:tcPr>
                    <a:solidFill>
                      <a:schemeClr val="accent5"/>
                    </a:solidFill>
                  </a:tcPr>
                </a:tc>
                <a:tc>
                  <a:txBody>
                    <a:bodyPr/>
                    <a:lstStyle/>
                    <a:p>
                      <a:endParaRPr lang="en-US" sz="800" dirty="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extLst>
                  <a:ext uri="{0D108BD9-81ED-4DB2-BD59-A6C34878D82A}">
                    <a16:rowId xmlns:a16="http://schemas.microsoft.com/office/drawing/2014/main" val="2461034141"/>
                  </a:ext>
                </a:extLst>
              </a:tr>
              <a:tr h="208439">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434665891"/>
                  </a:ext>
                </a:extLst>
              </a:tr>
              <a:tr h="208439">
                <a:tc>
                  <a:txBody>
                    <a:bodyPr/>
                    <a:lstStyle/>
                    <a:p>
                      <a:endParaRPr lang="en-US" sz="800"/>
                    </a:p>
                  </a:txBody>
                  <a:tcPr>
                    <a:solidFill>
                      <a:schemeClr val="accent5"/>
                    </a:solidFill>
                  </a:tcPr>
                </a:tc>
                <a:tc>
                  <a:txBody>
                    <a:bodyPr/>
                    <a:lstStyle/>
                    <a:p>
                      <a:endParaRPr lang="en-US" sz="800" dirty="0"/>
                    </a:p>
                  </a:txBody>
                  <a:tcPr>
                    <a:solidFill>
                      <a:schemeClr val="accent5"/>
                    </a:solidFill>
                  </a:tcPr>
                </a:tc>
                <a:tc>
                  <a:txBody>
                    <a:bodyPr/>
                    <a:lstStyle/>
                    <a:p>
                      <a:endParaRPr lang="en-US" sz="80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4272068050"/>
                  </a:ext>
                </a:extLst>
              </a:tr>
            </a:tbl>
          </a:graphicData>
        </a:graphic>
      </p:graphicFrame>
      <p:sp>
        <p:nvSpPr>
          <p:cNvPr id="91" name="TextBox 90">
            <a:extLst>
              <a:ext uri="{FF2B5EF4-FFF2-40B4-BE49-F238E27FC236}">
                <a16:creationId xmlns:a16="http://schemas.microsoft.com/office/drawing/2014/main" id="{A696F4BF-9096-FAB8-F2EF-DBF6FE262F22}"/>
              </a:ext>
            </a:extLst>
          </p:cNvPr>
          <p:cNvSpPr txBox="1"/>
          <p:nvPr/>
        </p:nvSpPr>
        <p:spPr>
          <a:xfrm>
            <a:off x="2796496" y="4168211"/>
            <a:ext cx="1823451" cy="461665"/>
          </a:xfrm>
          <a:prstGeom prst="rect">
            <a:avLst/>
          </a:prstGeom>
          <a:noFill/>
        </p:spPr>
        <p:txBody>
          <a:bodyPr wrap="square" rtlCol="0">
            <a:spAutoFit/>
          </a:bodyPr>
          <a:lstStyle/>
          <a:p>
            <a:pPr algn="ctr"/>
            <a:r>
              <a:rPr lang="en-US" sz="1200" dirty="0"/>
              <a:t>Random Orthogonal </a:t>
            </a:r>
            <a:r>
              <a:rPr lang="en-US" sz="1200" b="1" dirty="0"/>
              <a:t>Transformation</a:t>
            </a:r>
          </a:p>
        </p:txBody>
      </p:sp>
      <p:graphicFrame>
        <p:nvGraphicFramePr>
          <p:cNvPr id="95" name="Table 72">
            <a:extLst>
              <a:ext uri="{FF2B5EF4-FFF2-40B4-BE49-F238E27FC236}">
                <a16:creationId xmlns:a16="http://schemas.microsoft.com/office/drawing/2014/main" id="{615CFAB3-3065-AE79-B143-089C092DE9E2}"/>
              </a:ext>
            </a:extLst>
          </p:cNvPr>
          <p:cNvGraphicFramePr>
            <a:graphicFrameLocks noGrp="1"/>
          </p:cNvGraphicFramePr>
          <p:nvPr/>
        </p:nvGraphicFramePr>
        <p:xfrm>
          <a:off x="5580725" y="3025616"/>
          <a:ext cx="216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chemeClr val="accent4"/>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2461034141"/>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434665891"/>
                  </a:ext>
                </a:extLst>
              </a:tr>
              <a:tr h="208439">
                <a:tc>
                  <a:txBody>
                    <a:bodyPr/>
                    <a:lstStyle/>
                    <a:p>
                      <a:endParaRPr lang="en-US" sz="800" dirty="0"/>
                    </a:p>
                  </a:txBody>
                  <a:tcPr>
                    <a:solidFill>
                      <a:schemeClr val="accent4"/>
                    </a:solidFill>
                  </a:tcPr>
                </a:tc>
                <a:extLst>
                  <a:ext uri="{0D108BD9-81ED-4DB2-BD59-A6C34878D82A}">
                    <a16:rowId xmlns:a16="http://schemas.microsoft.com/office/drawing/2014/main" val="4272068050"/>
                  </a:ext>
                </a:extLst>
              </a:tr>
            </a:tbl>
          </a:graphicData>
        </a:graphic>
      </p:graphicFrame>
      <p:sp>
        <p:nvSpPr>
          <p:cNvPr id="98" name="TextBox 97">
            <a:extLst>
              <a:ext uri="{FF2B5EF4-FFF2-40B4-BE49-F238E27FC236}">
                <a16:creationId xmlns:a16="http://schemas.microsoft.com/office/drawing/2014/main" id="{40618F11-D70D-A3E6-F192-6FF10FDD62A0}"/>
              </a:ext>
            </a:extLst>
          </p:cNvPr>
          <p:cNvSpPr txBox="1"/>
          <p:nvPr/>
        </p:nvSpPr>
        <p:spPr>
          <a:xfrm>
            <a:off x="6491487" y="4137433"/>
            <a:ext cx="1173927" cy="523220"/>
          </a:xfrm>
          <a:prstGeom prst="rect">
            <a:avLst/>
          </a:prstGeom>
          <a:noFill/>
        </p:spPr>
        <p:txBody>
          <a:bodyPr wrap="square" rtlCol="0">
            <a:spAutoFit/>
          </a:bodyPr>
          <a:lstStyle/>
          <a:p>
            <a:pPr algn="ctr"/>
            <a:r>
              <a:rPr lang="en-US" sz="1400" dirty="0"/>
              <a:t>transformed data vector</a:t>
            </a:r>
          </a:p>
        </p:txBody>
      </p:sp>
      <p:graphicFrame>
        <p:nvGraphicFramePr>
          <p:cNvPr id="99" name="Table 72">
            <a:extLst>
              <a:ext uri="{FF2B5EF4-FFF2-40B4-BE49-F238E27FC236}">
                <a16:creationId xmlns:a16="http://schemas.microsoft.com/office/drawing/2014/main" id="{3FCB22C7-92C6-F538-D80F-06365D02C91E}"/>
              </a:ext>
            </a:extLst>
          </p:cNvPr>
          <p:cNvGraphicFramePr>
            <a:graphicFrameLocks noGrp="1"/>
          </p:cNvGraphicFramePr>
          <p:nvPr/>
        </p:nvGraphicFramePr>
        <p:xfrm>
          <a:off x="6970451" y="3025616"/>
          <a:ext cx="216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5"/>
                    </a:solidFill>
                  </a:tcPr>
                </a:tc>
                <a:extLst>
                  <a:ext uri="{0D108BD9-81ED-4DB2-BD59-A6C34878D82A}">
                    <a16:rowId xmlns:a16="http://schemas.microsoft.com/office/drawing/2014/main" val="2461034141"/>
                  </a:ext>
                </a:extLst>
              </a:tr>
              <a:tr h="208439">
                <a:tc>
                  <a:txBody>
                    <a:bodyPr/>
                    <a:lstStyle/>
                    <a:p>
                      <a:endParaRPr lang="en-US" sz="800" dirty="0"/>
                    </a:p>
                  </a:txBody>
                  <a:tcPr>
                    <a:solidFill>
                      <a:schemeClr val="accent5"/>
                    </a:solidFill>
                  </a:tcPr>
                </a:tc>
                <a:extLst>
                  <a:ext uri="{0D108BD9-81ED-4DB2-BD59-A6C34878D82A}">
                    <a16:rowId xmlns:a16="http://schemas.microsoft.com/office/drawing/2014/main" val="434665891"/>
                  </a:ext>
                </a:extLst>
              </a:tr>
              <a:tr h="208439">
                <a:tc>
                  <a:txBody>
                    <a:bodyPr/>
                    <a:lstStyle/>
                    <a:p>
                      <a:endParaRPr lang="en-US" sz="800" dirty="0"/>
                    </a:p>
                  </a:txBody>
                  <a:tcPr>
                    <a:solidFill>
                      <a:schemeClr val="accent5"/>
                    </a:solidFill>
                  </a:tcPr>
                </a:tc>
                <a:extLst>
                  <a:ext uri="{0D108BD9-81ED-4DB2-BD59-A6C34878D82A}">
                    <a16:rowId xmlns:a16="http://schemas.microsoft.com/office/drawing/2014/main" val="4272068050"/>
                  </a:ext>
                </a:extLst>
              </a:tr>
            </a:tbl>
          </a:graphicData>
        </a:graphic>
      </p:graphicFrame>
      <p:cxnSp>
        <p:nvCxnSpPr>
          <p:cNvPr id="100" name="Straight Arrow Connector 99">
            <a:extLst>
              <a:ext uri="{FF2B5EF4-FFF2-40B4-BE49-F238E27FC236}">
                <a16:creationId xmlns:a16="http://schemas.microsoft.com/office/drawing/2014/main" id="{370F143F-F11A-003C-27FC-E10E8945AA3B}"/>
              </a:ext>
            </a:extLst>
          </p:cNvPr>
          <p:cNvCxnSpPr>
            <a:cxnSpLocks/>
          </p:cNvCxnSpPr>
          <p:nvPr/>
        </p:nvCxnSpPr>
        <p:spPr>
          <a:xfrm>
            <a:off x="7704782" y="3404311"/>
            <a:ext cx="682353"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EFA7F5AC-F576-C816-7ECA-72D0C09C43B0}"/>
              </a:ext>
            </a:extLst>
          </p:cNvPr>
          <p:cNvSpPr txBox="1"/>
          <p:nvPr/>
        </p:nvSpPr>
        <p:spPr>
          <a:xfrm>
            <a:off x="7610165" y="3147083"/>
            <a:ext cx="871585" cy="276999"/>
          </a:xfrm>
          <a:prstGeom prst="rect">
            <a:avLst/>
          </a:prstGeom>
          <a:noFill/>
        </p:spPr>
        <p:txBody>
          <a:bodyPr wrap="none" rtlCol="0">
            <a:spAutoFit/>
          </a:bodyPr>
          <a:lstStyle/>
          <a:p>
            <a:r>
              <a:rPr lang="en-US" sz="1200" b="1" dirty="0">
                <a:solidFill>
                  <a:schemeClr val="accent5"/>
                </a:solidFill>
              </a:rPr>
              <a:t>subsample</a:t>
            </a:r>
          </a:p>
        </p:txBody>
      </p:sp>
      <p:graphicFrame>
        <p:nvGraphicFramePr>
          <p:cNvPr id="102" name="Table 72">
            <a:extLst>
              <a:ext uri="{FF2B5EF4-FFF2-40B4-BE49-F238E27FC236}">
                <a16:creationId xmlns:a16="http://schemas.microsoft.com/office/drawing/2014/main" id="{F03C47D0-2A82-E018-2B4C-6196D56C3C00}"/>
              </a:ext>
            </a:extLst>
          </p:cNvPr>
          <p:cNvGraphicFramePr>
            <a:graphicFrameLocks noGrp="1"/>
          </p:cNvGraphicFramePr>
          <p:nvPr/>
        </p:nvGraphicFramePr>
        <p:xfrm>
          <a:off x="8545677" y="3029088"/>
          <a:ext cx="216000" cy="42672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chemeClr val="accent5"/>
                    </a:solidFill>
                  </a:tcPr>
                </a:tc>
                <a:extLst>
                  <a:ext uri="{0D108BD9-81ED-4DB2-BD59-A6C34878D82A}">
                    <a16:rowId xmlns:a16="http://schemas.microsoft.com/office/drawing/2014/main" val="1699416053"/>
                  </a:ext>
                </a:extLst>
              </a:tr>
              <a:tr h="208439">
                <a:tc>
                  <a:txBody>
                    <a:bodyPr/>
                    <a:lstStyle/>
                    <a:p>
                      <a:endParaRPr lang="en-US" sz="800" dirty="0"/>
                    </a:p>
                  </a:txBody>
                  <a:tcPr>
                    <a:solidFill>
                      <a:schemeClr val="accent5"/>
                    </a:solidFill>
                  </a:tcPr>
                </a:tc>
                <a:extLst>
                  <a:ext uri="{0D108BD9-81ED-4DB2-BD59-A6C34878D82A}">
                    <a16:rowId xmlns:a16="http://schemas.microsoft.com/office/drawing/2014/main" val="2461034141"/>
                  </a:ext>
                </a:extLst>
              </a:tr>
            </a:tbl>
          </a:graphicData>
        </a:graphic>
      </p:graphicFrame>
      <p:sp>
        <p:nvSpPr>
          <p:cNvPr id="103" name="TextBox 102">
            <a:extLst>
              <a:ext uri="{FF2B5EF4-FFF2-40B4-BE49-F238E27FC236}">
                <a16:creationId xmlns:a16="http://schemas.microsoft.com/office/drawing/2014/main" id="{38CBE217-009D-C2F8-C88F-96B5A46AFBF6}"/>
              </a:ext>
            </a:extLst>
          </p:cNvPr>
          <p:cNvSpPr txBox="1"/>
          <p:nvPr/>
        </p:nvSpPr>
        <p:spPr>
          <a:xfrm>
            <a:off x="7990349" y="4138350"/>
            <a:ext cx="1338180" cy="307777"/>
          </a:xfrm>
          <a:prstGeom prst="rect">
            <a:avLst/>
          </a:prstGeom>
          <a:noFill/>
        </p:spPr>
        <p:txBody>
          <a:bodyPr wrap="square" rtlCol="0">
            <a:spAutoFit/>
          </a:bodyPr>
          <a:lstStyle/>
          <a:p>
            <a:pPr algn="ctr"/>
            <a:r>
              <a:rPr lang="en-US" sz="1400" dirty="0"/>
              <a:t>sampled vector</a:t>
            </a:r>
          </a:p>
        </p:txBody>
      </p:sp>
      <p:sp>
        <p:nvSpPr>
          <p:cNvPr id="104" name="TextBox 103">
            <a:extLst>
              <a:ext uri="{FF2B5EF4-FFF2-40B4-BE49-F238E27FC236}">
                <a16:creationId xmlns:a16="http://schemas.microsoft.com/office/drawing/2014/main" id="{DE8273FB-5B85-E9E3-E763-7655759273CA}"/>
              </a:ext>
            </a:extLst>
          </p:cNvPr>
          <p:cNvSpPr txBox="1"/>
          <p:nvPr/>
        </p:nvSpPr>
        <p:spPr>
          <a:xfrm>
            <a:off x="640981" y="1835967"/>
            <a:ext cx="1981120" cy="369332"/>
          </a:xfrm>
          <a:prstGeom prst="rect">
            <a:avLst/>
          </a:prstGeom>
          <a:noFill/>
        </p:spPr>
        <p:txBody>
          <a:bodyPr wrap="none" rtlCol="0">
            <a:spAutoFit/>
          </a:bodyPr>
          <a:lstStyle/>
          <a:p>
            <a:r>
              <a:rPr lang="en-US" dirty="0"/>
              <a:t>Random Projection</a:t>
            </a:r>
          </a:p>
        </p:txBody>
      </p:sp>
      <p:sp>
        <p:nvSpPr>
          <p:cNvPr id="105" name="TextBox 104">
            <a:extLst>
              <a:ext uri="{FF2B5EF4-FFF2-40B4-BE49-F238E27FC236}">
                <a16:creationId xmlns:a16="http://schemas.microsoft.com/office/drawing/2014/main" id="{AA64DA7B-2209-1F73-D9A5-D9DAB91CE4B2}"/>
              </a:ext>
            </a:extLst>
          </p:cNvPr>
          <p:cNvSpPr txBox="1"/>
          <p:nvPr/>
        </p:nvSpPr>
        <p:spPr>
          <a:xfrm>
            <a:off x="-186082" y="3360635"/>
            <a:ext cx="3617057" cy="646331"/>
          </a:xfrm>
          <a:prstGeom prst="rect">
            <a:avLst/>
          </a:prstGeom>
          <a:noFill/>
        </p:spPr>
        <p:txBody>
          <a:bodyPr wrap="square" rtlCol="0">
            <a:spAutoFit/>
          </a:bodyPr>
          <a:lstStyle/>
          <a:p>
            <a:pPr algn="ctr"/>
            <a:r>
              <a:rPr lang="en-US" dirty="0"/>
              <a:t>Dimension Sampling </a:t>
            </a:r>
          </a:p>
          <a:p>
            <a:pPr algn="ctr"/>
            <a:r>
              <a:rPr lang="en-US" dirty="0"/>
              <a:t>on Transformed Vectors</a:t>
            </a:r>
          </a:p>
        </p:txBody>
      </p:sp>
      <p:sp>
        <p:nvSpPr>
          <p:cNvPr id="106" name="Rectangle 105">
            <a:extLst>
              <a:ext uri="{FF2B5EF4-FFF2-40B4-BE49-F238E27FC236}">
                <a16:creationId xmlns:a16="http://schemas.microsoft.com/office/drawing/2014/main" id="{BDEF4742-85B2-F164-FDDC-B09B2553F81D}"/>
              </a:ext>
            </a:extLst>
          </p:cNvPr>
          <p:cNvSpPr/>
          <p:nvPr/>
        </p:nvSpPr>
        <p:spPr>
          <a:xfrm>
            <a:off x="2912435" y="1228404"/>
            <a:ext cx="6736257" cy="16581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6F6C6F86-97BD-CC8B-7050-B2B60602AC6C}"/>
              </a:ext>
            </a:extLst>
          </p:cNvPr>
          <p:cNvSpPr txBox="1"/>
          <p:nvPr/>
        </p:nvSpPr>
        <p:spPr>
          <a:xfrm>
            <a:off x="2912881" y="914311"/>
            <a:ext cx="1076320" cy="307777"/>
          </a:xfrm>
          <a:prstGeom prst="rect">
            <a:avLst/>
          </a:prstGeom>
          <a:noFill/>
        </p:spPr>
        <p:txBody>
          <a:bodyPr wrap="none" rtlCol="0">
            <a:spAutoFit/>
          </a:bodyPr>
          <a:lstStyle/>
          <a:p>
            <a:r>
              <a:rPr lang="en-US" sz="1400" b="1" dirty="0">
                <a:solidFill>
                  <a:srgbClr val="FF0000"/>
                </a:solidFill>
              </a:rPr>
              <a:t>Index Phase</a:t>
            </a:r>
          </a:p>
        </p:txBody>
      </p:sp>
      <p:sp>
        <p:nvSpPr>
          <p:cNvPr id="108" name="Rectangle 107">
            <a:extLst>
              <a:ext uri="{FF2B5EF4-FFF2-40B4-BE49-F238E27FC236}">
                <a16:creationId xmlns:a16="http://schemas.microsoft.com/office/drawing/2014/main" id="{D44F9AE8-52E5-234B-AFE2-09836E02B2CE}"/>
              </a:ext>
            </a:extLst>
          </p:cNvPr>
          <p:cNvSpPr/>
          <p:nvPr/>
        </p:nvSpPr>
        <p:spPr>
          <a:xfrm>
            <a:off x="2912436" y="2954477"/>
            <a:ext cx="4646611" cy="16581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0761671E-E1A5-A34E-D426-C18001D2F677}"/>
              </a:ext>
            </a:extLst>
          </p:cNvPr>
          <p:cNvSpPr/>
          <p:nvPr/>
        </p:nvSpPr>
        <p:spPr>
          <a:xfrm>
            <a:off x="7610163" y="2954476"/>
            <a:ext cx="3915893" cy="16754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a16="http://schemas.microsoft.com/office/drawing/2014/main" id="{0115EC10-EFF8-866D-0DE9-5B51504AE141}"/>
              </a:ext>
            </a:extLst>
          </p:cNvPr>
          <p:cNvSpPr txBox="1"/>
          <p:nvPr/>
        </p:nvSpPr>
        <p:spPr>
          <a:xfrm>
            <a:off x="10399657" y="945111"/>
            <a:ext cx="1126399" cy="307777"/>
          </a:xfrm>
          <a:prstGeom prst="rect">
            <a:avLst/>
          </a:prstGeom>
          <a:noFill/>
        </p:spPr>
        <p:txBody>
          <a:bodyPr wrap="none" rtlCol="0">
            <a:spAutoFit/>
          </a:bodyPr>
          <a:lstStyle/>
          <a:p>
            <a:r>
              <a:rPr lang="en-US" sz="1400" b="1" dirty="0">
                <a:solidFill>
                  <a:srgbClr val="0000FF"/>
                </a:solidFill>
              </a:rPr>
              <a:t>Query Phase</a:t>
            </a:r>
          </a:p>
        </p:txBody>
      </p:sp>
      <p:sp>
        <p:nvSpPr>
          <p:cNvPr id="112" name="TextBox 111">
            <a:extLst>
              <a:ext uri="{FF2B5EF4-FFF2-40B4-BE49-F238E27FC236}">
                <a16:creationId xmlns:a16="http://schemas.microsoft.com/office/drawing/2014/main" id="{95F6062D-7446-884B-0319-4F3C491BF79C}"/>
              </a:ext>
            </a:extLst>
          </p:cNvPr>
          <p:cNvSpPr txBox="1"/>
          <p:nvPr/>
        </p:nvSpPr>
        <p:spPr>
          <a:xfrm>
            <a:off x="7752738" y="2606887"/>
            <a:ext cx="1809021" cy="307777"/>
          </a:xfrm>
          <a:prstGeom prst="rect">
            <a:avLst/>
          </a:prstGeom>
          <a:noFill/>
        </p:spPr>
        <p:txBody>
          <a:bodyPr wrap="none" rtlCol="0">
            <a:spAutoFit/>
          </a:bodyPr>
          <a:lstStyle/>
          <a:p>
            <a:r>
              <a:rPr lang="en-US" sz="1400" b="1" dirty="0">
                <a:solidFill>
                  <a:srgbClr val="FF0000"/>
                </a:solidFill>
              </a:rPr>
              <a:t>(fixed dimensionality)</a:t>
            </a:r>
          </a:p>
        </p:txBody>
      </p:sp>
      <p:sp>
        <p:nvSpPr>
          <p:cNvPr id="113" name="Rounded Rectangle 112">
            <a:extLst>
              <a:ext uri="{FF2B5EF4-FFF2-40B4-BE49-F238E27FC236}">
                <a16:creationId xmlns:a16="http://schemas.microsoft.com/office/drawing/2014/main" id="{52BB6085-B863-292D-10E5-5445A0B94704}"/>
              </a:ext>
            </a:extLst>
          </p:cNvPr>
          <p:cNvSpPr/>
          <p:nvPr/>
        </p:nvSpPr>
        <p:spPr>
          <a:xfrm>
            <a:off x="3019125" y="1301710"/>
            <a:ext cx="1940153" cy="1547077"/>
          </a:xfrm>
          <a:prstGeom prst="roundRect">
            <a:avLst/>
          </a:prstGeom>
          <a:noFill/>
          <a:ln w="476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D5AC2216-BA15-D7EA-0831-2487312A827B}"/>
              </a:ext>
            </a:extLst>
          </p:cNvPr>
          <p:cNvSpPr txBox="1"/>
          <p:nvPr/>
        </p:nvSpPr>
        <p:spPr>
          <a:xfrm>
            <a:off x="7658661" y="4358904"/>
            <a:ext cx="1990032" cy="307777"/>
          </a:xfrm>
          <a:prstGeom prst="rect">
            <a:avLst/>
          </a:prstGeom>
          <a:noFill/>
        </p:spPr>
        <p:txBody>
          <a:bodyPr wrap="none" rtlCol="0">
            <a:spAutoFit/>
          </a:bodyPr>
          <a:lstStyle/>
          <a:p>
            <a:r>
              <a:rPr lang="en-US" sz="1400" b="1" dirty="0">
                <a:solidFill>
                  <a:srgbClr val="0000FF"/>
                </a:solidFill>
              </a:rPr>
              <a:t>(flexible dimensionality)</a:t>
            </a:r>
          </a:p>
        </p:txBody>
      </p:sp>
      <p:cxnSp>
        <p:nvCxnSpPr>
          <p:cNvPr id="115" name="Straight Arrow Connector 114">
            <a:extLst>
              <a:ext uri="{FF2B5EF4-FFF2-40B4-BE49-F238E27FC236}">
                <a16:creationId xmlns:a16="http://schemas.microsoft.com/office/drawing/2014/main" id="{EC3CE1B3-ACF4-7874-CFF0-519A845504C2}"/>
              </a:ext>
            </a:extLst>
          </p:cNvPr>
          <p:cNvCxnSpPr>
            <a:cxnSpLocks/>
          </p:cNvCxnSpPr>
          <p:nvPr/>
        </p:nvCxnSpPr>
        <p:spPr>
          <a:xfrm>
            <a:off x="4232834" y="1775668"/>
            <a:ext cx="682353"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525B4C1-0BB8-C31E-83FC-55E7F9B8C168}"/>
              </a:ext>
            </a:extLst>
          </p:cNvPr>
          <p:cNvSpPr txBox="1"/>
          <p:nvPr/>
        </p:nvSpPr>
        <p:spPr>
          <a:xfrm>
            <a:off x="4175952" y="1520672"/>
            <a:ext cx="746999" cy="276999"/>
          </a:xfrm>
          <a:prstGeom prst="rect">
            <a:avLst/>
          </a:prstGeom>
          <a:noFill/>
        </p:spPr>
        <p:txBody>
          <a:bodyPr wrap="none" rtlCol="0">
            <a:spAutoFit/>
          </a:bodyPr>
          <a:lstStyle/>
          <a:p>
            <a:r>
              <a:rPr lang="en-US" sz="1200" b="1" dirty="0">
                <a:solidFill>
                  <a:schemeClr val="accent5"/>
                </a:solidFill>
              </a:rPr>
              <a:t>generate</a:t>
            </a:r>
          </a:p>
        </p:txBody>
      </p:sp>
      <p:sp>
        <p:nvSpPr>
          <p:cNvPr id="117" name="TextBox 116">
            <a:extLst>
              <a:ext uri="{FF2B5EF4-FFF2-40B4-BE49-F238E27FC236}">
                <a16:creationId xmlns:a16="http://schemas.microsoft.com/office/drawing/2014/main" id="{5EC57450-78AD-A211-4981-F8B2544747D6}"/>
              </a:ext>
            </a:extLst>
          </p:cNvPr>
          <p:cNvSpPr txBox="1"/>
          <p:nvPr/>
        </p:nvSpPr>
        <p:spPr>
          <a:xfrm>
            <a:off x="4407001" y="1390832"/>
            <a:ext cx="375424" cy="584775"/>
          </a:xfrm>
          <a:prstGeom prst="rect">
            <a:avLst/>
          </a:prstGeom>
          <a:noFill/>
        </p:spPr>
        <p:txBody>
          <a:bodyPr wrap="none" rtlCol="0">
            <a:spAutoFit/>
          </a:bodyPr>
          <a:lstStyle/>
          <a:p>
            <a:r>
              <a:rPr lang="en-US" sz="3200" b="1" dirty="0">
                <a:solidFill>
                  <a:srgbClr val="FF0000"/>
                </a:solidFill>
              </a:rPr>
              <a:t>?</a:t>
            </a:r>
          </a:p>
        </p:txBody>
      </p:sp>
      <p:sp>
        <p:nvSpPr>
          <p:cNvPr id="5" name="Rectangle 4">
            <a:extLst>
              <a:ext uri="{FF2B5EF4-FFF2-40B4-BE49-F238E27FC236}">
                <a16:creationId xmlns:a16="http://schemas.microsoft.com/office/drawing/2014/main" id="{71742F11-44B9-8653-1568-8C2DCA3E2ABF}"/>
              </a:ext>
            </a:extLst>
          </p:cNvPr>
          <p:cNvSpPr/>
          <p:nvPr/>
        </p:nvSpPr>
        <p:spPr>
          <a:xfrm>
            <a:off x="9698788" y="1235229"/>
            <a:ext cx="1827268" cy="1658159"/>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Table 72">
            <a:extLst>
              <a:ext uri="{FF2B5EF4-FFF2-40B4-BE49-F238E27FC236}">
                <a16:creationId xmlns:a16="http://schemas.microsoft.com/office/drawing/2014/main" id="{8F14A2E8-F827-8E6A-1585-5EFB69813986}"/>
              </a:ext>
            </a:extLst>
          </p:cNvPr>
          <p:cNvGraphicFramePr>
            <a:graphicFrameLocks noGrp="1"/>
          </p:cNvGraphicFramePr>
          <p:nvPr/>
        </p:nvGraphicFramePr>
        <p:xfrm>
          <a:off x="10023187" y="1374563"/>
          <a:ext cx="216000" cy="42672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rgbClr val="00B050"/>
                    </a:solidFill>
                  </a:tcPr>
                </a:tc>
                <a:extLst>
                  <a:ext uri="{0D108BD9-81ED-4DB2-BD59-A6C34878D82A}">
                    <a16:rowId xmlns:a16="http://schemas.microsoft.com/office/drawing/2014/main" val="1699416053"/>
                  </a:ext>
                </a:extLst>
              </a:tr>
              <a:tr h="208439">
                <a:tc>
                  <a:txBody>
                    <a:bodyPr/>
                    <a:lstStyle/>
                    <a:p>
                      <a:endParaRPr lang="en-US" sz="800" dirty="0"/>
                    </a:p>
                  </a:txBody>
                  <a:tcPr>
                    <a:solidFill>
                      <a:srgbClr val="00B050"/>
                    </a:solidFill>
                  </a:tcPr>
                </a:tc>
                <a:extLst>
                  <a:ext uri="{0D108BD9-81ED-4DB2-BD59-A6C34878D82A}">
                    <a16:rowId xmlns:a16="http://schemas.microsoft.com/office/drawing/2014/main" val="2461034141"/>
                  </a:ext>
                </a:extLst>
              </a:tr>
            </a:tbl>
          </a:graphicData>
        </a:graphic>
      </p:graphicFrame>
      <p:sp>
        <p:nvSpPr>
          <p:cNvPr id="18" name="TextBox 17">
            <a:extLst>
              <a:ext uri="{FF2B5EF4-FFF2-40B4-BE49-F238E27FC236}">
                <a16:creationId xmlns:a16="http://schemas.microsoft.com/office/drawing/2014/main" id="{BD57E579-F4F4-B6BA-76A2-7926B346ED24}"/>
              </a:ext>
            </a:extLst>
          </p:cNvPr>
          <p:cNvSpPr txBox="1"/>
          <p:nvPr/>
        </p:nvSpPr>
        <p:spPr>
          <a:xfrm>
            <a:off x="10254824" y="1322701"/>
            <a:ext cx="1228298" cy="523220"/>
          </a:xfrm>
          <a:prstGeom prst="rect">
            <a:avLst/>
          </a:prstGeom>
          <a:noFill/>
        </p:spPr>
        <p:txBody>
          <a:bodyPr wrap="square" rtlCol="0">
            <a:spAutoFit/>
          </a:bodyPr>
          <a:lstStyle/>
          <a:p>
            <a:pPr algn="ctr"/>
            <a:r>
              <a:rPr lang="en-US" sz="1400" dirty="0"/>
              <a:t>projected query vector</a:t>
            </a:r>
          </a:p>
        </p:txBody>
      </p:sp>
      <p:graphicFrame>
        <p:nvGraphicFramePr>
          <p:cNvPr id="23" name="Table 72">
            <a:extLst>
              <a:ext uri="{FF2B5EF4-FFF2-40B4-BE49-F238E27FC236}">
                <a16:creationId xmlns:a16="http://schemas.microsoft.com/office/drawing/2014/main" id="{E5C5F6CE-58F7-4508-FEF9-11D4925393A5}"/>
              </a:ext>
            </a:extLst>
          </p:cNvPr>
          <p:cNvGraphicFramePr>
            <a:graphicFrameLocks noGrp="1"/>
          </p:cNvGraphicFramePr>
          <p:nvPr/>
        </p:nvGraphicFramePr>
        <p:xfrm>
          <a:off x="10001084" y="3029088"/>
          <a:ext cx="216000" cy="85344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rgbClr val="00B050"/>
                    </a:solidFill>
                  </a:tcPr>
                </a:tc>
                <a:extLst>
                  <a:ext uri="{0D108BD9-81ED-4DB2-BD59-A6C34878D82A}">
                    <a16:rowId xmlns:a16="http://schemas.microsoft.com/office/drawing/2014/main" val="1699416053"/>
                  </a:ext>
                </a:extLst>
              </a:tr>
              <a:tr h="208439">
                <a:tc>
                  <a:txBody>
                    <a:bodyPr/>
                    <a:lstStyle/>
                    <a:p>
                      <a:endParaRPr lang="en-US" sz="800" dirty="0"/>
                    </a:p>
                  </a:txBody>
                  <a:tcPr>
                    <a:solidFill>
                      <a:srgbClr val="00B050"/>
                    </a:solidFill>
                  </a:tcPr>
                </a:tc>
                <a:extLst>
                  <a:ext uri="{0D108BD9-81ED-4DB2-BD59-A6C34878D82A}">
                    <a16:rowId xmlns:a16="http://schemas.microsoft.com/office/drawing/2014/main" val="2461034141"/>
                  </a:ext>
                </a:extLst>
              </a:tr>
              <a:tr h="208439">
                <a:tc>
                  <a:txBody>
                    <a:bodyPr/>
                    <a:lstStyle/>
                    <a:p>
                      <a:endParaRPr lang="en-US" sz="800" dirty="0"/>
                    </a:p>
                  </a:txBody>
                  <a:tcPr>
                    <a:solidFill>
                      <a:srgbClr val="00B050"/>
                    </a:solidFill>
                  </a:tcPr>
                </a:tc>
                <a:extLst>
                  <a:ext uri="{0D108BD9-81ED-4DB2-BD59-A6C34878D82A}">
                    <a16:rowId xmlns:a16="http://schemas.microsoft.com/office/drawing/2014/main" val="434665891"/>
                  </a:ext>
                </a:extLst>
              </a:tr>
              <a:tr h="208439">
                <a:tc>
                  <a:txBody>
                    <a:bodyPr/>
                    <a:lstStyle/>
                    <a:p>
                      <a:endParaRPr lang="en-US" sz="800" dirty="0"/>
                    </a:p>
                  </a:txBody>
                  <a:tcPr>
                    <a:solidFill>
                      <a:srgbClr val="00B050"/>
                    </a:solidFill>
                  </a:tcPr>
                </a:tc>
                <a:extLst>
                  <a:ext uri="{0D108BD9-81ED-4DB2-BD59-A6C34878D82A}">
                    <a16:rowId xmlns:a16="http://schemas.microsoft.com/office/drawing/2014/main" val="4272068050"/>
                  </a:ext>
                </a:extLst>
              </a:tr>
            </a:tbl>
          </a:graphicData>
        </a:graphic>
      </p:graphicFrame>
      <p:sp>
        <p:nvSpPr>
          <p:cNvPr id="24" name="TextBox 23">
            <a:extLst>
              <a:ext uri="{FF2B5EF4-FFF2-40B4-BE49-F238E27FC236}">
                <a16:creationId xmlns:a16="http://schemas.microsoft.com/office/drawing/2014/main" id="{2CB5BA26-08A2-BF78-9E85-26E6B35501E9}"/>
              </a:ext>
            </a:extLst>
          </p:cNvPr>
          <p:cNvSpPr txBox="1"/>
          <p:nvPr/>
        </p:nvSpPr>
        <p:spPr>
          <a:xfrm>
            <a:off x="10257421" y="3143074"/>
            <a:ext cx="1228298" cy="523220"/>
          </a:xfrm>
          <a:prstGeom prst="rect">
            <a:avLst/>
          </a:prstGeom>
          <a:noFill/>
        </p:spPr>
        <p:txBody>
          <a:bodyPr wrap="square" rtlCol="0">
            <a:spAutoFit/>
          </a:bodyPr>
          <a:lstStyle/>
          <a:p>
            <a:pPr algn="ctr"/>
            <a:r>
              <a:rPr lang="en-US" sz="1400" dirty="0"/>
              <a:t>transformed query vector</a:t>
            </a:r>
          </a:p>
        </p:txBody>
      </p:sp>
      <p:graphicFrame>
        <p:nvGraphicFramePr>
          <p:cNvPr id="25" name="Table 72">
            <a:extLst>
              <a:ext uri="{FF2B5EF4-FFF2-40B4-BE49-F238E27FC236}">
                <a16:creationId xmlns:a16="http://schemas.microsoft.com/office/drawing/2014/main" id="{EECF726E-CD04-23AA-F865-F81BA33A81B5}"/>
              </a:ext>
            </a:extLst>
          </p:cNvPr>
          <p:cNvGraphicFramePr>
            <a:graphicFrameLocks noGrp="1"/>
          </p:cNvGraphicFramePr>
          <p:nvPr/>
        </p:nvGraphicFramePr>
        <p:xfrm>
          <a:off x="9305264" y="3027233"/>
          <a:ext cx="216000" cy="426720"/>
        </p:xfrm>
        <a:graphic>
          <a:graphicData uri="http://schemas.openxmlformats.org/drawingml/2006/table">
            <a:tbl>
              <a:tblPr bandRow="1">
                <a:tableStyleId>{5C22544A-7EE6-4342-B048-85BDC9FD1C3A}</a:tableStyleId>
              </a:tblPr>
              <a:tblGrid>
                <a:gridCol w="216000">
                  <a:extLst>
                    <a:ext uri="{9D8B030D-6E8A-4147-A177-3AD203B41FA5}">
                      <a16:colId xmlns:a16="http://schemas.microsoft.com/office/drawing/2014/main" val="3100135507"/>
                    </a:ext>
                  </a:extLst>
                </a:gridCol>
              </a:tblGrid>
              <a:tr h="208439">
                <a:tc>
                  <a:txBody>
                    <a:bodyPr/>
                    <a:lstStyle/>
                    <a:p>
                      <a:endParaRPr lang="en-US" sz="800" dirty="0"/>
                    </a:p>
                  </a:txBody>
                  <a:tcPr>
                    <a:solidFill>
                      <a:srgbClr val="00B050"/>
                    </a:solidFill>
                  </a:tcPr>
                </a:tc>
                <a:extLst>
                  <a:ext uri="{0D108BD9-81ED-4DB2-BD59-A6C34878D82A}">
                    <a16:rowId xmlns:a16="http://schemas.microsoft.com/office/drawing/2014/main" val="1699416053"/>
                  </a:ext>
                </a:extLst>
              </a:tr>
              <a:tr h="208439">
                <a:tc>
                  <a:txBody>
                    <a:bodyPr/>
                    <a:lstStyle/>
                    <a:p>
                      <a:endParaRPr lang="en-US" sz="800" dirty="0"/>
                    </a:p>
                  </a:txBody>
                  <a:tcPr>
                    <a:solidFill>
                      <a:srgbClr val="00B050"/>
                    </a:solidFill>
                  </a:tcPr>
                </a:tc>
                <a:extLst>
                  <a:ext uri="{0D108BD9-81ED-4DB2-BD59-A6C34878D82A}">
                    <a16:rowId xmlns:a16="http://schemas.microsoft.com/office/drawing/2014/main" val="2461034141"/>
                  </a:ext>
                </a:extLst>
              </a:tr>
            </a:tbl>
          </a:graphicData>
        </a:graphic>
      </p:graphicFrame>
      <p:grpSp>
        <p:nvGrpSpPr>
          <p:cNvPr id="63" name="Group 62">
            <a:extLst>
              <a:ext uri="{FF2B5EF4-FFF2-40B4-BE49-F238E27FC236}">
                <a16:creationId xmlns:a16="http://schemas.microsoft.com/office/drawing/2014/main" id="{854BA5E7-7A54-2EBE-C4D2-615461DD6CCF}"/>
              </a:ext>
            </a:extLst>
          </p:cNvPr>
          <p:cNvGrpSpPr/>
          <p:nvPr/>
        </p:nvGrpSpPr>
        <p:grpSpPr>
          <a:xfrm>
            <a:off x="8653678" y="1756726"/>
            <a:ext cx="3003209" cy="1146210"/>
            <a:chOff x="8653678" y="1797670"/>
            <a:chExt cx="3003209" cy="1146210"/>
          </a:xfrm>
        </p:grpSpPr>
        <p:sp>
          <p:nvSpPr>
            <p:cNvPr id="11" name="TextBox 10">
              <a:extLst>
                <a:ext uri="{FF2B5EF4-FFF2-40B4-BE49-F238E27FC236}">
                  <a16:creationId xmlns:a16="http://schemas.microsoft.com/office/drawing/2014/main" id="{B2C68F2A-5C72-6B11-2837-9BB8639C4A6C}"/>
                </a:ext>
              </a:extLst>
            </p:cNvPr>
            <p:cNvSpPr txBox="1"/>
            <p:nvPr/>
          </p:nvSpPr>
          <p:spPr>
            <a:xfrm>
              <a:off x="9733242" y="2438018"/>
              <a:ext cx="1923645" cy="307777"/>
            </a:xfrm>
            <a:prstGeom prst="rect">
              <a:avLst/>
            </a:prstGeom>
            <a:noFill/>
          </p:spPr>
          <p:txBody>
            <a:bodyPr wrap="square" rtlCol="0">
              <a:spAutoFit/>
            </a:bodyPr>
            <a:lstStyle/>
            <a:p>
              <a:r>
                <a:rPr lang="en-US" sz="1400" dirty="0"/>
                <a:t>approximate distance</a:t>
              </a:r>
            </a:p>
          </p:txBody>
        </p:sp>
        <p:sp>
          <p:nvSpPr>
            <p:cNvPr id="27" name="TextBox 26">
              <a:extLst>
                <a:ext uri="{FF2B5EF4-FFF2-40B4-BE49-F238E27FC236}">
                  <a16:creationId xmlns:a16="http://schemas.microsoft.com/office/drawing/2014/main" id="{FBEAD672-918B-0A7E-B7A8-7D41600207D1}"/>
                </a:ext>
              </a:extLst>
            </p:cNvPr>
            <p:cNvSpPr txBox="1"/>
            <p:nvPr/>
          </p:nvSpPr>
          <p:spPr>
            <a:xfrm>
              <a:off x="9939930" y="2636103"/>
              <a:ext cx="1344984" cy="307777"/>
            </a:xfrm>
            <a:prstGeom prst="rect">
              <a:avLst/>
            </a:prstGeom>
            <a:noFill/>
          </p:spPr>
          <p:txBody>
            <a:bodyPr wrap="none" rtlCol="0">
              <a:spAutoFit/>
            </a:bodyPr>
            <a:lstStyle/>
            <a:p>
              <a:r>
                <a:rPr lang="en-US" sz="1400" b="1" dirty="0">
                  <a:solidFill>
                    <a:srgbClr val="FF0000"/>
                  </a:solidFill>
                </a:rPr>
                <a:t>(fixed accuracy)</a:t>
              </a:r>
            </a:p>
          </p:txBody>
        </p:sp>
        <p:cxnSp>
          <p:nvCxnSpPr>
            <p:cNvPr id="29" name="Elbow Connector 28">
              <a:extLst>
                <a:ext uri="{FF2B5EF4-FFF2-40B4-BE49-F238E27FC236}">
                  <a16:creationId xmlns:a16="http://schemas.microsoft.com/office/drawing/2014/main" id="{8D086F6E-9184-A440-995B-F737A2BE773E}"/>
                </a:ext>
              </a:extLst>
            </p:cNvPr>
            <p:cNvCxnSpPr>
              <a:cxnSpLocks/>
              <a:stCxn id="84" idx="2"/>
              <a:endCxn id="11" idx="0"/>
            </p:cNvCxnSpPr>
            <p:nvPr/>
          </p:nvCxnSpPr>
          <p:spPr>
            <a:xfrm rot="16200000" flipH="1">
              <a:off x="9354198" y="1097150"/>
              <a:ext cx="640347" cy="2041388"/>
            </a:xfrm>
            <a:prstGeom prst="bentConnector3">
              <a:avLst>
                <a:gd name="adj1" fmla="val 50000"/>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F0BDA2D0-EAAB-AB30-726F-65E549ED9A37}"/>
                </a:ext>
              </a:extLst>
            </p:cNvPr>
            <p:cNvCxnSpPr>
              <a:cxnSpLocks/>
              <a:stCxn id="14" idx="2"/>
              <a:endCxn id="11" idx="0"/>
            </p:cNvCxnSpPr>
            <p:nvPr/>
          </p:nvCxnSpPr>
          <p:spPr>
            <a:xfrm rot="16200000" flipH="1">
              <a:off x="10094759" y="1837711"/>
              <a:ext cx="636735" cy="563878"/>
            </a:xfrm>
            <a:prstGeom prst="bentConnector3">
              <a:avLst>
                <a:gd name="adj1" fmla="val 49999"/>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7F194B6D-D63E-77D8-090F-836C36FA9A11}"/>
              </a:ext>
            </a:extLst>
          </p:cNvPr>
          <p:cNvGrpSpPr/>
          <p:nvPr/>
        </p:nvGrpSpPr>
        <p:grpSpPr>
          <a:xfrm>
            <a:off x="8653677" y="3453953"/>
            <a:ext cx="3032461" cy="1211718"/>
            <a:chOff x="8656924" y="3408961"/>
            <a:chExt cx="3032461" cy="1211718"/>
          </a:xfrm>
        </p:grpSpPr>
        <p:sp>
          <p:nvSpPr>
            <p:cNvPr id="42" name="TextBox 41">
              <a:extLst>
                <a:ext uri="{FF2B5EF4-FFF2-40B4-BE49-F238E27FC236}">
                  <a16:creationId xmlns:a16="http://schemas.microsoft.com/office/drawing/2014/main" id="{7288E6AD-1B4B-8EC7-20B2-00A06EE018B2}"/>
                </a:ext>
              </a:extLst>
            </p:cNvPr>
            <p:cNvSpPr txBox="1"/>
            <p:nvPr/>
          </p:nvSpPr>
          <p:spPr>
            <a:xfrm>
              <a:off x="9765740" y="4086735"/>
              <a:ext cx="1923645" cy="307777"/>
            </a:xfrm>
            <a:prstGeom prst="rect">
              <a:avLst/>
            </a:prstGeom>
            <a:noFill/>
          </p:spPr>
          <p:txBody>
            <a:bodyPr wrap="square" rtlCol="0">
              <a:spAutoFit/>
            </a:bodyPr>
            <a:lstStyle/>
            <a:p>
              <a:r>
                <a:rPr lang="en-US" sz="1400" dirty="0"/>
                <a:t>approximate distance</a:t>
              </a:r>
            </a:p>
          </p:txBody>
        </p:sp>
        <p:sp>
          <p:nvSpPr>
            <p:cNvPr id="43" name="TextBox 42">
              <a:extLst>
                <a:ext uri="{FF2B5EF4-FFF2-40B4-BE49-F238E27FC236}">
                  <a16:creationId xmlns:a16="http://schemas.microsoft.com/office/drawing/2014/main" id="{B59845B6-1BFF-C926-80DB-CC27214905E5}"/>
                </a:ext>
              </a:extLst>
            </p:cNvPr>
            <p:cNvSpPr txBox="1"/>
            <p:nvPr/>
          </p:nvSpPr>
          <p:spPr>
            <a:xfrm>
              <a:off x="9900124" y="4312902"/>
              <a:ext cx="1525995" cy="307777"/>
            </a:xfrm>
            <a:prstGeom prst="rect">
              <a:avLst/>
            </a:prstGeom>
            <a:noFill/>
          </p:spPr>
          <p:txBody>
            <a:bodyPr wrap="none" rtlCol="0">
              <a:spAutoFit/>
            </a:bodyPr>
            <a:lstStyle/>
            <a:p>
              <a:r>
                <a:rPr lang="en-US" sz="1400" b="1" dirty="0">
                  <a:solidFill>
                    <a:srgbClr val="0000FF"/>
                  </a:solidFill>
                </a:rPr>
                <a:t>(flexible accuracy)</a:t>
              </a:r>
            </a:p>
          </p:txBody>
        </p:sp>
        <p:cxnSp>
          <p:nvCxnSpPr>
            <p:cNvPr id="50" name="Elbow Connector 49">
              <a:extLst>
                <a:ext uri="{FF2B5EF4-FFF2-40B4-BE49-F238E27FC236}">
                  <a16:creationId xmlns:a16="http://schemas.microsoft.com/office/drawing/2014/main" id="{4C2CB079-1AF0-D3B8-8CF6-8AF6754309E2}"/>
                </a:ext>
              </a:extLst>
            </p:cNvPr>
            <p:cNvCxnSpPr>
              <a:cxnSpLocks/>
              <a:stCxn id="102" idx="2"/>
              <a:endCxn id="42" idx="0"/>
            </p:cNvCxnSpPr>
            <p:nvPr/>
          </p:nvCxnSpPr>
          <p:spPr>
            <a:xfrm rot="16200000" flipH="1">
              <a:off x="9354284" y="2713455"/>
              <a:ext cx="675919" cy="2070639"/>
            </a:xfrm>
            <a:prstGeom prst="bentConnector3">
              <a:avLst>
                <a:gd name="adj1" fmla="val 72547"/>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BE120CFD-B64F-2F60-7B66-9CED5A6871DC}"/>
                </a:ext>
              </a:extLst>
            </p:cNvPr>
            <p:cNvCxnSpPr>
              <a:cxnSpLocks/>
              <a:stCxn id="25" idx="2"/>
              <a:endCxn id="42" idx="0"/>
            </p:cNvCxnSpPr>
            <p:nvPr/>
          </p:nvCxnSpPr>
          <p:spPr>
            <a:xfrm rot="16200000" flipH="1">
              <a:off x="9733150" y="3092322"/>
              <a:ext cx="677774" cy="1311052"/>
            </a:xfrm>
            <a:prstGeom prst="bentConnector3">
              <a:avLst>
                <a:gd name="adj1" fmla="val 72485"/>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2B44A235-D2C7-29C1-4947-600FCC097FB6}"/>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32364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17"/>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7"/>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116"/>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9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1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0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46" grpId="0"/>
      <p:bldP spid="47" grpId="0"/>
      <p:bldP spid="52" grpId="0"/>
      <p:bldP spid="75" grpId="0"/>
      <p:bldP spid="78" grpId="0"/>
      <p:bldP spid="85" grpId="0"/>
      <p:bldP spid="86" grpId="0"/>
      <p:bldP spid="87" grpId="0"/>
      <p:bldP spid="88" grpId="0"/>
      <p:bldP spid="89" grpId="0"/>
      <p:bldP spid="91" grpId="0"/>
      <p:bldP spid="98" grpId="0"/>
      <p:bldP spid="101" grpId="0"/>
      <p:bldP spid="103" grpId="0"/>
      <p:bldP spid="105" grpId="0"/>
      <p:bldP spid="106" grpId="0" animBg="1"/>
      <p:bldP spid="107" grpId="0"/>
      <p:bldP spid="108" grpId="0" animBg="1"/>
      <p:bldP spid="110" grpId="0" animBg="1"/>
      <p:bldP spid="111" grpId="0"/>
      <p:bldP spid="112" grpId="0"/>
      <p:bldP spid="113" grpId="0" animBg="1"/>
      <p:bldP spid="114" grpId="0"/>
      <p:bldP spid="116" grpId="0"/>
      <p:bldP spid="116" grpId="1"/>
      <p:bldP spid="117" grpId="0"/>
      <p:bldP spid="117" grpId="1"/>
      <p:bldP spid="5" grpId="0" animBg="1"/>
      <p:bldP spid="18"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Adaptivity</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8</a:t>
            </a:fld>
            <a:endParaRPr lang="en-US"/>
          </a:p>
        </p:txBody>
      </p:sp>
      <p:sp>
        <p:nvSpPr>
          <p:cNvPr id="3" name="TextBox 2">
            <a:extLst>
              <a:ext uri="{FF2B5EF4-FFF2-40B4-BE49-F238E27FC236}">
                <a16:creationId xmlns:a16="http://schemas.microsoft.com/office/drawing/2014/main" id="{D7B2C331-9ED4-F9A3-D093-A3FC1C1B002F}"/>
              </a:ext>
            </a:extLst>
          </p:cNvPr>
          <p:cNvSpPr txBox="1"/>
          <p:nvPr/>
        </p:nvSpPr>
        <p:spPr>
          <a:xfrm>
            <a:off x="677517" y="4745649"/>
            <a:ext cx="5213506" cy="1631216"/>
          </a:xfrm>
          <a:prstGeom prst="rect">
            <a:avLst/>
          </a:prstGeom>
          <a:noFill/>
          <a:ln cap="rnd">
            <a:solidFill>
              <a:schemeClr val="accent5"/>
            </a:solidFill>
            <a:bevel/>
          </a:ln>
          <a:effectLst/>
        </p:spPr>
        <p:txBody>
          <a:bodyPr wrap="square" rtlCol="0">
            <a:spAutoFit/>
          </a:bodyPr>
          <a:lstStyle/>
          <a:p>
            <a:r>
              <a:rPr lang="en-US" sz="2800" dirty="0">
                <a:solidFill>
                  <a:srgbClr val="0000FF"/>
                </a:solidFill>
              </a:rPr>
              <a:t>Question (Adaptivity):</a:t>
            </a:r>
          </a:p>
          <a:p>
            <a:r>
              <a:rPr lang="en-US" sz="2400" dirty="0"/>
              <a:t>How to decide </a:t>
            </a:r>
            <a:r>
              <a:rPr lang="en-US" sz="2400" b="1" u="sng" dirty="0"/>
              <a:t>the minimum number of dimensions</a:t>
            </a:r>
            <a:r>
              <a:rPr lang="en-US" sz="2400" dirty="0"/>
              <a:t> to ensure the reliability of DCOs?</a:t>
            </a:r>
          </a:p>
        </p:txBody>
      </p:sp>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C1398B66-4460-65A1-718E-BE8A3603A9C2}"/>
                  </a:ext>
                </a:extLst>
              </p:cNvPr>
              <p:cNvSpPr txBox="1">
                <a:spLocks/>
              </p:cNvSpPr>
              <p:nvPr/>
            </p:nvSpPr>
            <p:spPr>
              <a:xfrm>
                <a:off x="677517" y="1372207"/>
                <a:ext cx="10836965" cy="45424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Calibri" panose="020F0502020204030204" pitchFamily="34" charset="0"/>
                    <a:ea typeface="Microsoft YaHei" panose="020B0503020204020204" pitchFamily="34" charset="-122"/>
                    <a:cs typeface="Calibri" panose="020F0502020204030204" pitchFamily="34" charset="0"/>
                  </a:rPr>
                  <a:t>Our method samples the dimensions in iterations until it is enough. </a:t>
                </a: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lvl="1"/>
                <a:r>
                  <a:rPr lang="en-US" altLang="zh-CN" sz="2000" dirty="0">
                    <a:latin typeface="Calibri" panose="020F0502020204030204" pitchFamily="34" charset="0"/>
                    <a:ea typeface="Microsoft YaHei" panose="020B0503020204020204" pitchFamily="34" charset="-122"/>
                    <a:cs typeface="Calibri" panose="020F0502020204030204" pitchFamily="34" charset="0"/>
                  </a:rPr>
                  <a:t>In each iteration,</a:t>
                </a:r>
              </a:p>
              <a:p>
                <a:pPr lvl="2"/>
                <a:r>
                  <a:rPr lang="en-US" sz="1600" dirty="0"/>
                  <a:t>incrementally samples a few dimensions</a:t>
                </a:r>
              </a:p>
              <a:p>
                <a:pPr lvl="2"/>
                <a:r>
                  <a:rPr lang="en-US" sz="1600" dirty="0"/>
                  <a:t>checks whether it can “confidently claim” a negative result</a:t>
                </a:r>
                <a:endParaRPr lang="en-US" sz="2400" dirty="0">
                  <a:latin typeface="Calibri" panose="020F0502020204030204" pitchFamily="34" charset="0"/>
                  <a:ea typeface="Microsoft YaHei" panose="020B0503020204020204" pitchFamily="34" charset="-122"/>
                  <a:cs typeface="Calibri" panose="020F0502020204030204" pitchFamily="34" charset="0"/>
                </a:endParaRPr>
              </a:p>
              <a:p>
                <a:pPr lvl="2"/>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pPr lvl="2"/>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pPr lvl="1"/>
                <a:endParaRPr lang="en-US" dirty="0">
                  <a:latin typeface="Calibri" panose="020F0502020204030204" pitchFamily="34" charset="0"/>
                  <a:ea typeface="Microsoft YaHei" panose="020B0503020204020204" pitchFamily="34" charset="-122"/>
                  <a:cs typeface="Calibri" panose="020F0502020204030204" pitchFamily="34" charset="0"/>
                </a:endParaRPr>
              </a:p>
              <a:p>
                <a:pPr lvl="1"/>
                <a:r>
                  <a:rPr lang="en-US" sz="2000" dirty="0"/>
                  <a:t>When all the </a:t>
                </a:r>
                <a14:m>
                  <m:oMath xmlns:m="http://schemas.openxmlformats.org/officeDocument/2006/math">
                    <m:r>
                      <a:rPr lang="en-US" sz="2000" i="1">
                        <a:latin typeface="Cambria Math" panose="02040503050406030204" pitchFamily="18" charset="0"/>
                      </a:rPr>
                      <m:t>𝐷</m:t>
                    </m:r>
                  </m:oMath>
                </a14:m>
                <a:r>
                  <a:rPr lang="en-US" sz="2000" dirty="0"/>
                  <a:t> dimensions have been sampled, </a:t>
                </a:r>
              </a:p>
              <a:p>
                <a:pPr lvl="2"/>
                <a:r>
                  <a:rPr lang="en-US" sz="1600" dirty="0"/>
                  <a:t>It will get the exact distance because we adopt </a:t>
                </a:r>
                <a:r>
                  <a:rPr lang="en-US" sz="1600" b="1" dirty="0"/>
                  <a:t>random orthogonal transformation</a:t>
                </a:r>
                <a:r>
                  <a:rPr lang="en-US" sz="1600" dirty="0"/>
                  <a:t> which does not distort the distances.</a:t>
                </a: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a:p>
                <a:pPr lvl="1"/>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lvl="1"/>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5" name="文本占位符 44">
                <a:extLst>
                  <a:ext uri="{FF2B5EF4-FFF2-40B4-BE49-F238E27FC236}">
                    <a16:creationId xmlns:a16="http://schemas.microsoft.com/office/drawing/2014/main" id="{C1398B66-4460-65A1-718E-BE8A3603A9C2}"/>
                  </a:ext>
                </a:extLst>
              </p:cNvPr>
              <p:cNvSpPr txBox="1">
                <a:spLocks noRot="1" noChangeAspect="1" noMove="1" noResize="1" noEditPoints="1" noAdjustHandles="1" noChangeArrowheads="1" noChangeShapeType="1" noTextEdit="1"/>
              </p:cNvSpPr>
              <p:nvPr/>
            </p:nvSpPr>
            <p:spPr>
              <a:xfrm>
                <a:off x="677517" y="1372207"/>
                <a:ext cx="10836965" cy="4542456"/>
              </a:xfrm>
              <a:prstGeom prst="rect">
                <a:avLst/>
              </a:prstGeom>
              <a:blipFill>
                <a:blip r:embed="rId4"/>
                <a:stretch>
                  <a:fillRect l="-731" t="-187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B750B-E4E9-491C-5D06-99F0EE6DC76C}"/>
                  </a:ext>
                </a:extLst>
              </p:cNvPr>
              <p:cNvSpPr txBox="1"/>
              <p:nvPr/>
            </p:nvSpPr>
            <p:spPr>
              <a:xfrm>
                <a:off x="3048964" y="3043184"/>
                <a:ext cx="60940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panose="020B0503020204020204" pitchFamily="34" charset="-122"/>
                          <a:cs typeface="Calibri" panose="020F0502020204030204" pitchFamily="34" charset="0"/>
                        </a:rPr>
                        <m:t>𝑑</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𝑖𝑠</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b="0" i="0"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𝑟</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1">
                              <a:latin typeface="Cambria Math" panose="02040503050406030204" pitchFamily="18" charset="0"/>
                              <a:ea typeface="Microsoft YaHei" panose="020B0503020204020204" pitchFamily="34" charset="-122"/>
                              <a:cs typeface="Calibri" panose="020F0502020204030204" pitchFamily="34" charset="0"/>
                            </a:rPr>
                            <m:t>𝐨</m:t>
                          </m:r>
                          <m:r>
                            <a:rPr lang="en-US" altLang="zh-CN" i="1">
                              <a:latin typeface="Cambria Math" panose="02040503050406030204" pitchFamily="18" charset="0"/>
                              <a:ea typeface="Microsoft YaHei" panose="020B0503020204020204" pitchFamily="34" charset="-122"/>
                              <a:cs typeface="Calibri" panose="020F0502020204030204" pitchFamily="34" charset="0"/>
                            </a:rPr>
                            <m:t> −</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 </m:t>
                          </m:r>
                          <m:r>
                            <a:rPr lang="en-US" altLang="zh-CN" b="1">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b="0" i="0" smtClean="0">
                          <a:latin typeface="Cambria Math" panose="02040503050406030204" pitchFamily="18" charset="0"/>
                          <a:ea typeface="Microsoft YaHei" panose="020B0503020204020204" pitchFamily="34" charset="-122"/>
                          <a:cs typeface="Calibri" panose="020F0502020204030204" pitchFamily="34" charset="0"/>
                        </a:rPr>
                        <m:t>&gt;</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𝑟</m:t>
                      </m:r>
                    </m:oMath>
                  </m:oMathPara>
                </a14:m>
                <a:endParaRPr lang="en-US" i="1" dirty="0"/>
              </a:p>
            </p:txBody>
          </p:sp>
        </mc:Choice>
        <mc:Fallback xmlns="">
          <p:sp>
            <p:nvSpPr>
              <p:cNvPr id="7" name="TextBox 6">
                <a:extLst>
                  <a:ext uri="{FF2B5EF4-FFF2-40B4-BE49-F238E27FC236}">
                    <a16:creationId xmlns:a16="http://schemas.microsoft.com/office/drawing/2014/main" id="{7D9B750B-E4E9-491C-5D06-99F0EE6DC76C}"/>
                  </a:ext>
                </a:extLst>
              </p:cNvPr>
              <p:cNvSpPr txBox="1">
                <a:spLocks noRot="1" noChangeAspect="1" noMove="1" noResize="1" noEditPoints="1" noAdjustHandles="1" noChangeArrowheads="1" noChangeShapeType="1" noTextEdit="1"/>
              </p:cNvSpPr>
              <p:nvPr/>
            </p:nvSpPr>
            <p:spPr>
              <a:xfrm>
                <a:off x="3048964" y="3043184"/>
                <a:ext cx="6094070" cy="369332"/>
              </a:xfrm>
              <a:prstGeom prst="rect">
                <a:avLst/>
              </a:prstGeom>
              <a:blipFill>
                <a:blip r:embed="rId5"/>
                <a:stretch>
                  <a:fillRect b="-16667"/>
                </a:stretch>
              </a:blipFill>
            </p:spPr>
            <p:txBody>
              <a:bodyPr/>
              <a:lstStyle/>
              <a:p>
                <a:r>
                  <a:rPr lang="en-US">
                    <a:noFill/>
                  </a:rPr>
                  <a:t> </a:t>
                </a:r>
              </a:p>
            </p:txBody>
          </p:sp>
        </mc:Fallback>
      </mc:AlternateContent>
      <p:sp>
        <p:nvSpPr>
          <p:cNvPr id="12" name="Arc 11">
            <a:extLst>
              <a:ext uri="{FF2B5EF4-FFF2-40B4-BE49-F238E27FC236}">
                <a16:creationId xmlns:a16="http://schemas.microsoft.com/office/drawing/2014/main" id="{2378A5CD-0252-BC74-0E4F-A238402BD501}"/>
              </a:ext>
            </a:extLst>
          </p:cNvPr>
          <p:cNvSpPr/>
          <p:nvPr/>
        </p:nvSpPr>
        <p:spPr>
          <a:xfrm>
            <a:off x="2150900" y="2248729"/>
            <a:ext cx="5213506" cy="331127"/>
          </a:xfrm>
          <a:prstGeom prst="arc">
            <a:avLst>
              <a:gd name="adj1" fmla="val 21006852"/>
              <a:gd name="adj2" fmla="val 144441"/>
            </a:avLst>
          </a:prstGeom>
          <a:ln w="44450">
            <a:solidFill>
              <a:schemeClr val="accent5"/>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00FF"/>
              </a:solidFill>
            </a:endParaRPr>
          </a:p>
        </p:txBody>
      </p:sp>
      <p:sp>
        <p:nvSpPr>
          <p:cNvPr id="13" name="TextBox 12">
            <a:extLst>
              <a:ext uri="{FF2B5EF4-FFF2-40B4-BE49-F238E27FC236}">
                <a16:creationId xmlns:a16="http://schemas.microsoft.com/office/drawing/2014/main" id="{8F4FFD69-D3EF-0F7F-1308-389A00BBD0D1}"/>
              </a:ext>
            </a:extLst>
          </p:cNvPr>
          <p:cNvSpPr txBox="1"/>
          <p:nvPr/>
        </p:nvSpPr>
        <p:spPr>
          <a:xfrm>
            <a:off x="6467229" y="1996047"/>
            <a:ext cx="1925464" cy="307777"/>
          </a:xfrm>
          <a:prstGeom prst="rect">
            <a:avLst/>
          </a:prstGeom>
          <a:noFill/>
        </p:spPr>
        <p:txBody>
          <a:bodyPr wrap="none" rtlCol="0">
            <a:spAutoFit/>
          </a:bodyPr>
          <a:lstStyle/>
          <a:p>
            <a:r>
              <a:rPr lang="en-US" sz="1400" dirty="0">
                <a:solidFill>
                  <a:schemeClr val="accent5"/>
                </a:solidFill>
              </a:rPr>
              <a:t>No? Continue sampling.</a:t>
            </a:r>
          </a:p>
        </p:txBody>
      </p:sp>
      <p:sp>
        <p:nvSpPr>
          <p:cNvPr id="21" name="TextBox 20">
            <a:extLst>
              <a:ext uri="{FF2B5EF4-FFF2-40B4-BE49-F238E27FC236}">
                <a16:creationId xmlns:a16="http://schemas.microsoft.com/office/drawing/2014/main" id="{74C834C6-A349-108F-8F62-8D32A82E2E03}"/>
              </a:ext>
            </a:extLst>
          </p:cNvPr>
          <p:cNvSpPr txBox="1"/>
          <p:nvPr/>
        </p:nvSpPr>
        <p:spPr>
          <a:xfrm>
            <a:off x="6300979" y="4745649"/>
            <a:ext cx="5213506" cy="1631216"/>
          </a:xfrm>
          <a:prstGeom prst="rect">
            <a:avLst/>
          </a:prstGeom>
          <a:noFill/>
          <a:ln cap="rnd">
            <a:solidFill>
              <a:schemeClr val="accent5"/>
            </a:solidFill>
            <a:bevel/>
          </a:ln>
          <a:effectLst/>
        </p:spPr>
        <p:txBody>
          <a:bodyPr wrap="square" rtlCol="0">
            <a:spAutoFit/>
          </a:bodyPr>
          <a:lstStyle/>
          <a:p>
            <a:r>
              <a:rPr lang="en-US" sz="2800" dirty="0">
                <a:solidFill>
                  <a:srgbClr val="0000FF"/>
                </a:solidFill>
              </a:rPr>
              <a:t>Solution:</a:t>
            </a:r>
          </a:p>
          <a:p>
            <a:r>
              <a:rPr lang="en-US" sz="2400" dirty="0"/>
              <a:t>To incrementally sample on the trans-formed vectors and </a:t>
            </a:r>
            <a:r>
              <a:rPr lang="en-US" sz="2400" b="1" u="sng" dirty="0"/>
              <a:t>terminate when it can confidently claim a negative result</a:t>
            </a:r>
            <a:r>
              <a:rPr lang="en-US" sz="2400" dirty="0"/>
              <a:t>.</a:t>
            </a:r>
          </a:p>
        </p:txBody>
      </p:sp>
      <p:sp>
        <p:nvSpPr>
          <p:cNvPr id="19" name="TextBox 18">
            <a:extLst>
              <a:ext uri="{FF2B5EF4-FFF2-40B4-BE49-F238E27FC236}">
                <a16:creationId xmlns:a16="http://schemas.microsoft.com/office/drawing/2014/main" id="{EE0BB65E-0592-B6ED-2F5D-1655E6B29F77}"/>
              </a:ext>
            </a:extLst>
          </p:cNvPr>
          <p:cNvSpPr txBox="1"/>
          <p:nvPr/>
        </p:nvSpPr>
        <p:spPr>
          <a:xfrm>
            <a:off x="6863845" y="2465819"/>
            <a:ext cx="2332242" cy="307777"/>
          </a:xfrm>
          <a:prstGeom prst="rect">
            <a:avLst/>
          </a:prstGeom>
          <a:noFill/>
        </p:spPr>
        <p:txBody>
          <a:bodyPr wrap="none" rtlCol="0">
            <a:spAutoFit/>
          </a:bodyPr>
          <a:lstStyle/>
          <a:p>
            <a:r>
              <a:rPr lang="en-US" sz="1400" dirty="0">
                <a:solidFill>
                  <a:schemeClr val="accent5"/>
                </a:solidFill>
              </a:rPr>
              <a:t>Yes? Return a negative result.</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D278EAE-E9F2-4285-59D3-A6E7E1889827}"/>
                  </a:ext>
                </a:extLst>
              </p:cNvPr>
              <p:cNvSpPr txBox="1"/>
              <p:nvPr/>
            </p:nvSpPr>
            <p:spPr>
              <a:xfrm>
                <a:off x="2517361" y="2927256"/>
                <a:ext cx="6094070" cy="628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𝑑</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𝑖𝑠</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b="0" i="0"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&gt;</m:t>
                      </m:r>
                      <m:d>
                        <m:d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0" i="0"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1+</m:t>
                          </m:r>
                          <m:f>
                            <m:f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fPr>
                            <m:num>
                              <m:sSub>
                                <m:sSub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𝜖</m:t>
                                  </m:r>
                                </m:e>
                                <m: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0</m:t>
                                  </m:r>
                                </m:sub>
                              </m:sSub>
                            </m:num>
                            <m:den>
                              <m:rad>
                                <m:radPr>
                                  <m:degHide m:val="on"/>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𝑑</m:t>
                                  </m:r>
                                </m:e>
                              </m:rad>
                            </m:den>
                          </m:f>
                        </m:e>
                      </m:d>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𝑟</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i="1">
                              <a:solidFill>
                                <a:schemeClr val="tx1"/>
                              </a:solidFill>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1">
                              <a:solidFill>
                                <a:schemeClr val="tx1"/>
                              </a:solidFill>
                              <a:latin typeface="Cambria Math" panose="02040503050406030204" pitchFamily="18" charset="0"/>
                              <a:ea typeface="Microsoft YaHei" panose="020B0503020204020204" pitchFamily="34" charset="-122"/>
                              <a:cs typeface="Calibri" panose="020F0502020204030204" pitchFamily="34" charset="0"/>
                            </a:rPr>
                            <m:t>𝐨</m:t>
                          </m:r>
                          <m:r>
                            <a:rPr lang="en-US" altLang="zh-CN" i="1">
                              <a:solidFill>
                                <a:schemeClr val="tx1"/>
                              </a:solidFill>
                              <a:latin typeface="Cambria Math" panose="02040503050406030204" pitchFamily="18" charset="0"/>
                              <a:ea typeface="Microsoft YaHei" panose="020B0503020204020204" pitchFamily="34" charset="-122"/>
                              <a:cs typeface="Calibri" panose="020F0502020204030204" pitchFamily="34" charset="0"/>
                            </a:rPr>
                            <m:t> −</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 </m:t>
                          </m:r>
                          <m:r>
                            <a:rPr lang="en-US" altLang="zh-CN" b="1">
                              <a:solidFill>
                                <a:schemeClr val="tx1"/>
                              </a:solidFill>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b="0" i="0"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&gt;</m:t>
                      </m:r>
                      <m:r>
                        <a:rPr lang="en-US" altLang="zh-CN" b="0" i="1" smtClean="0">
                          <a:solidFill>
                            <a:schemeClr val="tx1"/>
                          </a:solidFill>
                          <a:latin typeface="Cambria Math" panose="02040503050406030204" pitchFamily="18" charset="0"/>
                          <a:ea typeface="Microsoft YaHei" panose="020B0503020204020204" pitchFamily="34" charset="-122"/>
                          <a:cs typeface="Calibri" panose="020F0502020204030204" pitchFamily="34" charset="0"/>
                        </a:rPr>
                        <m:t>𝑟</m:t>
                      </m:r>
                    </m:oMath>
                  </m:oMathPara>
                </a14:m>
                <a:endParaRPr lang="en-US" i="1" dirty="0">
                  <a:solidFill>
                    <a:schemeClr val="tx1"/>
                  </a:solidFill>
                </a:endParaRPr>
              </a:p>
            </p:txBody>
          </p:sp>
        </mc:Choice>
        <mc:Fallback xmlns="">
          <p:sp>
            <p:nvSpPr>
              <p:cNvPr id="42" name="TextBox 41">
                <a:extLst>
                  <a:ext uri="{FF2B5EF4-FFF2-40B4-BE49-F238E27FC236}">
                    <a16:creationId xmlns:a16="http://schemas.microsoft.com/office/drawing/2014/main" id="{2D278EAE-E9F2-4285-59D3-A6E7E1889827}"/>
                  </a:ext>
                </a:extLst>
              </p:cNvPr>
              <p:cNvSpPr txBox="1">
                <a:spLocks noRot="1" noChangeAspect="1" noMove="1" noResize="1" noEditPoints="1" noAdjustHandles="1" noChangeArrowheads="1" noChangeShapeType="1" noTextEdit="1"/>
              </p:cNvSpPr>
              <p:nvPr/>
            </p:nvSpPr>
            <p:spPr>
              <a:xfrm>
                <a:off x="2517361" y="2927256"/>
                <a:ext cx="6094070" cy="628121"/>
              </a:xfrm>
              <a:prstGeom prst="rect">
                <a:avLst/>
              </a:prstGeom>
              <a:blipFill>
                <a:blip r:embed="rId6"/>
                <a:stretch>
                  <a:fillRect b="-4000"/>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37707F3D-DD72-4753-516D-CBBE6A7E13DC}"/>
              </a:ext>
            </a:extLst>
          </p:cNvPr>
          <p:cNvSpPr txBox="1"/>
          <p:nvPr/>
        </p:nvSpPr>
        <p:spPr>
          <a:xfrm>
            <a:off x="5228516" y="2972418"/>
            <a:ext cx="351378" cy="523220"/>
          </a:xfrm>
          <a:prstGeom prst="rect">
            <a:avLst/>
          </a:prstGeom>
          <a:noFill/>
        </p:spPr>
        <p:txBody>
          <a:bodyPr wrap="none" rtlCol="0">
            <a:spAutoFit/>
          </a:bodyPr>
          <a:lstStyle/>
          <a:p>
            <a:r>
              <a:rPr lang="en-US" sz="2800" dirty="0">
                <a:solidFill>
                  <a:srgbClr val="FF0000"/>
                </a:solidFill>
              </a:rPr>
              <a:t>?</a:t>
            </a:r>
          </a:p>
        </p:txBody>
      </p:sp>
      <p:sp>
        <p:nvSpPr>
          <p:cNvPr id="44" name="Rectangle 43">
            <a:extLst>
              <a:ext uri="{FF2B5EF4-FFF2-40B4-BE49-F238E27FC236}">
                <a16:creationId xmlns:a16="http://schemas.microsoft.com/office/drawing/2014/main" id="{7C591085-A01F-8431-4CD5-E11A1AD8D70C}"/>
              </a:ext>
            </a:extLst>
          </p:cNvPr>
          <p:cNvSpPr/>
          <p:nvPr/>
        </p:nvSpPr>
        <p:spPr>
          <a:xfrm>
            <a:off x="4475421" y="2980194"/>
            <a:ext cx="950026" cy="5232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E60EC9C5-1BB9-E3D7-F4B1-49EDB5F34042}"/>
              </a:ext>
            </a:extLst>
          </p:cNvPr>
          <p:cNvSpPr txBox="1"/>
          <p:nvPr/>
        </p:nvSpPr>
        <p:spPr>
          <a:xfrm>
            <a:off x="5060338" y="3490656"/>
            <a:ext cx="5939255" cy="276999"/>
          </a:xfrm>
          <a:prstGeom prst="rect">
            <a:avLst/>
          </a:prstGeom>
          <a:noFill/>
        </p:spPr>
        <p:txBody>
          <a:bodyPr wrap="none" rtlCol="0">
            <a:spAutoFit/>
          </a:bodyPr>
          <a:lstStyle/>
          <a:p>
            <a:r>
              <a:rPr lang="en-US" sz="1200" dirty="0">
                <a:solidFill>
                  <a:srgbClr val="FF0000"/>
                </a:solidFill>
              </a:rPr>
              <a:t>a factor derived from the concentration inequality of random projection &amp; hypothesis testing</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F57B4CF-41EB-C450-28E9-91865EDA1B64}"/>
                  </a:ext>
                </a:extLst>
              </p:cNvPr>
              <p:cNvSpPr txBox="1"/>
              <p:nvPr/>
            </p:nvSpPr>
            <p:spPr>
              <a:xfrm>
                <a:off x="5060338" y="2727115"/>
                <a:ext cx="4927887" cy="276999"/>
              </a:xfrm>
              <a:prstGeom prst="rect">
                <a:avLst/>
              </a:prstGeom>
              <a:noFill/>
            </p:spPr>
            <p:txBody>
              <a:bodyPr wrap="none" rtlCol="0">
                <a:spAutoFit/>
              </a:bodyPr>
              <a:lstStyle/>
              <a:p>
                <a:pPr algn="ctr"/>
                <a14:m>
                  <m:oMath xmlns:m="http://schemas.openxmlformats.org/officeDocument/2006/math">
                    <m:sSub>
                      <m:sSubPr>
                        <m:ctrlPr>
                          <a:rPr lang="en-US" sz="1200" i="1">
                            <a:solidFill>
                              <a:srgbClr val="FF0000"/>
                            </a:solidFill>
                            <a:latin typeface="Cambria Math" panose="02040503050406030204" pitchFamily="18" charset="0"/>
                          </a:rPr>
                        </m:ctrlPr>
                      </m:sSubPr>
                      <m:e>
                        <m:r>
                          <a:rPr lang="en-US" sz="1200" i="1">
                            <a:solidFill>
                              <a:srgbClr val="FF0000"/>
                            </a:solidFill>
                            <a:latin typeface="Cambria Math" panose="02040503050406030204" pitchFamily="18" charset="0"/>
                          </a:rPr>
                          <m:t>𝜖</m:t>
                        </m:r>
                      </m:e>
                      <m:sub>
                        <m:r>
                          <a:rPr lang="en-US" sz="1200" i="1">
                            <a:solidFill>
                              <a:srgbClr val="FF0000"/>
                            </a:solidFill>
                            <a:latin typeface="Cambria Math" panose="02040503050406030204" pitchFamily="18" charset="0"/>
                          </a:rPr>
                          <m:t>0</m:t>
                        </m:r>
                      </m:sub>
                    </m:sSub>
                  </m:oMath>
                </a14:m>
                <a:r>
                  <a:rPr lang="en-US" sz="1200" dirty="0">
                    <a:solidFill>
                      <a:srgbClr val="FF0000"/>
                    </a:solidFill>
                  </a:rPr>
                  <a:t> is a parameter which controls the failure probability and time complexity.</a:t>
                </a:r>
              </a:p>
            </p:txBody>
          </p:sp>
        </mc:Choice>
        <mc:Fallback xmlns="">
          <p:sp>
            <p:nvSpPr>
              <p:cNvPr id="46" name="TextBox 45">
                <a:extLst>
                  <a:ext uri="{FF2B5EF4-FFF2-40B4-BE49-F238E27FC236}">
                    <a16:creationId xmlns:a16="http://schemas.microsoft.com/office/drawing/2014/main" id="{DF57B4CF-41EB-C450-28E9-91865EDA1B64}"/>
                  </a:ext>
                </a:extLst>
              </p:cNvPr>
              <p:cNvSpPr txBox="1">
                <a:spLocks noRot="1" noChangeAspect="1" noMove="1" noResize="1" noEditPoints="1" noAdjustHandles="1" noChangeArrowheads="1" noChangeShapeType="1" noTextEdit="1"/>
              </p:cNvSpPr>
              <p:nvPr/>
            </p:nvSpPr>
            <p:spPr>
              <a:xfrm>
                <a:off x="5060338" y="2727115"/>
                <a:ext cx="4927887" cy="276999"/>
              </a:xfrm>
              <a:prstGeom prst="rect">
                <a:avLst/>
              </a:prstGeom>
              <a:blipFill>
                <a:blip r:embed="rId7"/>
                <a:stretch>
                  <a:fillRect b="-13043"/>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920579CB-BB4A-C813-8562-9853F20DE14E}"/>
              </a:ext>
            </a:extLst>
          </p:cNvPr>
          <p:cNvSpPr txBox="1"/>
          <p:nvPr/>
        </p:nvSpPr>
        <p:spPr>
          <a:xfrm>
            <a:off x="4459859" y="2256619"/>
            <a:ext cx="351378" cy="523220"/>
          </a:xfrm>
          <a:prstGeom prst="rect">
            <a:avLst/>
          </a:prstGeom>
          <a:noFill/>
        </p:spPr>
        <p:txBody>
          <a:bodyPr wrap="none" rtlCol="0">
            <a:spAutoFit/>
          </a:bodyPr>
          <a:lstStyle/>
          <a:p>
            <a:r>
              <a:rPr lang="en-US" sz="2800" dirty="0">
                <a:solidFill>
                  <a:srgbClr val="FF0000"/>
                </a:solidFill>
              </a:rPr>
              <a:t>?</a:t>
            </a:r>
          </a:p>
        </p:txBody>
      </p:sp>
      <p:sp>
        <p:nvSpPr>
          <p:cNvPr id="6" name="Footer Placeholder 5">
            <a:extLst>
              <a:ext uri="{FF2B5EF4-FFF2-40B4-BE49-F238E27FC236}">
                <a16:creationId xmlns:a16="http://schemas.microsoft.com/office/drawing/2014/main" id="{B11D220B-79DC-F957-39C5-6BB1FAEA4C9D}"/>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419854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4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7"/>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43"/>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2" grpId="0" animBg="1"/>
      <p:bldP spid="13" grpId="0"/>
      <p:bldP spid="21" grpId="0" animBg="1"/>
      <p:bldP spid="19" grpId="0"/>
      <p:bldP spid="42" grpId="0"/>
      <p:bldP spid="43" grpId="0"/>
      <p:bldP spid="43" grpId="1"/>
      <p:bldP spid="44" grpId="0" animBg="1"/>
      <p:bldP spid="45" grpId="0"/>
      <p:bldP spid="46" grpId="0"/>
      <p:bldP spid="48" grpId="0"/>
      <p:bldP spid="4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ADSampling</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9</a:t>
            </a:fld>
            <a:endParaRPr lang="en-US"/>
          </a:p>
        </p:txBody>
      </p:sp>
      <p:sp>
        <p:nvSpPr>
          <p:cNvPr id="11" name="TextBox 10">
            <a:extLst>
              <a:ext uri="{FF2B5EF4-FFF2-40B4-BE49-F238E27FC236}">
                <a16:creationId xmlns:a16="http://schemas.microsoft.com/office/drawing/2014/main" id="{BD02CC11-0B34-2B6E-A433-C60D701C8AB1}"/>
              </a:ext>
            </a:extLst>
          </p:cNvPr>
          <p:cNvSpPr txBox="1"/>
          <p:nvPr/>
        </p:nvSpPr>
        <p:spPr>
          <a:xfrm>
            <a:off x="677711" y="1825436"/>
            <a:ext cx="5213506" cy="1384995"/>
          </a:xfrm>
          <a:prstGeom prst="rect">
            <a:avLst/>
          </a:prstGeom>
          <a:noFill/>
          <a:ln>
            <a:solidFill>
              <a:schemeClr val="accent5"/>
            </a:solidFill>
          </a:ln>
        </p:spPr>
        <p:txBody>
          <a:bodyPr wrap="square" rtlCol="0">
            <a:spAutoFit/>
          </a:bodyPr>
          <a:lstStyle/>
          <a:p>
            <a:r>
              <a:rPr lang="en-US" sz="2400" dirty="0">
                <a:solidFill>
                  <a:srgbClr val="0000FF"/>
                </a:solidFill>
              </a:rPr>
              <a:t>Flexibility: </a:t>
            </a:r>
          </a:p>
          <a:p>
            <a:r>
              <a:rPr lang="en-US" sz="2000" dirty="0"/>
              <a:t>To randomly transform the vectors and </a:t>
            </a:r>
            <a:r>
              <a:rPr lang="en-US" sz="2000" b="1" u="sng" dirty="0"/>
              <a:t>sample different number of dimensions as needed</a:t>
            </a:r>
            <a:r>
              <a:rPr lang="en-US" sz="2000" dirty="0"/>
              <a:t> </a:t>
            </a:r>
            <a:r>
              <a:rPr lang="en-US" sz="2000" b="1" u="sng" dirty="0"/>
              <a:t>during the query phase</a:t>
            </a:r>
            <a:r>
              <a:rPr lang="en-US" sz="2000" dirty="0"/>
              <a:t>.</a:t>
            </a:r>
          </a:p>
        </p:txBody>
      </p:sp>
      <p:sp>
        <p:nvSpPr>
          <p:cNvPr id="13" name="TextBox 12">
            <a:extLst>
              <a:ext uri="{FF2B5EF4-FFF2-40B4-BE49-F238E27FC236}">
                <a16:creationId xmlns:a16="http://schemas.microsoft.com/office/drawing/2014/main" id="{A03C6202-671E-7934-A619-F0A61E4E2B1F}"/>
              </a:ext>
            </a:extLst>
          </p:cNvPr>
          <p:cNvSpPr txBox="1"/>
          <p:nvPr/>
        </p:nvSpPr>
        <p:spPr>
          <a:xfrm>
            <a:off x="677711" y="3735014"/>
            <a:ext cx="5213506" cy="1384995"/>
          </a:xfrm>
          <a:prstGeom prst="rect">
            <a:avLst/>
          </a:prstGeom>
          <a:noFill/>
          <a:ln cap="rnd">
            <a:solidFill>
              <a:schemeClr val="accent5"/>
            </a:solidFill>
            <a:bevel/>
          </a:ln>
          <a:effectLst/>
        </p:spPr>
        <p:txBody>
          <a:bodyPr wrap="square" rtlCol="0">
            <a:spAutoFit/>
          </a:bodyPr>
          <a:lstStyle/>
          <a:p>
            <a:r>
              <a:rPr lang="en-US" sz="2400" dirty="0">
                <a:solidFill>
                  <a:srgbClr val="0000FF"/>
                </a:solidFill>
              </a:rPr>
              <a:t>Adaptivity:</a:t>
            </a:r>
          </a:p>
          <a:p>
            <a:r>
              <a:rPr lang="en-US" sz="2000" dirty="0"/>
              <a:t>To incrementally sample on the transformed vectors and </a:t>
            </a:r>
            <a:r>
              <a:rPr lang="en-US" sz="2000" b="1" u="sng" dirty="0"/>
              <a:t>terminate when it can confidently claim a negative result</a:t>
            </a:r>
            <a:r>
              <a:rPr lang="en-US" sz="2000" dirty="0"/>
              <a:t>.</a:t>
            </a:r>
          </a:p>
        </p:txBody>
      </p:sp>
      <p:sp>
        <p:nvSpPr>
          <p:cNvPr id="16" name="TextBox 15">
            <a:extLst>
              <a:ext uri="{FF2B5EF4-FFF2-40B4-BE49-F238E27FC236}">
                <a16:creationId xmlns:a16="http://schemas.microsoft.com/office/drawing/2014/main" id="{FE0E63AF-DEAB-BED4-660F-CF4438FD423F}"/>
              </a:ext>
            </a:extLst>
          </p:cNvPr>
          <p:cNvSpPr txBox="1"/>
          <p:nvPr/>
        </p:nvSpPr>
        <p:spPr>
          <a:xfrm>
            <a:off x="3051868" y="3044281"/>
            <a:ext cx="465192" cy="769441"/>
          </a:xfrm>
          <a:prstGeom prst="rect">
            <a:avLst/>
          </a:prstGeom>
          <a:noFill/>
        </p:spPr>
        <p:txBody>
          <a:bodyPr wrap="none" rtlCol="0">
            <a:spAutoFit/>
          </a:bodyPr>
          <a:lstStyle/>
          <a:p>
            <a:r>
              <a:rPr lang="en-US" sz="4400" b="1" dirty="0">
                <a:solidFill>
                  <a:schemeClr val="accent5"/>
                </a:solidFill>
              </a:rPr>
              <a:t>+</a:t>
            </a:r>
          </a:p>
        </p:txBody>
      </p:sp>
      <p:sp>
        <p:nvSpPr>
          <p:cNvPr id="17" name="Down Arrow 16">
            <a:extLst>
              <a:ext uri="{FF2B5EF4-FFF2-40B4-BE49-F238E27FC236}">
                <a16:creationId xmlns:a16="http://schemas.microsoft.com/office/drawing/2014/main" id="{542789E3-6407-166A-FBEB-97764A6ADAF0}"/>
              </a:ext>
            </a:extLst>
          </p:cNvPr>
          <p:cNvSpPr/>
          <p:nvPr/>
        </p:nvSpPr>
        <p:spPr>
          <a:xfrm rot="16200000">
            <a:off x="6340171" y="2930857"/>
            <a:ext cx="320098" cy="996287"/>
          </a:xfrm>
          <a:prstGeom prst="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478F4AE-ECDE-214D-CBA9-C3F8AEEC0D4C}"/>
              </a:ext>
            </a:extLst>
          </p:cNvPr>
          <p:cNvSpPr txBox="1"/>
          <p:nvPr/>
        </p:nvSpPr>
        <p:spPr>
          <a:xfrm>
            <a:off x="7106928" y="2951946"/>
            <a:ext cx="4752904" cy="954107"/>
          </a:xfrm>
          <a:prstGeom prst="rect">
            <a:avLst/>
          </a:prstGeom>
          <a:noFill/>
        </p:spPr>
        <p:txBody>
          <a:bodyPr wrap="none" rtlCol="0">
            <a:spAutoFit/>
          </a:bodyPr>
          <a:lstStyle/>
          <a:p>
            <a:pPr algn="ctr"/>
            <a:r>
              <a:rPr lang="en-US" sz="2800" dirty="0">
                <a:solidFill>
                  <a:schemeClr val="accent5">
                    <a:lumMod val="75000"/>
                  </a:schemeClr>
                </a:solidFill>
              </a:rPr>
              <a:t>ADSampling </a:t>
            </a:r>
          </a:p>
          <a:p>
            <a:pPr algn="ctr"/>
            <a:r>
              <a:rPr lang="en-US" sz="2800" dirty="0">
                <a:solidFill>
                  <a:schemeClr val="accent5">
                    <a:lumMod val="75000"/>
                  </a:schemeClr>
                </a:solidFill>
              </a:rPr>
              <a:t>(Adaptive Dimension Sampling)</a:t>
            </a:r>
          </a:p>
        </p:txBody>
      </p:sp>
      <p:sp>
        <p:nvSpPr>
          <p:cNvPr id="6" name="Footer Placeholder 5">
            <a:extLst>
              <a:ext uri="{FF2B5EF4-FFF2-40B4-BE49-F238E27FC236}">
                <a16:creationId xmlns:a16="http://schemas.microsoft.com/office/drawing/2014/main" id="{8C2A0F72-E4E9-48E7-E529-CAB550F86204}"/>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229982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Theoretical Analysis</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10</a:t>
            </a:fld>
            <a:endParaRPr lang="en-US"/>
          </a:p>
        </p:txBody>
      </p:sp>
      <p:grpSp>
        <p:nvGrpSpPr>
          <p:cNvPr id="59" name="Group 58">
            <a:extLst>
              <a:ext uri="{FF2B5EF4-FFF2-40B4-BE49-F238E27FC236}">
                <a16:creationId xmlns:a16="http://schemas.microsoft.com/office/drawing/2014/main" id="{BAF4E3A4-9DB8-C94D-C444-6384A3D59E83}"/>
              </a:ext>
            </a:extLst>
          </p:cNvPr>
          <p:cNvGrpSpPr/>
          <p:nvPr/>
        </p:nvGrpSpPr>
        <p:grpSpPr>
          <a:xfrm>
            <a:off x="7392078" y="4446995"/>
            <a:ext cx="4016004" cy="1285952"/>
            <a:chOff x="9404373" y="183741"/>
            <a:chExt cx="4410677" cy="1440000"/>
          </a:xfrm>
        </p:grpSpPr>
        <p:grpSp>
          <p:nvGrpSpPr>
            <p:cNvPr id="14" name="Group 13">
              <a:extLst>
                <a:ext uri="{FF2B5EF4-FFF2-40B4-BE49-F238E27FC236}">
                  <a16:creationId xmlns:a16="http://schemas.microsoft.com/office/drawing/2014/main" id="{E74140E1-9BA4-F356-9F36-1670E0B344DB}"/>
                </a:ext>
              </a:extLst>
            </p:cNvPr>
            <p:cNvGrpSpPr/>
            <p:nvPr/>
          </p:nvGrpSpPr>
          <p:grpSpPr>
            <a:xfrm>
              <a:off x="9404373" y="183741"/>
              <a:ext cx="1440000" cy="1440000"/>
              <a:chOff x="672061" y="4152597"/>
              <a:chExt cx="1440000" cy="1440000"/>
            </a:xfrm>
          </p:grpSpPr>
          <p:sp>
            <p:nvSpPr>
              <p:cNvPr id="15" name="Oval 14">
                <a:extLst>
                  <a:ext uri="{FF2B5EF4-FFF2-40B4-BE49-F238E27FC236}">
                    <a16:creationId xmlns:a16="http://schemas.microsoft.com/office/drawing/2014/main" id="{C3C65332-3640-B2D0-6351-56CFD968B920}"/>
                  </a:ext>
                </a:extLst>
              </p:cNvPr>
              <p:cNvSpPr/>
              <p:nvPr/>
            </p:nvSpPr>
            <p:spPr>
              <a:xfrm>
                <a:off x="672061" y="4152597"/>
                <a:ext cx="1440000" cy="1440000"/>
              </a:xfrm>
              <a:prstGeom prst="ellipse">
                <a:avLst/>
              </a:prstGeom>
              <a:solidFill>
                <a:schemeClr val="accent2">
                  <a:alpha val="29819"/>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5-point Star 15">
                <a:extLst>
                  <a:ext uri="{FF2B5EF4-FFF2-40B4-BE49-F238E27FC236}">
                    <a16:creationId xmlns:a16="http://schemas.microsoft.com/office/drawing/2014/main" id="{A7E37E3D-F856-8699-C6C2-9DE703E8AA76}"/>
                  </a:ext>
                </a:extLst>
              </p:cNvPr>
              <p:cNvSpPr/>
              <p:nvPr/>
            </p:nvSpPr>
            <p:spPr>
              <a:xfrm>
                <a:off x="1347817" y="4785849"/>
                <a:ext cx="144000" cy="144000"/>
              </a:xfrm>
              <a:prstGeom prst="star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B1059B7-A77D-7ACE-94B8-68A779D080CD}"/>
                      </a:ext>
                    </a:extLst>
                  </p:cNvPr>
                  <p:cNvSpPr txBox="1"/>
                  <p:nvPr/>
                </p:nvSpPr>
                <p:spPr>
                  <a:xfrm>
                    <a:off x="1062647" y="4795520"/>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solidFill>
                                <a:schemeClr val="accent2"/>
                              </a:solidFill>
                              <a:latin typeface="Cambria Math" panose="02040503050406030204" pitchFamily="18" charset="0"/>
                            </a:rPr>
                            <m:t>𝐪</m:t>
                          </m:r>
                        </m:oMath>
                      </m:oMathPara>
                    </a14:m>
                    <a:endParaRPr lang="en-US" b="1" dirty="0">
                      <a:solidFill>
                        <a:schemeClr val="accent2"/>
                      </a:solidFill>
                    </a:endParaRPr>
                  </a:p>
                </p:txBody>
              </p:sp>
            </mc:Choice>
            <mc:Fallback xmlns="">
              <p:sp>
                <p:nvSpPr>
                  <p:cNvPr id="17" name="TextBox 16">
                    <a:extLst>
                      <a:ext uri="{FF2B5EF4-FFF2-40B4-BE49-F238E27FC236}">
                        <a16:creationId xmlns:a16="http://schemas.microsoft.com/office/drawing/2014/main" id="{2B1059B7-A77D-7ACE-94B8-68A779D080CD}"/>
                      </a:ext>
                    </a:extLst>
                  </p:cNvPr>
                  <p:cNvSpPr txBox="1">
                    <a:spLocks noRot="1" noChangeAspect="1" noMove="1" noResize="1" noEditPoints="1" noAdjustHandles="1" noChangeArrowheads="1" noChangeShapeType="1" noTextEdit="1"/>
                  </p:cNvSpPr>
                  <p:nvPr/>
                </p:nvSpPr>
                <p:spPr>
                  <a:xfrm>
                    <a:off x="1062647" y="4795520"/>
                    <a:ext cx="377026" cy="369332"/>
                  </a:xfrm>
                  <a:prstGeom prst="rect">
                    <a:avLst/>
                  </a:prstGeom>
                  <a:blipFill>
                    <a:blip r:embed="rId6"/>
                    <a:stretch>
                      <a:fillRect b="-6667"/>
                    </a:stretch>
                  </a:blipFill>
                </p:spPr>
                <p:txBody>
                  <a:bodyPr/>
                  <a:lstStyle/>
                  <a:p>
                    <a:r>
                      <a:rPr lang="en-US">
                        <a:noFill/>
                      </a:rPr>
                      <a:t> </a:t>
                    </a:r>
                  </a:p>
                </p:txBody>
              </p:sp>
            </mc:Fallback>
          </mc:AlternateContent>
        </p:grpSp>
        <p:sp>
          <p:nvSpPr>
            <p:cNvPr id="18" name="Oval 17">
              <a:extLst>
                <a:ext uri="{FF2B5EF4-FFF2-40B4-BE49-F238E27FC236}">
                  <a16:creationId xmlns:a16="http://schemas.microsoft.com/office/drawing/2014/main" id="{77804C44-7654-871F-260B-B595A2ABF0AC}"/>
                </a:ext>
              </a:extLst>
            </p:cNvPr>
            <p:cNvSpPr/>
            <p:nvPr/>
          </p:nvSpPr>
          <p:spPr>
            <a:xfrm>
              <a:off x="11399435" y="521789"/>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E40D293-B664-27EB-45A1-49D8CA93DE34}"/>
                    </a:ext>
                  </a:extLst>
                </p:cNvPr>
                <p:cNvSpPr txBox="1"/>
                <p:nvPr/>
              </p:nvSpPr>
              <p:spPr>
                <a:xfrm>
                  <a:off x="11470694" y="567933"/>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solidFill>
                              <a:schemeClr val="accent5"/>
                            </a:solidFill>
                            <a:latin typeface="Cambria Math" panose="02040503050406030204" pitchFamily="18" charset="0"/>
                          </a:rPr>
                          <m:t>𝐨</m:t>
                        </m:r>
                      </m:oMath>
                    </m:oMathPara>
                  </a14:m>
                  <a:endParaRPr lang="en-US" b="1" dirty="0"/>
                </a:p>
              </p:txBody>
            </p:sp>
          </mc:Choice>
          <mc:Fallback xmlns="">
            <p:sp>
              <p:nvSpPr>
                <p:cNvPr id="19" name="TextBox 18">
                  <a:extLst>
                    <a:ext uri="{FF2B5EF4-FFF2-40B4-BE49-F238E27FC236}">
                      <a16:creationId xmlns:a16="http://schemas.microsoft.com/office/drawing/2014/main" id="{DE40D293-B664-27EB-45A1-49D8CA93DE34}"/>
                    </a:ext>
                  </a:extLst>
                </p:cNvPr>
                <p:cNvSpPr txBox="1">
                  <a:spLocks noRot="1" noChangeAspect="1" noMove="1" noResize="1" noEditPoints="1" noAdjustHandles="1" noChangeArrowheads="1" noChangeShapeType="1" noTextEdit="1"/>
                </p:cNvSpPr>
                <p:nvPr/>
              </p:nvSpPr>
              <p:spPr>
                <a:xfrm>
                  <a:off x="11470694" y="567933"/>
                  <a:ext cx="370614" cy="369332"/>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2E03CE01-6EBF-EEE3-97BE-74BB47110580}"/>
                </a:ext>
              </a:extLst>
            </p:cNvPr>
            <p:cNvCxnSpPr>
              <a:cxnSpLocks/>
            </p:cNvCxnSpPr>
            <p:nvPr/>
          </p:nvCxnSpPr>
          <p:spPr>
            <a:xfrm flipV="1">
              <a:off x="10888398" y="620244"/>
              <a:ext cx="431387" cy="98452"/>
            </a:xfrm>
            <a:prstGeom prst="straightConnector1">
              <a:avLst/>
            </a:prstGeom>
            <a:ln w="25400">
              <a:solidFill>
                <a:srgbClr val="0000FF"/>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5FA9D81-4C20-5BB9-5430-0B901066F34B}"/>
                    </a:ext>
                  </a:extLst>
                </p:cNvPr>
                <p:cNvSpPr txBox="1"/>
                <p:nvPr/>
              </p:nvSpPr>
              <p:spPr>
                <a:xfrm>
                  <a:off x="10397387" y="737098"/>
                  <a:ext cx="351635" cy="369332"/>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chemeClr val="accent2"/>
                            </a:solidFill>
                            <a:latin typeface="Cambria Math" panose="02040503050406030204" pitchFamily="18" charset="0"/>
                          </a:rPr>
                          <m:t>𝑟</m:t>
                        </m:r>
                      </m:oMath>
                    </m:oMathPara>
                  </a14:m>
                  <a:endParaRPr lang="en-US" dirty="0">
                    <a:solidFill>
                      <a:schemeClr val="accent2"/>
                    </a:solidFill>
                  </a:endParaRPr>
                </a:p>
              </p:txBody>
            </p:sp>
          </mc:Choice>
          <mc:Fallback xmlns="">
            <p:sp>
              <p:nvSpPr>
                <p:cNvPr id="35" name="TextBox 34">
                  <a:extLst>
                    <a:ext uri="{FF2B5EF4-FFF2-40B4-BE49-F238E27FC236}">
                      <a16:creationId xmlns:a16="http://schemas.microsoft.com/office/drawing/2014/main" id="{85FA9D81-4C20-5BB9-5430-0B901066F34B}"/>
                    </a:ext>
                  </a:extLst>
                </p:cNvPr>
                <p:cNvSpPr txBox="1">
                  <a:spLocks noRot="1" noChangeAspect="1" noMove="1" noResize="1" noEditPoints="1" noAdjustHandles="1" noChangeArrowheads="1" noChangeShapeType="1" noTextEdit="1"/>
                </p:cNvSpPr>
                <p:nvPr/>
              </p:nvSpPr>
              <p:spPr>
                <a:xfrm>
                  <a:off x="10397387" y="737098"/>
                  <a:ext cx="351635" cy="369332"/>
                </a:xfrm>
                <a:prstGeom prst="rect">
                  <a:avLst/>
                </a:prstGeom>
                <a:blipFill>
                  <a:blip r:embed="rId8"/>
                  <a:stretch>
                    <a:fillRect/>
                  </a:stretch>
                </a:blipFill>
                <a:ln>
                  <a:noFill/>
                </a:ln>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77F708DA-8BFF-B8B0-3018-223BE0A5F12A}"/>
                </a:ext>
              </a:extLst>
            </p:cNvPr>
            <p:cNvCxnSpPr>
              <a:cxnSpLocks noChangeAspect="1"/>
            </p:cNvCxnSpPr>
            <p:nvPr/>
          </p:nvCxnSpPr>
          <p:spPr>
            <a:xfrm flipV="1">
              <a:off x="10304542" y="737850"/>
              <a:ext cx="504000" cy="115024"/>
            </a:xfrm>
            <a:prstGeom prst="straightConnector1">
              <a:avLst/>
            </a:prstGeom>
            <a:ln w="25400">
              <a:solidFill>
                <a:schemeClr val="accent2"/>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5210017-894A-097E-09CA-AC7DC1A7792D}"/>
                    </a:ext>
                  </a:extLst>
                </p:cNvPr>
                <p:cNvSpPr txBox="1"/>
                <p:nvPr/>
              </p:nvSpPr>
              <p:spPr>
                <a:xfrm>
                  <a:off x="10888398" y="841038"/>
                  <a:ext cx="2926652" cy="501997"/>
                </a:xfrm>
                <a:prstGeom prst="rect">
                  <a:avLst/>
                </a:prstGeom>
                <a:noFill/>
                <a:ln>
                  <a:noFill/>
                </a:ln>
              </p:spPr>
              <p:txBody>
                <a:bodyPr wrap="square" rtlCol="0">
                  <a:spAutoFit/>
                </a:bodyPr>
                <a:lstStyle/>
                <a:p>
                  <a:r>
                    <a:rPr lang="en-US" dirty="0">
                      <a:solidFill>
                        <a:srgbClr val="0000FF"/>
                      </a:solidFill>
                    </a:rPr>
                    <a:t>distance gap </a:t>
                  </a:r>
                  <a14:m>
                    <m:oMath xmlns:m="http://schemas.openxmlformats.org/officeDocument/2006/math">
                      <m:r>
                        <a:rPr lang="en-US" i="1" smtClean="0">
                          <a:solidFill>
                            <a:srgbClr val="0000FF"/>
                          </a:solidFill>
                          <a:latin typeface="Cambria Math" panose="02040503050406030204" pitchFamily="18" charset="0"/>
                        </a:rPr>
                        <m:t>𝛼</m:t>
                      </m:r>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d>
                            <m:dPr>
                              <m:begChr m:val="‖"/>
                              <m:endChr m:val="‖"/>
                              <m:ctrlPr>
                                <a:rPr lang="en-US" b="0" i="1" smtClean="0">
                                  <a:solidFill>
                                    <a:srgbClr val="0000FF"/>
                                  </a:solidFill>
                                  <a:latin typeface="Cambria Math" panose="02040503050406030204" pitchFamily="18" charset="0"/>
                                </a:rPr>
                              </m:ctrlPr>
                            </m:dPr>
                            <m:e>
                              <m:r>
                                <a:rPr lang="en-US" b="1" i="0" smtClean="0">
                                  <a:solidFill>
                                    <a:srgbClr val="0000FF"/>
                                  </a:solidFill>
                                  <a:latin typeface="Cambria Math" panose="02040503050406030204" pitchFamily="18" charset="0"/>
                                </a:rPr>
                                <m:t>𝐨</m:t>
                              </m:r>
                              <m:r>
                                <a:rPr lang="en-US" b="1" i="0" smtClean="0">
                                  <a:solidFill>
                                    <a:srgbClr val="0000FF"/>
                                  </a:solidFill>
                                  <a:latin typeface="Cambria Math" panose="02040503050406030204" pitchFamily="18" charset="0"/>
                                </a:rPr>
                                <m:t>−</m:t>
                              </m:r>
                              <m:r>
                                <a:rPr lang="en-US" b="1" i="0" smtClean="0">
                                  <a:solidFill>
                                    <a:srgbClr val="0000FF"/>
                                  </a:solidFill>
                                  <a:latin typeface="Cambria Math" panose="02040503050406030204" pitchFamily="18" charset="0"/>
                                </a:rPr>
                                <m:t>𝐪</m:t>
                              </m:r>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𝑟</m:t>
                          </m:r>
                        </m:num>
                        <m:den>
                          <m:r>
                            <a:rPr lang="en-US" b="0" i="1" smtClean="0">
                              <a:solidFill>
                                <a:srgbClr val="0000FF"/>
                              </a:solidFill>
                              <a:latin typeface="Cambria Math" panose="02040503050406030204" pitchFamily="18" charset="0"/>
                            </a:rPr>
                            <m:t>𝑟</m:t>
                          </m:r>
                        </m:den>
                      </m:f>
                    </m:oMath>
                  </a14:m>
                  <a:r>
                    <a:rPr lang="en-US" dirty="0">
                      <a:solidFill>
                        <a:srgbClr val="0000FF"/>
                      </a:solidFill>
                    </a:rPr>
                    <a:t> </a:t>
                  </a:r>
                </a:p>
              </p:txBody>
            </p:sp>
          </mc:Choice>
          <mc:Fallback xmlns="">
            <p:sp>
              <p:nvSpPr>
                <p:cNvPr id="37" name="TextBox 36">
                  <a:extLst>
                    <a:ext uri="{FF2B5EF4-FFF2-40B4-BE49-F238E27FC236}">
                      <a16:creationId xmlns:a16="http://schemas.microsoft.com/office/drawing/2014/main" id="{65210017-894A-097E-09CA-AC7DC1A7792D}"/>
                    </a:ext>
                  </a:extLst>
                </p:cNvPr>
                <p:cNvSpPr txBox="1">
                  <a:spLocks noRot="1" noChangeAspect="1" noMove="1" noResize="1" noEditPoints="1" noAdjustHandles="1" noChangeArrowheads="1" noChangeShapeType="1" noTextEdit="1"/>
                </p:cNvSpPr>
                <p:nvPr/>
              </p:nvSpPr>
              <p:spPr>
                <a:xfrm>
                  <a:off x="10888398" y="841038"/>
                  <a:ext cx="2926652" cy="501997"/>
                </a:xfrm>
                <a:prstGeom prst="rect">
                  <a:avLst/>
                </a:prstGeom>
                <a:blipFill>
                  <a:blip r:embed="rId9"/>
                  <a:stretch>
                    <a:fillRect l="-1732" b="-10000"/>
                  </a:stretch>
                </a:blipFill>
                <a:ln>
                  <a:noFill/>
                </a:ln>
              </p:spPr>
              <p:txBody>
                <a:bodyPr/>
                <a:lstStyle/>
                <a:p>
                  <a:r>
                    <a:rPr lang="en-US">
                      <a:noFill/>
                    </a:rPr>
                    <a:t> </a:t>
                  </a:r>
                </a:p>
              </p:txBody>
            </p:sp>
          </mc:Fallback>
        </mc:AlternateContent>
      </p:grpSp>
      <p:graphicFrame>
        <p:nvGraphicFramePr>
          <p:cNvPr id="5" name="Table 12">
            <a:extLst>
              <a:ext uri="{FF2B5EF4-FFF2-40B4-BE49-F238E27FC236}">
                <a16:creationId xmlns:a16="http://schemas.microsoft.com/office/drawing/2014/main" id="{EB5DF120-5422-9932-8C6C-177B6FEBB14E}"/>
              </a:ext>
            </a:extLst>
          </p:cNvPr>
          <p:cNvGraphicFramePr>
            <a:graphicFrameLocks noGrp="1"/>
          </p:cNvGraphicFramePr>
          <p:nvPr/>
        </p:nvGraphicFramePr>
        <p:xfrm>
          <a:off x="840204" y="1923545"/>
          <a:ext cx="8037636" cy="1876107"/>
        </p:xfrm>
        <a:graphic>
          <a:graphicData uri="http://schemas.openxmlformats.org/drawingml/2006/table">
            <a:tbl>
              <a:tblPr firstRow="1">
                <a:tableStyleId>{7DF18680-E054-41AD-8BC1-D1AEF772440D}</a:tableStyleId>
              </a:tblPr>
              <a:tblGrid>
                <a:gridCol w="1879696">
                  <a:extLst>
                    <a:ext uri="{9D8B030D-6E8A-4147-A177-3AD203B41FA5}">
                      <a16:colId xmlns:a16="http://schemas.microsoft.com/office/drawing/2014/main" val="2393678949"/>
                    </a:ext>
                  </a:extLst>
                </a:gridCol>
                <a:gridCol w="3166475">
                  <a:extLst>
                    <a:ext uri="{9D8B030D-6E8A-4147-A177-3AD203B41FA5}">
                      <a16:colId xmlns:a16="http://schemas.microsoft.com/office/drawing/2014/main" val="788846906"/>
                    </a:ext>
                  </a:extLst>
                </a:gridCol>
                <a:gridCol w="2991465">
                  <a:extLst>
                    <a:ext uri="{9D8B030D-6E8A-4147-A177-3AD203B41FA5}">
                      <a16:colId xmlns:a16="http://schemas.microsoft.com/office/drawing/2014/main" val="2054805265"/>
                    </a:ext>
                  </a:extLst>
                </a:gridCol>
              </a:tblGrid>
              <a:tr h="494133">
                <a:tc>
                  <a:txBody>
                    <a:bodyPr/>
                    <a:lstStyle/>
                    <a:p>
                      <a:pPr algn="ctr"/>
                      <a:endParaRPr lang="en-US" dirty="0"/>
                    </a:p>
                  </a:txBody>
                  <a:tcPr anchor="ctr"/>
                </a:tc>
                <a:tc>
                  <a:txBody>
                    <a:bodyPr/>
                    <a:lstStyle/>
                    <a:p>
                      <a:pPr algn="ctr"/>
                      <a:r>
                        <a:rPr lang="en-US" dirty="0"/>
                        <a:t>Positive (a few)</a:t>
                      </a:r>
                    </a:p>
                  </a:txBody>
                  <a:tcPr anchor="ctr"/>
                </a:tc>
                <a:tc>
                  <a:txBody>
                    <a:bodyPr/>
                    <a:lstStyle/>
                    <a:p>
                      <a:pPr algn="ctr"/>
                      <a:r>
                        <a:rPr lang="en-US" dirty="0"/>
                        <a:t>Negative (many)</a:t>
                      </a:r>
                    </a:p>
                  </a:txBody>
                  <a:tcPr anchor="ctr"/>
                </a:tc>
                <a:extLst>
                  <a:ext uri="{0D108BD9-81ED-4DB2-BD59-A6C34878D82A}">
                    <a16:rowId xmlns:a16="http://schemas.microsoft.com/office/drawing/2014/main" val="1985473594"/>
                  </a:ext>
                </a:extLst>
              </a:tr>
              <a:tr h="727075">
                <a:tc>
                  <a:txBody>
                    <a:bodyPr/>
                    <a:lstStyle/>
                    <a:p>
                      <a:pPr algn="ctr"/>
                      <a:r>
                        <a:rPr lang="en-US" dirty="0"/>
                        <a:t>Failure Probability</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431710714"/>
                  </a:ext>
                </a:extLst>
              </a:tr>
              <a:tr h="654899">
                <a:tc>
                  <a:txBody>
                    <a:bodyPr/>
                    <a:lstStyle/>
                    <a:p>
                      <a:pPr algn="ctr"/>
                      <a:r>
                        <a:rPr lang="en-US" dirty="0"/>
                        <a:t>Time Complexity</a:t>
                      </a:r>
                    </a:p>
                  </a:txBody>
                  <a:tcPr anchor="ctr"/>
                </a:tc>
                <a:tc>
                  <a:txBody>
                    <a:bodyPr/>
                    <a:lstStyle/>
                    <a:p>
                      <a:pPr algn="ct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extLst>
                  <a:ext uri="{0D108BD9-81ED-4DB2-BD59-A6C34878D82A}">
                    <a16:rowId xmlns:a16="http://schemas.microsoft.com/office/drawing/2014/main" val="3873389904"/>
                  </a:ext>
                </a:extLst>
              </a:tr>
            </a:tbl>
          </a:graphicData>
        </a:graphic>
      </p:graphicFrame>
      <p:sp>
        <p:nvSpPr>
          <p:cNvPr id="11" name="TextBox 10">
            <a:extLst>
              <a:ext uri="{FF2B5EF4-FFF2-40B4-BE49-F238E27FC236}">
                <a16:creationId xmlns:a16="http://schemas.microsoft.com/office/drawing/2014/main" id="{0BC3C0AE-AB05-E20F-464E-A1F3B7D50325}"/>
              </a:ext>
            </a:extLst>
          </p:cNvPr>
          <p:cNvSpPr txBox="1"/>
          <p:nvPr/>
        </p:nvSpPr>
        <p:spPr>
          <a:xfrm>
            <a:off x="7250457" y="2597962"/>
            <a:ext cx="301686" cy="369332"/>
          </a:xfrm>
          <a:prstGeom prst="rect">
            <a:avLst/>
          </a:prstGeom>
          <a:noFill/>
        </p:spPr>
        <p:txBody>
          <a:bodyPr wrap="none" rtlCol="0">
            <a:spAutoFit/>
          </a:bodyPr>
          <a:lstStyle/>
          <a:p>
            <a:r>
              <a:rPr lang="en-US" altLang="zh-CN" dirty="0"/>
              <a:t>0</a:t>
            </a: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F76A89D-16ED-5ED2-719F-7F9DF5323DDD}"/>
                  </a:ext>
                </a:extLst>
              </p:cNvPr>
              <p:cNvSpPr txBox="1"/>
              <p:nvPr/>
            </p:nvSpPr>
            <p:spPr>
              <a:xfrm>
                <a:off x="3833685" y="3291952"/>
                <a:ext cx="98862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b="0" smtClean="0">
                          <a:latin typeface="Cambria Math" panose="02040503050406030204" pitchFamily="18" charset="0"/>
                        </a:rPr>
                        <m:t>𝑂</m:t>
                      </m:r>
                      <m:r>
                        <a:rPr lang="en-US" b="0" smtClean="0">
                          <a:latin typeface="Cambria Math" panose="02040503050406030204" pitchFamily="18" charset="0"/>
                        </a:rPr>
                        <m:t>(</m:t>
                      </m:r>
                      <m:r>
                        <a:rPr lang="en-US" b="0" smtClean="0">
                          <a:latin typeface="Cambria Math" panose="02040503050406030204" pitchFamily="18" charset="0"/>
                        </a:rPr>
                        <m:t>𝐷</m:t>
                      </m:r>
                      <m:r>
                        <a:rPr lang="en-US" b="0"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6F76A89D-16ED-5ED2-719F-7F9DF5323DDD}"/>
                  </a:ext>
                </a:extLst>
              </p:cNvPr>
              <p:cNvSpPr txBox="1">
                <a:spLocks noRot="1" noChangeAspect="1" noMove="1" noResize="1" noEditPoints="1" noAdjustHandles="1" noChangeArrowheads="1" noChangeShapeType="1" noTextEdit="1"/>
              </p:cNvSpPr>
              <p:nvPr/>
            </p:nvSpPr>
            <p:spPr>
              <a:xfrm>
                <a:off x="3833685" y="3291952"/>
                <a:ext cx="988620" cy="369332"/>
              </a:xfrm>
              <a:prstGeom prst="rect">
                <a:avLst/>
              </a:prstGeom>
              <a:blipFill>
                <a:blip r:embed="rId10"/>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2734D1-9913-FA87-C9E5-6E87C7A93529}"/>
                  </a:ext>
                </a:extLst>
              </p:cNvPr>
              <p:cNvSpPr txBox="1"/>
              <p:nvPr/>
            </p:nvSpPr>
            <p:spPr>
              <a:xfrm>
                <a:off x="689033" y="4649255"/>
                <a:ext cx="10356865" cy="769441"/>
              </a:xfrm>
              <a:prstGeom prst="rect">
                <a:avLst/>
              </a:prstGeom>
              <a:noFill/>
            </p:spPr>
            <p:txBody>
              <a:bodyPr wrap="square">
                <a:spAutoFit/>
              </a:bodyPr>
              <a:lstStyle/>
              <a:p>
                <a:pPr marL="342900" indent="-342900">
                  <a:buFont typeface="Arial" panose="020B0604020202020204" pitchFamily="34" charset="0"/>
                  <a:buChar char="•"/>
                </a:pPr>
                <a:r>
                  <a:rPr lang="en-US" altLang="zh-CN" sz="2400" dirty="0">
                    <a:latin typeface="Calibri" panose="020F0502020204030204" pitchFamily="34" charset="0"/>
                    <a:ea typeface="Microsoft YaHei" panose="020B0503020204020204" pitchFamily="34" charset="-122"/>
                    <a:cs typeface="Calibri" panose="020F0502020204030204" pitchFamily="34" charset="0"/>
                  </a:rPr>
                  <a:t>The distance gap </a:t>
                </a:r>
                <a14:m>
                  <m:oMath xmlns:m="http://schemas.openxmlformats.org/officeDocument/2006/math">
                    <m:r>
                      <a:rPr lang="en-US" altLang="zh-CN" sz="2400" i="1">
                        <a:latin typeface="Cambria Math" panose="02040503050406030204" pitchFamily="18" charset="0"/>
                        <a:ea typeface="Microsoft YaHei" panose="020B0503020204020204" pitchFamily="34" charset="-122"/>
                        <a:cs typeface="Calibri" panose="020F0502020204030204" pitchFamily="34" charset="0"/>
                      </a:rPr>
                      <m:t>𝛼</m:t>
                    </m:r>
                    <m:r>
                      <a:rPr lang="en-US" altLang="zh-CN" sz="2400" i="1">
                        <a:latin typeface="Cambria Math" panose="02040503050406030204" pitchFamily="18" charset="0"/>
                        <a:ea typeface="Microsoft YaHei" panose="020B0503020204020204" pitchFamily="34" charset="-122"/>
                        <a:cs typeface="Calibri" panose="020F0502020204030204" pitchFamily="34" charset="0"/>
                      </a:rPr>
                      <m:t> </m:t>
                    </m:r>
                  </m:oMath>
                </a14:m>
                <a:r>
                  <a:rPr lang="en-US" altLang="zh-CN" sz="2400" dirty="0">
                    <a:latin typeface="Calibri" panose="020F0502020204030204" pitchFamily="34" charset="0"/>
                    <a:ea typeface="Microsoft YaHei" panose="020B0503020204020204" pitchFamily="34" charset="-122"/>
                    <a:cs typeface="Calibri" panose="020F0502020204030204" pitchFamily="34" charset="0"/>
                  </a:rPr>
                  <a:t>affect the time complexity. </a:t>
                </a:r>
              </a:p>
              <a:p>
                <a:pPr marL="800100" lvl="1" indent="-342900">
                  <a:buFont typeface="Arial" panose="020B0604020202020204" pitchFamily="34" charset="0"/>
                  <a:buChar char="•"/>
                </a:pPr>
                <a:r>
                  <a:rPr lang="en-US" altLang="zh-CN" sz="2000" dirty="0">
                    <a:latin typeface="Calibri" panose="020F0502020204030204" pitchFamily="34" charset="0"/>
                    <a:ea typeface="Microsoft YaHei" panose="020B0503020204020204" pitchFamily="34" charset="-122"/>
                    <a:cs typeface="Calibri" panose="020F0502020204030204" pitchFamily="34" charset="0"/>
                  </a:rPr>
                  <a:t>larger </a:t>
                </a:r>
                <a14:m>
                  <m:oMath xmlns:m="http://schemas.openxmlformats.org/officeDocument/2006/math">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𝛼</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t>
                </a:r>
                <a14:m>
                  <m:oMath xmlns:m="http://schemas.openxmlformats.org/officeDocument/2006/math">
                    <m:r>
                      <a:rPr lang="en-US" altLang="zh-CN" sz="2000" b="0" i="1" dirty="0" smtClean="0">
                        <a:latin typeface="Cambria Math" panose="02040503050406030204" pitchFamily="18" charset="0"/>
                        <a:ea typeface="Microsoft YaHei" panose="020B0503020204020204" pitchFamily="34" charset="-122"/>
                        <a:cs typeface="Calibri" panose="020F0502020204030204" pitchFamily="34" charset="0"/>
                      </a:rPr>
                      <m:t>⇒</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more room for approximation</a:t>
                </a:r>
              </a:p>
            </p:txBody>
          </p:sp>
        </mc:Choice>
        <mc:Fallback xmlns="">
          <p:sp>
            <p:nvSpPr>
              <p:cNvPr id="6" name="TextBox 5">
                <a:extLst>
                  <a:ext uri="{FF2B5EF4-FFF2-40B4-BE49-F238E27FC236}">
                    <a16:creationId xmlns:a16="http://schemas.microsoft.com/office/drawing/2014/main" id="{532734D1-9913-FA87-C9E5-6E87C7A93529}"/>
                  </a:ext>
                </a:extLst>
              </p:cNvPr>
              <p:cNvSpPr txBox="1">
                <a:spLocks noRot="1" noChangeAspect="1" noMove="1" noResize="1" noEditPoints="1" noAdjustHandles="1" noChangeArrowheads="1" noChangeShapeType="1" noTextEdit="1"/>
              </p:cNvSpPr>
              <p:nvPr/>
            </p:nvSpPr>
            <p:spPr>
              <a:xfrm>
                <a:off x="689033" y="4649255"/>
                <a:ext cx="10356865" cy="769441"/>
              </a:xfrm>
              <a:prstGeom prst="rect">
                <a:avLst/>
              </a:prstGeom>
              <a:blipFill>
                <a:blip r:embed="rId12"/>
                <a:stretch>
                  <a:fillRect l="-765" t="-6349" b="-1349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148F31-D0DE-50B7-8251-89E119F69C5A}"/>
                  </a:ext>
                </a:extLst>
              </p:cNvPr>
              <p:cNvSpPr txBox="1"/>
              <p:nvPr/>
            </p:nvSpPr>
            <p:spPr>
              <a:xfrm>
                <a:off x="6656850" y="3167302"/>
                <a:ext cx="1470455" cy="618631"/>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r>
                        <a:rPr lang="en-US" b="0" smtClean="0">
                          <a:solidFill>
                            <a:srgbClr val="FF0000"/>
                          </a:solidFill>
                          <a:latin typeface="Cambria Math" panose="02040503050406030204" pitchFamily="18" charset="0"/>
                        </a:rPr>
                        <m:t>𝑂</m:t>
                      </m:r>
                      <m:d>
                        <m:dPr>
                          <m:ctrlPr>
                            <a:rPr lang="en-US" b="0" i="1" smtClean="0">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1</m:t>
                              </m:r>
                            </m:num>
                            <m:den>
                              <m:sSup>
                                <m:sSupPr>
                                  <m:ctrlPr>
                                    <a:rPr lang="en-US" i="1">
                                      <a:solidFill>
                                        <a:srgbClr val="FF0000"/>
                                      </a:solidFill>
                                      <a:latin typeface="Cambria Math" panose="02040503050406030204" pitchFamily="18" charset="0"/>
                                    </a:rPr>
                                  </m:ctrlPr>
                                </m:sSupPr>
                                <m:e>
                                  <m:r>
                                    <a:rPr lang="en-US">
                                      <a:solidFill>
                                        <a:srgbClr val="FF0000"/>
                                      </a:solidFill>
                                      <a:latin typeface="Cambria Math" panose="02040503050406030204" pitchFamily="18" charset="0"/>
                                    </a:rPr>
                                    <m:t>𝛼</m:t>
                                  </m:r>
                                </m:e>
                                <m:sup>
                                  <m:r>
                                    <a:rPr lang="en-US">
                                      <a:solidFill>
                                        <a:srgbClr val="FF0000"/>
                                      </a:solidFill>
                                      <a:latin typeface="Cambria Math" panose="02040503050406030204" pitchFamily="18" charset="0"/>
                                    </a:rPr>
                                    <m:t>2</m:t>
                                  </m:r>
                                </m:sup>
                              </m:sSup>
                            </m:den>
                          </m:f>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panose="02040503050406030204" pitchFamily="18" charset="0"/>
                                </a:rPr>
                                <m:t>log</m:t>
                              </m:r>
                            </m:fName>
                            <m:e>
                              <m:f>
                                <m:fPr>
                                  <m:ctrlPr>
                                    <a:rPr lang="en-US"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𝐷</m:t>
                                  </m:r>
                                </m:num>
                                <m:den>
                                  <m:r>
                                    <a:rPr lang="en-US">
                                      <a:solidFill>
                                        <a:srgbClr val="FF0000"/>
                                      </a:solidFill>
                                      <a:latin typeface="Cambria Math" panose="02040503050406030204" pitchFamily="18" charset="0"/>
                                    </a:rPr>
                                    <m:t>𝛿</m:t>
                                  </m:r>
                                </m:den>
                              </m:f>
                            </m:e>
                          </m:func>
                        </m:e>
                      </m:d>
                    </m:oMath>
                  </m:oMathPara>
                </a14:m>
                <a:endParaRPr lang="en-US" dirty="0">
                  <a:solidFill>
                    <a:srgbClr val="FF0000"/>
                  </a:solidFill>
                </a:endParaRPr>
              </a:p>
            </p:txBody>
          </p:sp>
        </mc:Choice>
        <mc:Fallback xmlns="">
          <p:sp>
            <p:nvSpPr>
              <p:cNvPr id="9" name="TextBox 8">
                <a:extLst>
                  <a:ext uri="{FF2B5EF4-FFF2-40B4-BE49-F238E27FC236}">
                    <a16:creationId xmlns:a16="http://schemas.microsoft.com/office/drawing/2014/main" id="{EE148F31-D0DE-50B7-8251-89E119F69C5A}"/>
                  </a:ext>
                </a:extLst>
              </p:cNvPr>
              <p:cNvSpPr txBox="1">
                <a:spLocks noRot="1" noChangeAspect="1" noMove="1" noResize="1" noEditPoints="1" noAdjustHandles="1" noChangeArrowheads="1" noChangeShapeType="1" noTextEdit="1"/>
              </p:cNvSpPr>
              <p:nvPr/>
            </p:nvSpPr>
            <p:spPr>
              <a:xfrm>
                <a:off x="6656850" y="3167302"/>
                <a:ext cx="1470455" cy="618631"/>
              </a:xfrm>
              <a:prstGeom prst="rect">
                <a:avLst/>
              </a:prstGeom>
              <a:blipFill>
                <a:blip r:embed="rId13"/>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3DB5805-028E-596F-0DA3-6731CD732FC4}"/>
                  </a:ext>
                </a:extLst>
              </p:cNvPr>
              <p:cNvSpPr txBox="1"/>
              <p:nvPr/>
            </p:nvSpPr>
            <p:spPr>
              <a:xfrm>
                <a:off x="4024354" y="2578463"/>
                <a:ext cx="6072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𝛿</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A3DB5805-028E-596F-0DA3-6731CD732FC4}"/>
                  </a:ext>
                </a:extLst>
              </p:cNvPr>
              <p:cNvSpPr txBox="1">
                <a:spLocks noRot="1" noChangeAspect="1" noMove="1" noResize="1" noEditPoints="1" noAdjustHandles="1" noChangeArrowheads="1" noChangeShapeType="1" noTextEdit="1"/>
              </p:cNvSpPr>
              <p:nvPr/>
            </p:nvSpPr>
            <p:spPr>
              <a:xfrm>
                <a:off x="4024354" y="2578463"/>
                <a:ext cx="607282" cy="369332"/>
              </a:xfrm>
              <a:prstGeom prst="rect">
                <a:avLst/>
              </a:prstGeom>
              <a:blipFill>
                <a:blip r:embed="rId14"/>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5999668D-FFBA-D85A-BB82-6ECCE018E79C}"/>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2026172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Dimensionality &amp; Recall</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11</a:t>
            </a:fld>
            <a:endParaRPr lang="en-US"/>
          </a:p>
        </p:txBody>
      </p:sp>
      <p:pic>
        <p:nvPicPr>
          <p:cNvPr id="3" name="Picture 2">
            <a:extLst>
              <a:ext uri="{FF2B5EF4-FFF2-40B4-BE49-F238E27FC236}">
                <a16:creationId xmlns:a16="http://schemas.microsoft.com/office/drawing/2014/main" id="{908B233D-309A-EB70-AA8D-F86C3A9F6FF4}"/>
              </a:ext>
            </a:extLst>
          </p:cNvPr>
          <p:cNvPicPr>
            <a:picLocks noChangeAspect="1"/>
          </p:cNvPicPr>
          <p:nvPr/>
        </p:nvPicPr>
        <p:blipFill rotWithShape="1">
          <a:blip r:embed="rId4"/>
          <a:srcRect b="3825"/>
          <a:stretch/>
        </p:blipFill>
        <p:spPr>
          <a:xfrm>
            <a:off x="2864877" y="1348249"/>
            <a:ext cx="6462246" cy="5116439"/>
          </a:xfrm>
          <a:prstGeom prst="rect">
            <a:avLst/>
          </a:prstGeom>
        </p:spPr>
      </p:pic>
      <p:sp>
        <p:nvSpPr>
          <p:cNvPr id="6" name="TextBox 5">
            <a:extLst>
              <a:ext uri="{FF2B5EF4-FFF2-40B4-BE49-F238E27FC236}">
                <a16:creationId xmlns:a16="http://schemas.microsoft.com/office/drawing/2014/main" id="{DA333F81-DF58-FF8B-DE14-E79C7078565D}"/>
              </a:ext>
            </a:extLst>
          </p:cNvPr>
          <p:cNvSpPr txBox="1"/>
          <p:nvPr/>
        </p:nvSpPr>
        <p:spPr>
          <a:xfrm>
            <a:off x="7389993" y="1079938"/>
            <a:ext cx="1319592" cy="369332"/>
          </a:xfrm>
          <a:prstGeom prst="rect">
            <a:avLst/>
          </a:prstGeom>
          <a:noFill/>
        </p:spPr>
        <p:txBody>
          <a:bodyPr wrap="none" rtlCol="0">
            <a:spAutoFit/>
          </a:bodyPr>
          <a:lstStyle/>
          <a:p>
            <a:r>
              <a:rPr lang="en-US" dirty="0">
                <a:solidFill>
                  <a:srgbClr val="00B050"/>
                </a:solidFill>
              </a:rPr>
              <a:t>ADSampling</a:t>
            </a:r>
          </a:p>
        </p:txBody>
      </p:sp>
      <p:sp>
        <p:nvSpPr>
          <p:cNvPr id="7" name="Footer Placeholder 6">
            <a:extLst>
              <a:ext uri="{FF2B5EF4-FFF2-40B4-BE49-F238E27FC236}">
                <a16:creationId xmlns:a16="http://schemas.microsoft.com/office/drawing/2014/main" id="{F98C2A85-FBE8-1EEA-A8C5-B1CEA936D760}"/>
              </a:ext>
            </a:extLst>
          </p:cNvPr>
          <p:cNvSpPr>
            <a:spLocks noGrp="1"/>
          </p:cNvSpPr>
          <p:nvPr>
            <p:ph type="ftr" sz="quarter" idx="11"/>
          </p:nvPr>
        </p:nvSpPr>
        <p:spPr/>
        <p:txBody>
          <a:bodyPr/>
          <a:lstStyle/>
          <a:p>
            <a:r>
              <a:rPr lang="en-SG"/>
              <a:t>Nearest Neighbor Search on High-Dimensional Vector Data</a:t>
            </a:r>
            <a:endParaRPr lang="en-SG" dirty="0"/>
          </a:p>
        </p:txBody>
      </p:sp>
    </p:spTree>
    <p:custDataLst>
      <p:tags r:id="rId1"/>
    </p:custDataLst>
    <p:extLst>
      <p:ext uri="{BB962C8B-B14F-4D97-AF65-F5344CB8AC3E}">
        <p14:creationId xmlns:p14="http://schemas.microsoft.com/office/powerpoint/2010/main" val="475499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Summary</a:t>
            </a:r>
            <a:endParaRPr lang="zh-HK" altLang="en-US" dirty="0"/>
          </a:p>
        </p:txBody>
      </p:sp>
      <p:sp>
        <p:nvSpPr>
          <p:cNvPr id="4" name="Slide Number Placeholder 3">
            <a:extLst>
              <a:ext uri="{FF2B5EF4-FFF2-40B4-BE49-F238E27FC236}">
                <a16:creationId xmlns:a16="http://schemas.microsoft.com/office/drawing/2014/main" id="{053ED778-92B6-4BC7-84EA-B010AB4A24D5}"/>
              </a:ext>
            </a:extLst>
          </p:cNvPr>
          <p:cNvSpPr>
            <a:spLocks noGrp="1"/>
          </p:cNvSpPr>
          <p:nvPr>
            <p:ph type="sldNum" sz="quarter" idx="12"/>
          </p:nvPr>
        </p:nvSpPr>
        <p:spPr/>
        <p:txBody>
          <a:bodyPr/>
          <a:lstStyle/>
          <a:p>
            <a:fld id="{F19F6F11-1192-41BB-B490-DF53A7E38BB8}" type="slidenum">
              <a:rPr lang="en-US" smtClean="0"/>
              <a:t>12</a:t>
            </a:fld>
            <a:endParaRPr lang="en-US"/>
          </a:p>
        </p:txBody>
      </p:sp>
      <p:sp>
        <p:nvSpPr>
          <p:cNvPr id="8" name="TextBox 7">
            <a:extLst>
              <a:ext uri="{FF2B5EF4-FFF2-40B4-BE49-F238E27FC236}">
                <a16:creationId xmlns:a16="http://schemas.microsoft.com/office/drawing/2014/main" id="{367D7ACD-5320-7DBB-9A19-A9CB57344088}"/>
              </a:ext>
            </a:extLst>
          </p:cNvPr>
          <p:cNvSpPr txBox="1"/>
          <p:nvPr/>
        </p:nvSpPr>
        <p:spPr>
          <a:xfrm>
            <a:off x="1567405" y="2151727"/>
            <a:ext cx="9057190" cy="2554545"/>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Ø"/>
            </a:pPr>
            <a:r>
              <a:rPr lang="en-US" altLang="zh-CN" sz="2000" b="1" u="sng" dirty="0">
                <a:latin typeface="Calibri" panose="020F0502020204030204" pitchFamily="34" charset="0"/>
                <a:ea typeface="Microsoft YaHei" panose="020B0503020204020204" pitchFamily="34" charset="-122"/>
                <a:cs typeface="Calibri" panose="020F0502020204030204" pitchFamily="34" charset="0"/>
              </a:rPr>
              <a:t>Problem</a:t>
            </a:r>
            <a:r>
              <a:rPr lang="en-US" altLang="zh-CN" sz="2000" dirty="0">
                <a:latin typeface="Calibri" panose="020F0502020204030204" pitchFamily="34" charset="0"/>
                <a:ea typeface="Microsoft YaHei" panose="020B0503020204020204" pitchFamily="34" charset="-122"/>
                <a:cs typeface="Calibri" panose="020F0502020204030204" pitchFamily="34" charset="0"/>
              </a:rPr>
              <a:t>: we identify the distance comparison operation for approximate nearest neighbor search.</a:t>
            </a:r>
          </a:p>
          <a:p>
            <a:pPr marL="285750" indent="-285750">
              <a:buFont typeface="Wingdings" panose="05000000000000000000" pitchFamily="2" charset="2"/>
              <a:buChar char="Ø"/>
            </a:pP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000" b="1" u="sng" dirty="0">
                <a:latin typeface="Calibri" panose="020F0502020204030204" pitchFamily="34" charset="0"/>
                <a:ea typeface="Microsoft YaHei" panose="020B0503020204020204" pitchFamily="34" charset="-122"/>
                <a:cs typeface="Calibri" panose="020F0502020204030204" pitchFamily="34" charset="0"/>
              </a:rPr>
              <a:t>Algorithm</a:t>
            </a:r>
            <a:r>
              <a:rPr lang="en-US" altLang="zh-CN" sz="2000" dirty="0">
                <a:latin typeface="Calibri" panose="020F0502020204030204" pitchFamily="34" charset="0"/>
                <a:ea typeface="Microsoft YaHei" panose="020B0503020204020204" pitchFamily="34" charset="-122"/>
                <a:cs typeface="Calibri" panose="020F0502020204030204" pitchFamily="34" charset="0"/>
              </a:rPr>
              <a:t>: we propose a randomized algorithm ADSampling. </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It can adaptively sample a certain number of dimensions based on the needs.</a:t>
            </a:r>
          </a:p>
          <a:p>
            <a:pPr marL="285750" indent="-285750">
              <a:buFont typeface="Wingdings" panose="05000000000000000000" pitchFamily="2" charset="2"/>
              <a:buChar char="Ø"/>
            </a:pP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000" b="1" u="sng" dirty="0">
                <a:latin typeface="Calibri" panose="020F0502020204030204" pitchFamily="34" charset="0"/>
                <a:ea typeface="Microsoft YaHei" panose="020B0503020204020204" pitchFamily="34" charset="-122"/>
                <a:cs typeface="Calibri" panose="020F0502020204030204" pitchFamily="34" charset="0"/>
              </a:rPr>
              <a:t>Theoretical Analysis</a:t>
            </a:r>
            <a:r>
              <a:rPr lang="en-US" altLang="zh-CN" sz="2000" dirty="0">
                <a:latin typeface="Calibri" panose="020F0502020204030204" pitchFamily="34" charset="0"/>
                <a:ea typeface="Microsoft YaHei" panose="020B0503020204020204" pitchFamily="34" charset="-122"/>
                <a:cs typeface="Calibri" panose="020F0502020204030204" pitchFamily="34" charset="0"/>
              </a:rPr>
              <a:t>: we prove that ADSampling is reliable and has logarithmic time complexity in most cases.</a:t>
            </a:r>
          </a:p>
        </p:txBody>
      </p:sp>
    </p:spTree>
    <p:custDataLst>
      <p:tags r:id="rId1"/>
    </p:custDataLst>
    <p:extLst>
      <p:ext uri="{BB962C8B-B14F-4D97-AF65-F5344CB8AC3E}">
        <p14:creationId xmlns:p14="http://schemas.microsoft.com/office/powerpoint/2010/main" val="3920771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95F82F-0E71-FF3E-7C97-AAF89C2A2CFB}"/>
              </a:ext>
            </a:extLst>
          </p:cNvPr>
          <p:cNvSpPr>
            <a:spLocks noGrp="1"/>
          </p:cNvSpPr>
          <p:nvPr>
            <p:ph idx="1"/>
          </p:nvPr>
        </p:nvSpPr>
        <p:spPr>
          <a:xfrm>
            <a:off x="838200" y="1621515"/>
            <a:ext cx="10515600" cy="3614970"/>
          </a:xfrm>
        </p:spPr>
        <p:txBody>
          <a:bodyPr>
            <a:normAutofit/>
          </a:bodyPr>
          <a:lstStyle/>
          <a:p>
            <a:endParaRPr lang="en-SG" dirty="0"/>
          </a:p>
          <a:p>
            <a:r>
              <a:rPr lang="en-US" altLang="zh-CN" dirty="0"/>
              <a:t>ANN with </a:t>
            </a:r>
            <a:r>
              <a:rPr lang="en-SG" dirty="0"/>
              <a:t>Efficient and Reliable Distance Comparisons (SIGMOD’23)</a:t>
            </a:r>
          </a:p>
          <a:p>
            <a:endParaRPr lang="en-US" altLang="zh-CN" dirty="0"/>
          </a:p>
          <a:p>
            <a:r>
              <a:rPr lang="en-US" altLang="zh-CN" b="1" dirty="0">
                <a:solidFill>
                  <a:srgbClr val="0000FF"/>
                </a:solidFill>
              </a:rPr>
              <a:t>ANN with </a:t>
            </a:r>
            <a:r>
              <a:rPr lang="en-SG" b="1" dirty="0">
                <a:solidFill>
                  <a:srgbClr val="0000FF"/>
                </a:solidFill>
              </a:rPr>
              <a:t>Efficient and Reliable Distance Estimation (SIGMOD’2</a:t>
            </a:r>
            <a:r>
              <a:rPr lang="en-US" altLang="zh-CN" b="1" dirty="0">
                <a:solidFill>
                  <a:srgbClr val="0000FF"/>
                </a:solidFill>
              </a:rPr>
              <a:t>4</a:t>
            </a:r>
            <a:r>
              <a:rPr lang="en-SG" b="1" dirty="0">
                <a:solidFill>
                  <a:srgbClr val="0000FF"/>
                </a:solidFill>
              </a:rPr>
              <a:t>)</a:t>
            </a:r>
          </a:p>
          <a:p>
            <a:endParaRPr lang="en-SG" dirty="0"/>
          </a:p>
          <a:p>
            <a:r>
              <a:rPr lang="en-SG" dirty="0"/>
              <a:t>Practical and Asymptotically Optimal Quantization (Preprint)</a:t>
            </a:r>
          </a:p>
        </p:txBody>
      </p:sp>
      <p:sp>
        <p:nvSpPr>
          <p:cNvPr id="5" name="Title 4">
            <a:extLst>
              <a:ext uri="{FF2B5EF4-FFF2-40B4-BE49-F238E27FC236}">
                <a16:creationId xmlns:a16="http://schemas.microsoft.com/office/drawing/2014/main" id="{9223E659-FE86-7077-301A-AEEF81266172}"/>
              </a:ext>
            </a:extLst>
          </p:cNvPr>
          <p:cNvSpPr>
            <a:spLocks noGrp="1"/>
          </p:cNvSpPr>
          <p:nvPr>
            <p:ph type="title"/>
          </p:nvPr>
        </p:nvSpPr>
        <p:spPr/>
        <p:txBody>
          <a:bodyPr/>
          <a:lstStyle/>
          <a:p>
            <a:r>
              <a:rPr lang="en-US" altLang="zh-CN" dirty="0"/>
              <a:t>Outline</a:t>
            </a:r>
            <a:endParaRPr lang="en-SG" dirty="0"/>
          </a:p>
        </p:txBody>
      </p:sp>
    </p:spTree>
    <p:extLst>
      <p:ext uri="{BB962C8B-B14F-4D97-AF65-F5344CB8AC3E}">
        <p14:creationId xmlns:p14="http://schemas.microsoft.com/office/powerpoint/2010/main" val="22400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lstStyle/>
          <a:p>
            <a:r>
              <a:rPr lang="en-US" altLang="zh-HK" dirty="0"/>
              <a:t>Estimating Distances with Quantization</a:t>
            </a:r>
            <a:endParaRPr lang="zh-HK" altLang="en-US"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14</a:t>
            </a:fld>
            <a:endParaRPr lang="en-US"/>
          </a:p>
        </p:txBody>
      </p:sp>
      <p:sp>
        <p:nvSpPr>
          <p:cNvPr id="10" name="文本占位符 44">
            <a:extLst>
              <a:ext uri="{FF2B5EF4-FFF2-40B4-BE49-F238E27FC236}">
                <a16:creationId xmlns:a16="http://schemas.microsoft.com/office/drawing/2014/main" id="{2E87BF06-D9ED-C1E6-52AB-96949C36558B}"/>
              </a:ext>
            </a:extLst>
          </p:cNvPr>
          <p:cNvSpPr txBox="1">
            <a:spLocks/>
          </p:cNvSpPr>
          <p:nvPr/>
        </p:nvSpPr>
        <p:spPr>
          <a:xfrm>
            <a:off x="677514" y="1206086"/>
            <a:ext cx="10836965" cy="30080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Product Quantization (PQ) and its variants [3-5]</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With Fast Scan[5], they can efficiently and accurately estimate distances for many datasets.</a:t>
            </a:r>
          </a:p>
          <a:p>
            <a:pPr marL="1200150" lvl="2" indent="-285750">
              <a:buFont typeface="Wingdings" panose="05000000000000000000" pitchFamily="2" charset="2"/>
              <a:buChar char="Ø"/>
            </a:pPr>
            <a:r>
              <a:rPr lang="en-US" altLang="zh-CN" sz="1600" dirty="0">
                <a:latin typeface="Calibri" panose="020F0502020204030204" pitchFamily="34" charset="0"/>
                <a:ea typeface="Microsoft YaHei" panose="020B0503020204020204" pitchFamily="34" charset="-122"/>
                <a:cs typeface="Calibri" panose="020F0502020204030204" pitchFamily="34" charset="0"/>
              </a:rPr>
              <a:t>They are widely adopted in libraries from industry (e.g., Meta, Google, Yahoo Japan).</a:t>
            </a:r>
          </a:p>
          <a:p>
            <a:pPr marL="1200150" lvl="2" indent="-285750">
              <a:buFont typeface="Wingdings" panose="05000000000000000000" pitchFamily="2" charset="2"/>
              <a:buChar char="Ø"/>
            </a:pP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Despite their empirical success</a:t>
            </a:r>
          </a:p>
          <a:p>
            <a:pPr marL="1200150" lvl="2"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They have no guarantee on the accuracy of estimated distances </a:t>
            </a:r>
            <a:r>
              <a:rPr lang="en-US" altLang="zh-CN" b="1" dirty="0">
                <a:latin typeface="Calibri" panose="020F0502020204030204" pitchFamily="34" charset="0"/>
                <a:ea typeface="Microsoft YaHei" panose="020B0503020204020204" pitchFamily="34" charset="-122"/>
                <a:cs typeface="Calibri" panose="020F0502020204030204" pitchFamily="34" charset="0"/>
              </a:rPr>
              <a:t>(Theoretical)</a:t>
            </a:r>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1657350" lvl="3"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can only provide biased distance estimation </a:t>
            </a:r>
          </a:p>
          <a:p>
            <a:pPr marL="1200150" lvl="2"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They are observed to fail disastrously on some real-world datasets </a:t>
            </a:r>
            <a:r>
              <a:rPr lang="en-US" altLang="zh-CN" b="1" dirty="0">
                <a:latin typeface="Calibri" panose="020F0502020204030204" pitchFamily="34" charset="0"/>
                <a:ea typeface="Microsoft YaHei" panose="020B0503020204020204" pitchFamily="34" charset="-122"/>
                <a:cs typeface="Calibri" panose="020F0502020204030204" pitchFamily="34" charset="0"/>
              </a:rPr>
              <a:t>(Empirical)</a:t>
            </a:r>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1657350" lvl="3"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cannot achieve &gt;60% recall on the MSong dataset (with re-ranking applied)</a:t>
            </a:r>
          </a:p>
          <a:p>
            <a:pPr marL="1200150" lvl="2" indent="-285750">
              <a:buFont typeface="Wingdings" panose="05000000000000000000" pitchFamily="2" charset="2"/>
              <a:buChar char="Ø"/>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p:sp>
        <p:nvSpPr>
          <p:cNvPr id="7" name="TextBox 6">
            <a:extLst>
              <a:ext uri="{FF2B5EF4-FFF2-40B4-BE49-F238E27FC236}">
                <a16:creationId xmlns:a16="http://schemas.microsoft.com/office/drawing/2014/main" id="{13F48A94-111B-965E-3346-818877222504}"/>
              </a:ext>
            </a:extLst>
          </p:cNvPr>
          <p:cNvSpPr txBox="1"/>
          <p:nvPr/>
        </p:nvSpPr>
        <p:spPr>
          <a:xfrm>
            <a:off x="330735" y="4583517"/>
            <a:ext cx="11530521" cy="830997"/>
          </a:xfrm>
          <a:prstGeom prst="rect">
            <a:avLst/>
          </a:prstGeom>
          <a:noFill/>
        </p:spPr>
        <p:txBody>
          <a:bodyPr wrap="square" rtlCol="0">
            <a:spAutoFit/>
          </a:bodyPr>
          <a:lstStyle/>
          <a:p>
            <a:pPr algn="ctr"/>
            <a:r>
              <a:rPr lang="en-US" sz="2400" dirty="0">
                <a:solidFill>
                  <a:srgbClr val="FF0000"/>
                </a:solidFill>
              </a:rPr>
              <a:t>This</a:t>
            </a:r>
            <a:r>
              <a:rPr lang="zh-CN" altLang="en-US" sz="2400" dirty="0">
                <a:solidFill>
                  <a:srgbClr val="FF0000"/>
                </a:solidFill>
              </a:rPr>
              <a:t> </a:t>
            </a:r>
            <a:r>
              <a:rPr lang="en-US" altLang="zh-CN" sz="2400" dirty="0">
                <a:solidFill>
                  <a:srgbClr val="FF0000"/>
                </a:solidFill>
              </a:rPr>
              <a:t>further</a:t>
            </a:r>
            <a:r>
              <a:rPr lang="en-US" sz="2400" dirty="0">
                <a:solidFill>
                  <a:srgbClr val="FF0000"/>
                </a:solidFill>
              </a:rPr>
              <a:t> motivates us to design a quantization method which </a:t>
            </a:r>
          </a:p>
          <a:p>
            <a:pPr algn="ctr"/>
            <a:r>
              <a:rPr lang="en-US" sz="2400" dirty="0">
                <a:solidFill>
                  <a:srgbClr val="FF0000"/>
                </a:solidFill>
              </a:rPr>
              <a:t>(1) has a rigorous theoretical error bound and (2) supports efficient distance estimation.</a:t>
            </a:r>
          </a:p>
        </p:txBody>
      </p:sp>
      <p:sp>
        <p:nvSpPr>
          <p:cNvPr id="5" name="TextBox 4">
            <a:extLst>
              <a:ext uri="{FF2B5EF4-FFF2-40B4-BE49-F238E27FC236}">
                <a16:creationId xmlns:a16="http://schemas.microsoft.com/office/drawing/2014/main" id="{1FB42DD4-2896-9916-6182-952B670268D1}"/>
              </a:ext>
            </a:extLst>
          </p:cNvPr>
          <p:cNvSpPr txBox="1"/>
          <p:nvPr/>
        </p:nvSpPr>
        <p:spPr>
          <a:xfrm>
            <a:off x="165364" y="5792442"/>
            <a:ext cx="11861264" cy="738664"/>
          </a:xfrm>
          <a:prstGeom prst="rect">
            <a:avLst/>
          </a:prstGeom>
          <a:noFill/>
        </p:spPr>
        <p:txBody>
          <a:bodyPr wrap="square">
            <a:spAutoFit/>
          </a:bodyPr>
          <a:lstStyle/>
          <a:p>
            <a:r>
              <a:rPr lang="en-US" sz="1050" dirty="0">
                <a:latin typeface="Calibri" panose="020F0502020204030204" pitchFamily="34" charset="0"/>
                <a:cs typeface="Calibri" panose="020F0502020204030204" pitchFamily="34" charset="0"/>
              </a:rPr>
              <a:t>[3] Jegou, Herve, Matthijs </a:t>
            </a:r>
            <a:r>
              <a:rPr lang="en-US" sz="1050" dirty="0" err="1">
                <a:latin typeface="Calibri" panose="020F0502020204030204" pitchFamily="34" charset="0"/>
                <a:cs typeface="Calibri" panose="020F0502020204030204" pitchFamily="34" charset="0"/>
              </a:rPr>
              <a:t>Douze</a:t>
            </a:r>
            <a:r>
              <a:rPr lang="en-US" sz="1050" dirty="0">
                <a:latin typeface="Calibri" panose="020F0502020204030204" pitchFamily="34" charset="0"/>
                <a:cs typeface="Calibri" panose="020F0502020204030204" pitchFamily="34" charset="0"/>
              </a:rPr>
              <a:t>, and Cordelia Schmid. "Product quantization for nearest neighbor search." IEEE transactions on pattern analysis and machine intelligence 33.1 (2010): 117-128.</a:t>
            </a:r>
          </a:p>
          <a:p>
            <a:r>
              <a:rPr lang="en-US" sz="1050" dirty="0">
                <a:latin typeface="Calibri" panose="020F0502020204030204" pitchFamily="34" charset="0"/>
                <a:cs typeface="Calibri" panose="020F0502020204030204" pitchFamily="34" charset="0"/>
              </a:rPr>
              <a:t>[4] </a:t>
            </a:r>
            <a:r>
              <a:rPr lang="en-SG" sz="1050" b="0" i="0" dirty="0">
                <a:solidFill>
                  <a:srgbClr val="222222"/>
                </a:solidFill>
                <a:effectLst/>
                <a:latin typeface="Calibri" panose="020F0502020204030204" pitchFamily="34" charset="0"/>
                <a:cs typeface="Calibri" panose="020F0502020204030204" pitchFamily="34" charset="0"/>
              </a:rPr>
              <a:t>Ge, </a:t>
            </a:r>
            <a:r>
              <a:rPr lang="en-SG" sz="1050" b="0" i="0" dirty="0" err="1">
                <a:solidFill>
                  <a:srgbClr val="222222"/>
                </a:solidFill>
                <a:effectLst/>
                <a:latin typeface="Calibri" panose="020F0502020204030204" pitchFamily="34" charset="0"/>
                <a:cs typeface="Calibri" panose="020F0502020204030204" pitchFamily="34" charset="0"/>
              </a:rPr>
              <a:t>Tiezheng</a:t>
            </a:r>
            <a:r>
              <a:rPr lang="en-SG" sz="1050" b="0" i="0" dirty="0">
                <a:solidFill>
                  <a:srgbClr val="222222"/>
                </a:solidFill>
                <a:effectLst/>
                <a:latin typeface="Calibri" panose="020F0502020204030204" pitchFamily="34" charset="0"/>
                <a:cs typeface="Calibri" panose="020F0502020204030204" pitchFamily="34" charset="0"/>
              </a:rPr>
              <a:t>, et al. "Optimized product quantization for approximate nearest neighbor search." </a:t>
            </a:r>
            <a:r>
              <a:rPr lang="en-SG" sz="1050" b="0" i="1" dirty="0">
                <a:solidFill>
                  <a:srgbClr val="222222"/>
                </a:solidFill>
                <a:effectLst/>
                <a:latin typeface="Calibri" panose="020F0502020204030204" pitchFamily="34" charset="0"/>
                <a:cs typeface="Calibri" panose="020F0502020204030204" pitchFamily="34" charset="0"/>
              </a:rPr>
              <a:t>Proceedings of the IEEE conference on computer vision and pattern recognition</a:t>
            </a:r>
            <a:r>
              <a:rPr lang="en-SG" sz="1050" b="0" i="0" dirty="0">
                <a:solidFill>
                  <a:srgbClr val="222222"/>
                </a:solidFill>
                <a:effectLst/>
                <a:latin typeface="Calibri" panose="020F0502020204030204" pitchFamily="34" charset="0"/>
                <a:cs typeface="Calibri" panose="020F0502020204030204" pitchFamily="34" charset="0"/>
              </a:rPr>
              <a:t>. 2013.</a:t>
            </a:r>
          </a:p>
          <a:p>
            <a:r>
              <a:rPr lang="en-SG" sz="1050" dirty="0">
                <a:solidFill>
                  <a:srgbClr val="222222"/>
                </a:solidFill>
                <a:latin typeface="Calibri" panose="020F0502020204030204" pitchFamily="34" charset="0"/>
                <a:cs typeface="Calibri" panose="020F0502020204030204" pitchFamily="34" charset="0"/>
              </a:rPr>
              <a:t>[5] Fabien André, Anne-Marie </a:t>
            </a:r>
            <a:r>
              <a:rPr lang="en-SG" sz="1050" dirty="0" err="1">
                <a:solidFill>
                  <a:srgbClr val="222222"/>
                </a:solidFill>
                <a:latin typeface="Calibri" panose="020F0502020204030204" pitchFamily="34" charset="0"/>
                <a:cs typeface="Calibri" panose="020F0502020204030204" pitchFamily="34" charset="0"/>
              </a:rPr>
              <a:t>Kermarrec</a:t>
            </a:r>
            <a:r>
              <a:rPr lang="en-SG" sz="1050" dirty="0">
                <a:solidFill>
                  <a:srgbClr val="222222"/>
                </a:solidFill>
                <a:latin typeface="Calibri" panose="020F0502020204030204" pitchFamily="34" charset="0"/>
                <a:cs typeface="Calibri" panose="020F0502020204030204" pitchFamily="34" charset="0"/>
              </a:rPr>
              <a:t>, and Nicolas Le </a:t>
            </a:r>
            <a:r>
              <a:rPr lang="en-SG" sz="1050" dirty="0" err="1">
                <a:solidFill>
                  <a:srgbClr val="222222"/>
                </a:solidFill>
                <a:latin typeface="Calibri" panose="020F0502020204030204" pitchFamily="34" charset="0"/>
                <a:cs typeface="Calibri" panose="020F0502020204030204" pitchFamily="34" charset="0"/>
              </a:rPr>
              <a:t>Scouarnec</a:t>
            </a:r>
            <a:r>
              <a:rPr lang="en-SG" sz="1050" dirty="0">
                <a:solidFill>
                  <a:srgbClr val="222222"/>
                </a:solidFill>
                <a:latin typeface="Calibri" panose="020F0502020204030204" pitchFamily="34" charset="0"/>
                <a:cs typeface="Calibri" panose="020F0502020204030204" pitchFamily="34" charset="0"/>
              </a:rPr>
              <a:t>. 2017. Accelerated Nearest Neighbor Search with Quick ADC. In Proceedings of the 2017 ACM on International Conference on Multimedia Retrieval (ICMR '17). Association for Computing Machinery, New York, NY, USA, 159–166. https://</a:t>
            </a:r>
            <a:r>
              <a:rPr lang="en-SG" sz="1050" dirty="0" err="1">
                <a:solidFill>
                  <a:srgbClr val="222222"/>
                </a:solidFill>
                <a:latin typeface="Calibri" panose="020F0502020204030204" pitchFamily="34" charset="0"/>
                <a:cs typeface="Calibri" panose="020F0502020204030204" pitchFamily="34" charset="0"/>
              </a:rPr>
              <a:t>doi.org</a:t>
            </a:r>
            <a:r>
              <a:rPr lang="en-SG" sz="1050" dirty="0">
                <a:solidFill>
                  <a:srgbClr val="222222"/>
                </a:solidFill>
                <a:latin typeface="Calibri" panose="020F0502020204030204" pitchFamily="34" charset="0"/>
                <a:cs typeface="Calibri" panose="020F0502020204030204" pitchFamily="34" charset="0"/>
              </a:rPr>
              <a:t>/10.1145/3078971.3078992</a:t>
            </a:r>
            <a:endParaRPr lang="en-US" sz="1050" dirty="0">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155126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D6F2-38F9-85A0-1470-F0EC53FBF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27620-5E81-DD18-0F78-6C985A79DECE}"/>
              </a:ext>
            </a:extLst>
          </p:cNvPr>
          <p:cNvSpPr>
            <a:spLocks noGrp="1"/>
          </p:cNvSpPr>
          <p:nvPr>
            <p:ph type="title"/>
          </p:nvPr>
        </p:nvSpPr>
        <p:spPr/>
        <p:txBody>
          <a:bodyPr/>
          <a:lstStyle/>
          <a:p>
            <a:r>
              <a:rPr lang="en-US" altLang="zh-HK" dirty="0"/>
              <a:t>Overview of Quantization</a:t>
            </a:r>
            <a:endParaRPr lang="zh-HK" altLang="en-US" dirty="0"/>
          </a:p>
        </p:txBody>
      </p:sp>
      <p:sp>
        <p:nvSpPr>
          <p:cNvPr id="4" name="Slide Number Placeholder 3">
            <a:extLst>
              <a:ext uri="{FF2B5EF4-FFF2-40B4-BE49-F238E27FC236}">
                <a16:creationId xmlns:a16="http://schemas.microsoft.com/office/drawing/2014/main" id="{F7B5C159-765C-AA46-AB13-825294FEDC52}"/>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15</a:t>
            </a:fld>
            <a:endParaRPr lang="en-US"/>
          </a:p>
        </p:txBody>
      </p:sp>
      <p:sp>
        <p:nvSpPr>
          <p:cNvPr id="5" name="TextBox 4">
            <a:extLst>
              <a:ext uri="{FF2B5EF4-FFF2-40B4-BE49-F238E27FC236}">
                <a16:creationId xmlns:a16="http://schemas.microsoft.com/office/drawing/2014/main" id="{B817E9D3-987D-5756-17E1-6B988FD8705E}"/>
              </a:ext>
            </a:extLst>
          </p:cNvPr>
          <p:cNvSpPr txBox="1"/>
          <p:nvPr/>
        </p:nvSpPr>
        <p:spPr>
          <a:xfrm>
            <a:off x="1310868" y="5072490"/>
            <a:ext cx="9570260" cy="830997"/>
          </a:xfrm>
          <a:prstGeom prst="rect">
            <a:avLst/>
          </a:prstGeom>
          <a:noFill/>
        </p:spPr>
        <p:txBody>
          <a:bodyPr wrap="square">
            <a:spAutoFit/>
          </a:bodyPr>
          <a:lstStyle/>
          <a:p>
            <a:pPr algn="ctr"/>
            <a:r>
              <a:rPr lang="en-US" sz="2400" dirty="0">
                <a:solidFill>
                  <a:srgbClr val="FF0000"/>
                </a:solidFill>
              </a:rPr>
              <a:t>To provide a rigorous theoretical error bound, the whole algorithm must be carefully and </a:t>
            </a:r>
            <a:r>
              <a:rPr lang="en-US" sz="2400" dirty="0" err="1">
                <a:solidFill>
                  <a:srgbClr val="FF0000"/>
                </a:solidFill>
              </a:rPr>
              <a:t>integratedly</a:t>
            </a:r>
            <a:r>
              <a:rPr lang="en-US" sz="2400" dirty="0">
                <a:solidFill>
                  <a:srgbClr val="FF0000"/>
                </a:solidFill>
              </a:rPr>
              <a:t> designed. </a:t>
            </a:r>
          </a:p>
        </p:txBody>
      </p:sp>
      <mc:AlternateContent xmlns:mc="http://schemas.openxmlformats.org/markup-compatibility/2006" xmlns:a14="http://schemas.microsoft.com/office/drawing/2010/main">
        <mc:Choice Requires="a14">
          <p:sp>
            <p:nvSpPr>
              <p:cNvPr id="3" name="文本占位符 44">
                <a:extLst>
                  <a:ext uri="{FF2B5EF4-FFF2-40B4-BE49-F238E27FC236}">
                    <a16:creationId xmlns:a16="http://schemas.microsoft.com/office/drawing/2014/main" id="{2DD3921B-AE6E-B330-7C81-5E3C8A5289EA}"/>
                  </a:ext>
                </a:extLst>
              </p:cNvPr>
              <p:cNvSpPr txBox="1">
                <a:spLocks/>
              </p:cNvSpPr>
              <p:nvPr/>
            </p:nvSpPr>
            <p:spPr>
              <a:xfrm>
                <a:off x="677516" y="1503987"/>
                <a:ext cx="10836965" cy="3450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Wingdings" panose="05000000000000000000" pitchFamily="2" charset="2"/>
                  <a:buChar char="Ø"/>
                </a:pPr>
                <a:r>
                  <a:rPr lang="en-US" altLang="zh-CN" sz="2800" dirty="0">
                    <a:latin typeface="Calibri" panose="020F0502020204030204" pitchFamily="34" charset="0"/>
                    <a:ea typeface="Microsoft YaHei" panose="020B0503020204020204" pitchFamily="34" charset="-122"/>
                    <a:cs typeface="Calibri" panose="020F0502020204030204" pitchFamily="34" charset="0"/>
                  </a:rPr>
                  <a:t>Index Phase</a:t>
                </a:r>
              </a:p>
              <a:p>
                <a:pPr marL="914400" lvl="2" indent="0">
                  <a:buNone/>
                </a:pPr>
                <a:r>
                  <a:rPr lang="en-US" altLang="zh-CN" sz="2400" dirty="0">
                    <a:latin typeface="Calibri" panose="020F0502020204030204" pitchFamily="34" charset="0"/>
                    <a:ea typeface="Microsoft YaHei" panose="020B0503020204020204" pitchFamily="34" charset="-122"/>
                    <a:cs typeface="Calibri" panose="020F0502020204030204" pitchFamily="34" charset="0"/>
                  </a:rPr>
                  <a:t>1. </a:t>
                </a:r>
                <a:r>
                  <a:rPr lang="en-SG" altLang="zh-CN" sz="2400" kern="100" dirty="0">
                    <a:latin typeface="Calibri" panose="020F0502020204030204" pitchFamily="34" charset="0"/>
                    <a:ea typeface="DengXian" panose="02010600030101010101" pitchFamily="2" charset="-122"/>
                    <a:cs typeface="Times New Roman" panose="02020603050405020304" pitchFamily="18" charset="0"/>
                  </a:rPr>
                  <a:t>C</a:t>
                </a:r>
                <a:r>
                  <a:rPr lang="en-SG" sz="2400" kern="100" dirty="0">
                    <a:latin typeface="Calibri" panose="020F0502020204030204" pitchFamily="34" charset="0"/>
                    <a:ea typeface="DengXian" panose="02010600030101010101" pitchFamily="2" charset="-122"/>
                    <a:cs typeface="Times New Roman" panose="02020603050405020304" pitchFamily="18" charset="0"/>
                  </a:rPr>
                  <a:t>onstruct a set of vectors </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libri" panose="020F0502020204030204" pitchFamily="34" charset="0"/>
                      </a:rPr>
                      <m:t>𝒞</m:t>
                    </m:r>
                    <m:r>
                      <a:rPr lang="en-US" altLang="zh-CN" sz="2400" i="1">
                        <a:latin typeface="Cambria Math" panose="02040503050406030204" pitchFamily="18" charset="0"/>
                        <a:ea typeface="Cambria Math" panose="02040503050406030204" pitchFamily="18" charset="0"/>
                        <a:cs typeface="Calibri" panose="020F0502020204030204" pitchFamily="34" charset="0"/>
                      </a:rPr>
                      <m:t> </m:t>
                    </m:r>
                  </m:oMath>
                </a14:m>
                <a:r>
                  <a:rPr lang="en-SG" sz="2400" kern="100" dirty="0">
                    <a:latin typeface="Calibri" panose="020F0502020204030204" pitchFamily="34" charset="0"/>
                    <a:ea typeface="DengXian" panose="02010600030101010101" pitchFamily="2" charset="-122"/>
                    <a:cs typeface="Times New Roman" panose="02020603050405020304" pitchFamily="18" charset="0"/>
                  </a:rPr>
                  <a:t>as the quantization codebook</a:t>
                </a:r>
                <a:r>
                  <a:rPr lang="en-US" altLang="zh-CN" sz="2400" dirty="0">
                    <a:latin typeface="Calibri" panose="020F0502020204030204" pitchFamily="34" charset="0"/>
                    <a:ea typeface="Microsoft YaHei" panose="020B0503020204020204" pitchFamily="34" charset="-122"/>
                    <a:cs typeface="Calibri" panose="020F0502020204030204" pitchFamily="34" charset="0"/>
                  </a:rPr>
                  <a:t>.</a:t>
                </a:r>
              </a:p>
              <a:p>
                <a:pPr marL="914400" lvl="2" indent="0">
                  <a:buNone/>
                </a:pPr>
                <a:r>
                  <a:rPr lang="en-US" altLang="zh-CN" sz="2400" dirty="0">
                    <a:latin typeface="Calibri" panose="020F0502020204030204" pitchFamily="34" charset="0"/>
                    <a:ea typeface="Microsoft YaHei" panose="020B0503020204020204" pitchFamily="34" charset="-122"/>
                    <a:cs typeface="Calibri" panose="020F0502020204030204" pitchFamily="34" charset="0"/>
                  </a:rPr>
                  <a:t>2. Find the nearest vector in </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libri" panose="020F0502020204030204" pitchFamily="34" charset="0"/>
                      </a:rPr>
                      <m:t>𝒞</m:t>
                    </m:r>
                  </m:oMath>
                </a14:m>
                <a:r>
                  <a:rPr lang="en-US" altLang="zh-CN" sz="2400" dirty="0">
                    <a:latin typeface="Calibri" panose="020F0502020204030204" pitchFamily="34" charset="0"/>
                    <a:ea typeface="Microsoft YaHei" panose="020B0503020204020204" pitchFamily="34" charset="-122"/>
                    <a:cs typeface="Calibri" panose="020F0502020204030204" pitchFamily="34" charset="0"/>
                  </a:rPr>
                  <a:t> (i.e., the quantized vector) for each vector in the database.</a:t>
                </a:r>
              </a:p>
              <a:p>
                <a:pPr marL="742950" lvl="1" indent="-285750">
                  <a:buFont typeface="Wingdings" panose="05000000000000000000" pitchFamily="2" charset="2"/>
                  <a:buChar char="Ø"/>
                </a:pPr>
                <a:endParaRPr lang="en-US" altLang="zh-CN" sz="28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r>
                  <a:rPr lang="en-US" altLang="zh-CN" sz="2800" dirty="0">
                    <a:latin typeface="Calibri" panose="020F0502020204030204" pitchFamily="34" charset="0"/>
                    <a:ea typeface="Microsoft YaHei" panose="020B0503020204020204" pitchFamily="34" charset="-122"/>
                    <a:cs typeface="Calibri" panose="020F0502020204030204" pitchFamily="34" charset="0"/>
                  </a:rPr>
                  <a:t>Query Phase</a:t>
                </a:r>
              </a:p>
              <a:p>
                <a:pPr marL="1200150" lvl="2"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Estimate a distance based on the quantized data vector (without accessing the raw data vectors).</a:t>
                </a:r>
              </a:p>
            </p:txBody>
          </p:sp>
        </mc:Choice>
        <mc:Fallback xmlns="">
          <p:sp>
            <p:nvSpPr>
              <p:cNvPr id="3" name="文本占位符 44">
                <a:extLst>
                  <a:ext uri="{FF2B5EF4-FFF2-40B4-BE49-F238E27FC236}">
                    <a16:creationId xmlns:a16="http://schemas.microsoft.com/office/drawing/2014/main" id="{2DD3921B-AE6E-B330-7C81-5E3C8A5289EA}"/>
                  </a:ext>
                </a:extLst>
              </p:cNvPr>
              <p:cNvSpPr txBox="1">
                <a:spLocks noRot="1" noChangeAspect="1" noMove="1" noResize="1" noEditPoints="1" noAdjustHandles="1" noChangeArrowheads="1" noChangeShapeType="1" noTextEdit="1"/>
              </p:cNvSpPr>
              <p:nvPr/>
            </p:nvSpPr>
            <p:spPr>
              <a:xfrm>
                <a:off x="677516" y="1503987"/>
                <a:ext cx="10836965" cy="345080"/>
              </a:xfrm>
              <a:prstGeom prst="rect">
                <a:avLst/>
              </a:prstGeom>
              <a:blipFill>
                <a:blip r:embed="rId4"/>
                <a:stretch>
                  <a:fillRect t="-28571" b="-84285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932020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D6F2-38F9-85A0-1470-F0EC53FBF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27620-5E81-DD18-0F78-6C985A79DECE}"/>
              </a:ext>
            </a:extLst>
          </p:cNvPr>
          <p:cNvSpPr>
            <a:spLocks noGrp="1"/>
          </p:cNvSpPr>
          <p:nvPr>
            <p:ph type="title"/>
          </p:nvPr>
        </p:nvSpPr>
        <p:spPr/>
        <p:txBody>
          <a:bodyPr/>
          <a:lstStyle/>
          <a:p>
            <a:r>
              <a:rPr lang="en-US" altLang="zh-HK" dirty="0"/>
              <a:t>Pre-Processing: Normalization</a:t>
            </a:r>
            <a:endParaRPr lang="zh-HK" altLang="en-US" dirty="0"/>
          </a:p>
        </p:txBody>
      </p:sp>
      <p:sp>
        <p:nvSpPr>
          <p:cNvPr id="4" name="Slide Number Placeholder 3">
            <a:extLst>
              <a:ext uri="{FF2B5EF4-FFF2-40B4-BE49-F238E27FC236}">
                <a16:creationId xmlns:a16="http://schemas.microsoft.com/office/drawing/2014/main" id="{F7B5C159-765C-AA46-AB13-825294FEDC52}"/>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16</a:t>
            </a:fld>
            <a:endParaRPr lang="en-US"/>
          </a:p>
        </p:txBody>
      </p:sp>
      <mc:AlternateContent xmlns:mc="http://schemas.openxmlformats.org/markup-compatibility/2006" xmlns:a14="http://schemas.microsoft.com/office/drawing/2010/main">
        <mc:Choice Requires="a14">
          <p:sp>
            <p:nvSpPr>
              <p:cNvPr id="17" name="文本占位符 44">
                <a:extLst>
                  <a:ext uri="{FF2B5EF4-FFF2-40B4-BE49-F238E27FC236}">
                    <a16:creationId xmlns:a16="http://schemas.microsoft.com/office/drawing/2014/main" id="{471AA1B8-86D7-CABB-DAA4-41D4253B7F15}"/>
                  </a:ext>
                </a:extLst>
              </p:cNvPr>
              <p:cNvSpPr txBox="1">
                <a:spLocks/>
              </p:cNvSpPr>
              <p:nvPr/>
            </p:nvSpPr>
            <p:spPr>
              <a:xfrm>
                <a:off x="677517" y="2479537"/>
                <a:ext cx="10836965" cy="9675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Solution:</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Let </a:t>
                </a:r>
                <a14:m>
                  <m:oMath xmlns:m="http://schemas.openxmlformats.org/officeDocument/2006/math">
                    <m:sSub>
                      <m:sSubPr>
                        <m:ctrlP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𝐨</m:t>
                        </m:r>
                      </m:e>
                      <m:sub>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𝑟</m:t>
                        </m:r>
                      </m:sub>
                    </m:sSub>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and </a:t>
                </a:r>
                <a14:m>
                  <m:oMath xmlns:m="http://schemas.openxmlformats.org/officeDocument/2006/math">
                    <m:sSub>
                      <m:sSubPr>
                        <m:ctrlP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𝐪</m:t>
                        </m:r>
                      </m:e>
                      <m:sub>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𝑟</m:t>
                        </m:r>
                      </m:sub>
                    </m:sSub>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be the raw data and query vector.</a:t>
                </a:r>
              </a:p>
              <a:p>
                <a:pPr marL="742950" lvl="1" indent="-285750">
                  <a:buFont typeface="Wingdings" panose="05000000000000000000" pitchFamily="2" charset="2"/>
                  <a:buChar char="Ø"/>
                </a:pPr>
                <a:r>
                  <a:rPr lang="en-US" altLang="zh-CN" sz="2000" b="0" dirty="0">
                    <a:latin typeface="Calibri" panose="020F0502020204030204" pitchFamily="34" charset="0"/>
                    <a:ea typeface="Microsoft YaHei" panose="020B0503020204020204" pitchFamily="34" charset="-122"/>
                    <a:cs typeface="Calibri" panose="020F0502020204030204" pitchFamily="34" charset="0"/>
                  </a:rPr>
                  <a:t>Let </a:t>
                </a:r>
                <a14:m>
                  <m:oMath xmlns:m="http://schemas.openxmlformats.org/officeDocument/2006/math">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𝐨</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and </a:t>
                </a:r>
                <a14:m>
                  <m:oMath xmlns:m="http://schemas.openxmlformats.org/officeDocument/2006/math">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𝐪</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be their corresponding normalized vectors with respect to a vector </a:t>
                </a:r>
                <a14:m>
                  <m:oMath xmlns:m="http://schemas.openxmlformats.org/officeDocument/2006/math">
                    <m:r>
                      <a:rPr lang="en-US" altLang="zh-CN" sz="2000" b="1" i="0" smtClean="0">
                        <a:latin typeface="Cambria Math" panose="02040503050406030204" pitchFamily="18" charset="0"/>
                        <a:ea typeface="Microsoft YaHei" panose="020B0503020204020204" pitchFamily="34" charset="-122"/>
                        <a:cs typeface="Calibri" panose="020F0502020204030204" pitchFamily="34" charset="0"/>
                      </a:rPr>
                      <m:t>𝐜</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 </a:t>
                </a:r>
              </a:p>
              <a:p>
                <a:pPr marL="285750" indent="-285750">
                  <a:buFont typeface="Wingdings" panose="05000000000000000000" pitchFamily="2" charset="2"/>
                  <a:buChar char="Ø"/>
                </a:pPr>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17" name="文本占位符 44">
                <a:extLst>
                  <a:ext uri="{FF2B5EF4-FFF2-40B4-BE49-F238E27FC236}">
                    <a16:creationId xmlns:a16="http://schemas.microsoft.com/office/drawing/2014/main" id="{471AA1B8-86D7-CABB-DAA4-41D4253B7F15}"/>
                  </a:ext>
                </a:extLst>
              </p:cNvPr>
              <p:cNvSpPr txBox="1">
                <a:spLocks noRot="1" noChangeAspect="1" noMove="1" noResize="1" noEditPoints="1" noAdjustHandles="1" noChangeArrowheads="1" noChangeShapeType="1" noTextEdit="1"/>
              </p:cNvSpPr>
              <p:nvPr/>
            </p:nvSpPr>
            <p:spPr>
              <a:xfrm>
                <a:off x="677517" y="2479537"/>
                <a:ext cx="10836965" cy="967558"/>
              </a:xfrm>
              <a:prstGeom prst="rect">
                <a:avLst/>
              </a:prstGeom>
              <a:blipFill>
                <a:blip r:embed="rId4"/>
                <a:stretch>
                  <a:fillRect l="-703" t="-7792" b="-23377"/>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6F51802C-2DEE-01E8-49EA-8C8CF7391F7E}"/>
              </a:ext>
            </a:extLst>
          </p:cNvPr>
          <p:cNvGrpSpPr/>
          <p:nvPr/>
        </p:nvGrpSpPr>
        <p:grpSpPr>
          <a:xfrm>
            <a:off x="612848" y="4951231"/>
            <a:ext cx="10951090" cy="893377"/>
            <a:chOff x="991417" y="5026640"/>
            <a:chExt cx="10951090" cy="89337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F4773C-E387-F4CB-02F7-82E0C7013392}"/>
                    </a:ext>
                  </a:extLst>
                </p:cNvPr>
                <p:cNvSpPr txBox="1"/>
                <p:nvPr/>
              </p:nvSpPr>
              <p:spPr>
                <a:xfrm>
                  <a:off x="1112490" y="5026640"/>
                  <a:ext cx="1020183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FF0000"/>
                                </a:solidFill>
                                <a:latin typeface="Cambria Math" panose="02040503050406030204" pitchFamily="18" charset="0"/>
                              </a:rPr>
                            </m:ctrlPr>
                          </m:sSupPr>
                          <m:e>
                            <m:d>
                              <m:dPr>
                                <m:begChr m:val="‖"/>
                                <m:endChr m:val="‖"/>
                                <m:ctrlPr>
                                  <a:rPr lang="en-US" sz="2800" i="1" smtClean="0">
                                    <a:solidFill>
                                      <a:srgbClr val="FF0000"/>
                                    </a:solidFill>
                                    <a:latin typeface="Cambria Math" panose="02040503050406030204" pitchFamily="18" charset="0"/>
                                  </a:rPr>
                                </m:ctrlPr>
                              </m:dPr>
                              <m:e>
                                <m:sSub>
                                  <m:sSubPr>
                                    <m:ctrlPr>
                                      <a:rPr lang="en-US" sz="2800" b="0" i="1" smtClean="0">
                                        <a:solidFill>
                                          <a:srgbClr val="FF0000"/>
                                        </a:solidFill>
                                        <a:latin typeface="Cambria Math" panose="02040503050406030204" pitchFamily="18" charset="0"/>
                                      </a:rPr>
                                    </m:ctrlPr>
                                  </m:sSubPr>
                                  <m:e>
                                    <m:r>
                                      <a:rPr lang="en-US" sz="2800" b="1" i="0" smtClean="0">
                                        <a:solidFill>
                                          <a:srgbClr val="FF0000"/>
                                        </a:solidFill>
                                        <a:latin typeface="Cambria Math" panose="02040503050406030204" pitchFamily="18" charset="0"/>
                                      </a:rPr>
                                      <m:t>𝐨</m:t>
                                    </m:r>
                                  </m:e>
                                  <m:sub>
                                    <m:r>
                                      <a:rPr lang="en-US" sz="2800" b="0" i="1" smtClean="0">
                                        <a:solidFill>
                                          <a:srgbClr val="FF0000"/>
                                        </a:solidFill>
                                        <a:latin typeface="Cambria Math" panose="02040503050406030204" pitchFamily="18" charset="0"/>
                                      </a:rPr>
                                      <m:t>𝑟</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1" i="0" smtClean="0">
                                        <a:solidFill>
                                          <a:srgbClr val="FF0000"/>
                                        </a:solidFill>
                                        <a:latin typeface="Cambria Math" panose="02040503050406030204" pitchFamily="18" charset="0"/>
                                      </a:rPr>
                                      <m:t>𝐪</m:t>
                                    </m:r>
                                  </m:e>
                                  <m:sub>
                                    <m:r>
                                      <a:rPr lang="en-US" sz="2800" b="0" i="1" smtClean="0">
                                        <a:solidFill>
                                          <a:srgbClr val="FF0000"/>
                                        </a:solidFill>
                                        <a:latin typeface="Cambria Math" panose="02040503050406030204" pitchFamily="18" charset="0"/>
                                      </a:rPr>
                                      <m:t>𝑟</m:t>
                                    </m:r>
                                  </m:sub>
                                </m:sSub>
                              </m:e>
                            </m:d>
                          </m:e>
                          <m:sup>
                            <m:r>
                              <a:rPr lang="en-US" sz="2800" b="0" i="1" smtClean="0">
                                <a:solidFill>
                                  <a:srgbClr val="FF0000"/>
                                </a:solidFill>
                                <a:latin typeface="Cambria Math" panose="02040503050406030204" pitchFamily="18" charset="0"/>
                              </a:rPr>
                              <m:t>2</m:t>
                            </m:r>
                          </m:sup>
                        </m:sSup>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𝐨</m:t>
                                    </m:r>
                                  </m:e>
                                  <m:sub>
                                    <m:r>
                                      <a:rPr lang="en-US" sz="2800" i="1">
                                        <a:latin typeface="Cambria Math" panose="02040503050406030204" pitchFamily="18" charset="0"/>
                                      </a:rPr>
                                      <m:t>𝑟</m:t>
                                    </m:r>
                                  </m:sub>
                                </m:sSub>
                                <m:r>
                                  <a:rPr lang="en-US" sz="2800" i="1">
                                    <a:latin typeface="Cambria Math" panose="02040503050406030204" pitchFamily="18" charset="0"/>
                                  </a:rPr>
                                  <m:t>−</m:t>
                                </m:r>
                                <m:r>
                                  <a:rPr lang="en-US" sz="2800" b="1" i="0">
                                    <a:latin typeface="Cambria Math" panose="02040503050406030204" pitchFamily="18" charset="0"/>
                                  </a:rPr>
                                  <m:t>𝐜</m:t>
                                </m:r>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smtClean="0">
                                        <a:latin typeface="Cambria Math" panose="02040503050406030204" pitchFamily="18" charset="0"/>
                                      </a:rPr>
                                      <m:t>𝐪</m:t>
                                    </m:r>
                                  </m:e>
                                  <m:sub>
                                    <m:r>
                                      <a:rPr lang="en-US" sz="2800" i="1">
                                        <a:latin typeface="Cambria Math" panose="02040503050406030204" pitchFamily="18" charset="0"/>
                                      </a:rPr>
                                      <m:t>𝑟</m:t>
                                    </m:r>
                                  </m:sub>
                                </m:sSub>
                                <m:r>
                                  <a:rPr lang="en-US" sz="2800" i="1">
                                    <a:latin typeface="Cambria Math" panose="02040503050406030204" pitchFamily="18" charset="0"/>
                                  </a:rPr>
                                  <m:t>−</m:t>
                                </m:r>
                                <m:r>
                                  <a:rPr lang="en-US" sz="2800" b="1" i="0">
                                    <a:latin typeface="Cambria Math" panose="02040503050406030204" pitchFamily="18" charset="0"/>
                                  </a:rPr>
                                  <m:t>𝐜</m:t>
                                </m:r>
                              </m:e>
                            </m:d>
                          </m:e>
                          <m:sup>
                            <m:r>
                              <a:rPr lang="en-US" sz="2800" i="1">
                                <a:latin typeface="Cambria Math" panose="02040503050406030204" pitchFamily="18" charset="0"/>
                              </a:rPr>
                              <m:t>2</m:t>
                            </m:r>
                          </m:sup>
                        </m:sSup>
                        <m:r>
                          <a:rPr lang="en-US" sz="2800" b="0" i="1" smtClean="0">
                            <a:latin typeface="Cambria Math" panose="02040503050406030204" pitchFamily="18" charset="0"/>
                          </a:rPr>
                          <m:t>−2</m:t>
                        </m:r>
                        <m:r>
                          <a:rPr lang="zh-CN" altLang="en-US" sz="2800" b="0" i="1" smtClean="0">
                            <a:latin typeface="Cambria Math" panose="02040503050406030204" pitchFamily="18" charset="0"/>
                          </a:rPr>
                          <m:t> </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𝐨</m:t>
                                </m:r>
                              </m:e>
                              <m:sub>
                                <m:r>
                                  <a:rPr lang="en-US" sz="2800" i="1">
                                    <a:latin typeface="Cambria Math" panose="02040503050406030204" pitchFamily="18" charset="0"/>
                                  </a:rPr>
                                  <m:t>𝑟</m:t>
                                </m:r>
                              </m:sub>
                            </m:sSub>
                            <m:r>
                              <a:rPr lang="en-US" sz="2800" i="1">
                                <a:latin typeface="Cambria Math" panose="02040503050406030204" pitchFamily="18" charset="0"/>
                              </a:rPr>
                              <m:t>−</m:t>
                            </m:r>
                            <m:r>
                              <a:rPr lang="en-US" sz="2800" b="1" i="0">
                                <a:latin typeface="Cambria Math" panose="02040503050406030204" pitchFamily="18" charset="0"/>
                              </a:rPr>
                              <m:t>𝐜</m:t>
                            </m:r>
                          </m:e>
                        </m:d>
                        <m:r>
                          <a:rPr lang="zh-CN" altLang="en-US" sz="2800" b="0" i="1" smtClean="0">
                            <a:latin typeface="Cambria Math" panose="02040503050406030204" pitchFamily="18" charset="0"/>
                          </a:rPr>
                          <m:t>  </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smtClean="0">
                                    <a:latin typeface="Cambria Math" panose="02040503050406030204" pitchFamily="18" charset="0"/>
                                  </a:rPr>
                                  <m:t>𝐪</m:t>
                                </m:r>
                              </m:e>
                              <m:sub>
                                <m:r>
                                  <a:rPr lang="en-US" sz="2800" i="1">
                                    <a:latin typeface="Cambria Math" panose="02040503050406030204" pitchFamily="18" charset="0"/>
                                  </a:rPr>
                                  <m:t>𝑟</m:t>
                                </m:r>
                              </m:sub>
                            </m:sSub>
                            <m:r>
                              <a:rPr lang="en-US" sz="2800" i="1">
                                <a:latin typeface="Cambria Math" panose="02040503050406030204" pitchFamily="18" charset="0"/>
                              </a:rPr>
                              <m:t>−</m:t>
                            </m:r>
                            <m:r>
                              <a:rPr lang="en-US" sz="2800" b="1" i="0">
                                <a:latin typeface="Cambria Math" panose="02040503050406030204" pitchFamily="18" charset="0"/>
                              </a:rPr>
                              <m:t>𝐜</m:t>
                            </m:r>
                          </m:e>
                        </m:d>
                        <m:r>
                          <a:rPr lang="zh-CN" altLang="en-US" sz="2800" b="0" i="1" smtClean="0">
                            <a:latin typeface="Cambria Math" panose="02040503050406030204" pitchFamily="18" charset="0"/>
                          </a:rPr>
                          <m:t> </m:t>
                        </m:r>
                        <m:d>
                          <m:dPr>
                            <m:begChr m:val="⟨"/>
                            <m:endChr m:val="⟩"/>
                            <m:ctrlPr>
                              <a:rPr lang="en-US" sz="2800" b="0" i="1" smtClean="0">
                                <a:solidFill>
                                  <a:srgbClr val="FF0000"/>
                                </a:solidFill>
                                <a:latin typeface="Cambria Math" panose="02040503050406030204" pitchFamily="18" charset="0"/>
                              </a:rPr>
                            </m:ctrlPr>
                          </m:dPr>
                          <m:e>
                            <m:r>
                              <a:rPr lang="en-US" sz="2800" b="1" i="0" smtClean="0">
                                <a:solidFill>
                                  <a:srgbClr val="FF0000"/>
                                </a:solidFill>
                                <a:latin typeface="Cambria Math" panose="02040503050406030204" pitchFamily="18" charset="0"/>
                              </a:rPr>
                              <m:t>𝐨</m:t>
                            </m:r>
                            <m:r>
                              <a:rPr lang="en-US" sz="2800" b="0" i="1" smtClean="0">
                                <a:solidFill>
                                  <a:srgbClr val="FF0000"/>
                                </a:solidFill>
                                <a:latin typeface="Cambria Math" panose="02040503050406030204" pitchFamily="18" charset="0"/>
                              </a:rPr>
                              <m:t>,</m:t>
                            </m:r>
                            <m:r>
                              <a:rPr lang="en-US" sz="2800" b="1" i="0" smtClean="0">
                                <a:solidFill>
                                  <a:srgbClr val="FF0000"/>
                                </a:solidFill>
                                <a:latin typeface="Cambria Math" panose="02040503050406030204" pitchFamily="18" charset="0"/>
                              </a:rPr>
                              <m:t>𝐪</m:t>
                            </m:r>
                          </m:e>
                        </m:d>
                      </m:oMath>
                    </m:oMathPara>
                  </a14:m>
                  <a:endParaRPr lang="en-US" sz="2800" dirty="0"/>
                </a:p>
              </p:txBody>
            </p:sp>
          </mc:Choice>
          <mc:Fallback xmlns="">
            <p:sp>
              <p:nvSpPr>
                <p:cNvPr id="15" name="TextBox 14">
                  <a:extLst>
                    <a:ext uri="{FF2B5EF4-FFF2-40B4-BE49-F238E27FC236}">
                      <a16:creationId xmlns:a16="http://schemas.microsoft.com/office/drawing/2014/main" id="{25F4773C-E387-F4CB-02F7-82E0C7013392}"/>
                    </a:ext>
                  </a:extLst>
                </p:cNvPr>
                <p:cNvSpPr txBox="1">
                  <a:spLocks noRot="1" noChangeAspect="1" noMove="1" noResize="1" noEditPoints="1" noAdjustHandles="1" noChangeArrowheads="1" noChangeShapeType="1" noTextEdit="1"/>
                </p:cNvSpPr>
                <p:nvPr/>
              </p:nvSpPr>
              <p:spPr>
                <a:xfrm>
                  <a:off x="1112490" y="5026640"/>
                  <a:ext cx="10201832" cy="430887"/>
                </a:xfrm>
                <a:prstGeom prst="rect">
                  <a:avLst/>
                </a:prstGeom>
                <a:blipFill>
                  <a:blip r:embed="rId5"/>
                  <a:stretch>
                    <a:fillRect t="-8571" b="-3428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4A628A4F-AA16-84B2-681B-05804CCBC5F9}"/>
                </a:ext>
              </a:extLst>
            </p:cNvPr>
            <p:cNvSpPr txBox="1"/>
            <p:nvPr/>
          </p:nvSpPr>
          <p:spPr>
            <a:xfrm>
              <a:off x="991417" y="5544685"/>
              <a:ext cx="1952522" cy="369332"/>
            </a:xfrm>
            <a:prstGeom prst="rect">
              <a:avLst/>
            </a:prstGeom>
            <a:noFill/>
          </p:spPr>
          <p:txBody>
            <a:bodyPr wrap="none" rtlCol="0">
              <a:spAutoFit/>
            </a:bodyPr>
            <a:lstStyle/>
            <a:p>
              <a:r>
                <a:rPr lang="en-US" dirty="0">
                  <a:solidFill>
                    <a:srgbClr val="FF0000"/>
                  </a:solidFill>
                </a:rPr>
                <a:t>The Original Target</a:t>
              </a:r>
            </a:p>
          </p:txBody>
        </p:sp>
        <p:sp>
          <p:nvSpPr>
            <p:cNvPr id="19" name="TextBox 18">
              <a:extLst>
                <a:ext uri="{FF2B5EF4-FFF2-40B4-BE49-F238E27FC236}">
                  <a16:creationId xmlns:a16="http://schemas.microsoft.com/office/drawing/2014/main" id="{CD310F51-E71D-808B-DA1D-63B7C1599848}"/>
                </a:ext>
              </a:extLst>
            </p:cNvPr>
            <p:cNvSpPr txBox="1"/>
            <p:nvPr/>
          </p:nvSpPr>
          <p:spPr>
            <a:xfrm>
              <a:off x="10294107" y="5550685"/>
              <a:ext cx="1648400" cy="369332"/>
            </a:xfrm>
            <a:prstGeom prst="rect">
              <a:avLst/>
            </a:prstGeom>
            <a:noFill/>
          </p:spPr>
          <p:txBody>
            <a:bodyPr wrap="square" rtlCol="0">
              <a:spAutoFit/>
            </a:bodyPr>
            <a:lstStyle/>
            <a:p>
              <a:r>
                <a:rPr lang="en-US" dirty="0">
                  <a:solidFill>
                    <a:srgbClr val="FF0000"/>
                  </a:solidFill>
                </a:rPr>
                <a:t>The New Target</a:t>
              </a:r>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46533F6-1DA6-9C1C-35E2-01BF54977F56}"/>
                  </a:ext>
                </a:extLst>
              </p:cNvPr>
              <p:cNvSpPr txBox="1"/>
              <p:nvPr/>
            </p:nvSpPr>
            <p:spPr>
              <a:xfrm>
                <a:off x="838200" y="3664826"/>
                <a:ext cx="6093822" cy="90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i="0" smtClean="0">
                          <a:solidFill>
                            <a:schemeClr val="tx1"/>
                          </a:solidFill>
                          <a:latin typeface="Cambria Math" panose="02040503050406030204" pitchFamily="18" charset="0"/>
                        </a:rPr>
                        <m:t>𝐨</m:t>
                      </m:r>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1" i="0">
                                  <a:solidFill>
                                    <a:schemeClr val="tx1"/>
                                  </a:solidFill>
                                  <a:latin typeface="Cambria Math" panose="02040503050406030204" pitchFamily="18" charset="0"/>
                                </a:rPr>
                                <m:t>𝐨</m:t>
                              </m:r>
                            </m:e>
                            <m:sub>
                              <m:r>
                                <a:rPr lang="en-US" sz="2800" i="1">
                                  <a:solidFill>
                                    <a:schemeClr val="tx1"/>
                                  </a:solidFill>
                                  <a:latin typeface="Cambria Math" panose="02040503050406030204" pitchFamily="18" charset="0"/>
                                </a:rPr>
                                <m:t>𝑟</m:t>
                              </m:r>
                            </m:sub>
                          </m:sSub>
                          <m:r>
                            <a:rPr lang="en-US" sz="2800" i="1">
                              <a:solidFill>
                                <a:schemeClr val="tx1"/>
                              </a:solidFill>
                              <a:latin typeface="Cambria Math" panose="02040503050406030204" pitchFamily="18" charset="0"/>
                            </a:rPr>
                            <m:t>−</m:t>
                          </m:r>
                          <m:r>
                            <a:rPr lang="en-US" sz="2800" b="1" i="0">
                              <a:solidFill>
                                <a:schemeClr val="tx1"/>
                              </a:solidFill>
                              <a:latin typeface="Cambria Math" panose="02040503050406030204" pitchFamily="18" charset="0"/>
                            </a:rPr>
                            <m:t>𝐜</m:t>
                          </m:r>
                        </m:num>
                        <m:den>
                          <m:d>
                            <m:dPr>
                              <m:begChr m:val="‖"/>
                              <m:endChr m:val="‖"/>
                              <m:ctrlPr>
                                <a:rPr lang="en-US" sz="2800" b="0" i="1" smtClean="0">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b="1" i="0">
                                      <a:solidFill>
                                        <a:schemeClr val="tx1"/>
                                      </a:solidFill>
                                      <a:latin typeface="Cambria Math" panose="02040503050406030204" pitchFamily="18" charset="0"/>
                                    </a:rPr>
                                    <m:t>𝐨</m:t>
                                  </m:r>
                                </m:e>
                                <m:sub>
                                  <m:r>
                                    <a:rPr lang="en-US" sz="2800" i="1">
                                      <a:solidFill>
                                        <a:schemeClr val="tx1"/>
                                      </a:solidFill>
                                      <a:latin typeface="Cambria Math" panose="02040503050406030204" pitchFamily="18" charset="0"/>
                                    </a:rPr>
                                    <m:t>𝑟</m:t>
                                  </m:r>
                                </m:sub>
                              </m:sSub>
                              <m:r>
                                <a:rPr lang="en-US" sz="2800" i="1">
                                  <a:solidFill>
                                    <a:schemeClr val="tx1"/>
                                  </a:solidFill>
                                  <a:latin typeface="Cambria Math" panose="02040503050406030204" pitchFamily="18" charset="0"/>
                                </a:rPr>
                                <m:t>−</m:t>
                              </m:r>
                              <m:r>
                                <a:rPr lang="en-US" sz="2800" b="1" i="0">
                                  <a:solidFill>
                                    <a:schemeClr val="tx1"/>
                                  </a:solidFill>
                                  <a:latin typeface="Cambria Math" panose="02040503050406030204" pitchFamily="18" charset="0"/>
                                </a:rPr>
                                <m:t>𝐜</m:t>
                              </m:r>
                            </m:e>
                          </m:d>
                        </m:den>
                      </m:f>
                    </m:oMath>
                  </m:oMathPara>
                </a14:m>
                <a:endParaRPr lang="en-US" sz="2800" dirty="0">
                  <a:solidFill>
                    <a:schemeClr val="tx1"/>
                  </a:solidFill>
                </a:endParaRPr>
              </a:p>
            </p:txBody>
          </p:sp>
        </mc:Choice>
        <mc:Fallback xmlns="">
          <p:sp>
            <p:nvSpPr>
              <p:cNvPr id="21" name="TextBox 20">
                <a:extLst>
                  <a:ext uri="{FF2B5EF4-FFF2-40B4-BE49-F238E27FC236}">
                    <a16:creationId xmlns:a16="http://schemas.microsoft.com/office/drawing/2014/main" id="{E46533F6-1DA6-9C1C-35E2-01BF54977F56}"/>
                  </a:ext>
                </a:extLst>
              </p:cNvPr>
              <p:cNvSpPr txBox="1">
                <a:spLocks noRot="1" noChangeAspect="1" noMove="1" noResize="1" noEditPoints="1" noAdjustHandles="1" noChangeArrowheads="1" noChangeShapeType="1" noTextEdit="1"/>
              </p:cNvSpPr>
              <p:nvPr/>
            </p:nvSpPr>
            <p:spPr>
              <a:xfrm>
                <a:off x="838200" y="3664826"/>
                <a:ext cx="6093822" cy="900568"/>
              </a:xfrm>
              <a:prstGeom prst="rect">
                <a:avLst/>
              </a:prstGeom>
              <a:blipFill>
                <a:blip r:embed="rId6"/>
                <a:stretch>
                  <a:fillRect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1BD42B8-BEF1-7CEB-58BB-EFE9E08FD913}"/>
                  </a:ext>
                </a:extLst>
              </p:cNvPr>
              <p:cNvSpPr txBox="1"/>
              <p:nvPr/>
            </p:nvSpPr>
            <p:spPr>
              <a:xfrm>
                <a:off x="4723161" y="3664826"/>
                <a:ext cx="6093822" cy="902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i="0" smtClean="0">
                          <a:solidFill>
                            <a:schemeClr val="tx1"/>
                          </a:solidFill>
                          <a:latin typeface="Cambria Math" panose="02040503050406030204" pitchFamily="18" charset="0"/>
                        </a:rPr>
                        <m:t>𝐪</m:t>
                      </m:r>
                      <m:r>
                        <a:rPr lang="en-US" sz="280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1" i="0" smtClean="0">
                                  <a:solidFill>
                                    <a:schemeClr val="tx1"/>
                                  </a:solidFill>
                                  <a:latin typeface="Cambria Math" panose="02040503050406030204" pitchFamily="18" charset="0"/>
                                </a:rPr>
                                <m:t>𝐪</m:t>
                              </m:r>
                            </m:e>
                            <m:sub>
                              <m:r>
                                <a:rPr lang="en-US" sz="2800" i="1">
                                  <a:solidFill>
                                    <a:schemeClr val="tx1"/>
                                  </a:solidFill>
                                  <a:latin typeface="Cambria Math" panose="02040503050406030204" pitchFamily="18" charset="0"/>
                                </a:rPr>
                                <m:t>𝑟</m:t>
                              </m:r>
                            </m:sub>
                          </m:sSub>
                          <m:r>
                            <a:rPr lang="en-US" sz="2800" i="1">
                              <a:solidFill>
                                <a:schemeClr val="tx1"/>
                              </a:solidFill>
                              <a:latin typeface="Cambria Math" panose="02040503050406030204" pitchFamily="18" charset="0"/>
                            </a:rPr>
                            <m:t>−</m:t>
                          </m:r>
                          <m:r>
                            <a:rPr lang="en-US" sz="2800" b="1" i="0">
                              <a:solidFill>
                                <a:schemeClr val="tx1"/>
                              </a:solidFill>
                              <a:latin typeface="Cambria Math" panose="02040503050406030204" pitchFamily="18" charset="0"/>
                            </a:rPr>
                            <m:t>𝐜</m:t>
                          </m:r>
                        </m:num>
                        <m:den>
                          <m:d>
                            <m:dPr>
                              <m:begChr m:val="‖"/>
                              <m:endChr m:val="‖"/>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b="1" i="0" smtClean="0">
                                      <a:solidFill>
                                        <a:schemeClr val="tx1"/>
                                      </a:solidFill>
                                      <a:latin typeface="Cambria Math" panose="02040503050406030204" pitchFamily="18" charset="0"/>
                                    </a:rPr>
                                    <m:t>𝐪</m:t>
                                  </m:r>
                                </m:e>
                                <m:sub>
                                  <m:r>
                                    <a:rPr lang="en-US" sz="2800" i="1">
                                      <a:solidFill>
                                        <a:schemeClr val="tx1"/>
                                      </a:solidFill>
                                      <a:latin typeface="Cambria Math" panose="02040503050406030204" pitchFamily="18" charset="0"/>
                                    </a:rPr>
                                    <m:t>𝑟</m:t>
                                  </m:r>
                                </m:sub>
                              </m:sSub>
                              <m:r>
                                <a:rPr lang="en-US" sz="2800" i="1">
                                  <a:solidFill>
                                    <a:schemeClr val="tx1"/>
                                  </a:solidFill>
                                  <a:latin typeface="Cambria Math" panose="02040503050406030204" pitchFamily="18" charset="0"/>
                                </a:rPr>
                                <m:t>−</m:t>
                              </m:r>
                              <m:r>
                                <a:rPr lang="en-US" sz="2800" b="1" i="0">
                                  <a:solidFill>
                                    <a:schemeClr val="tx1"/>
                                  </a:solidFill>
                                  <a:latin typeface="Cambria Math" panose="02040503050406030204" pitchFamily="18" charset="0"/>
                                </a:rPr>
                                <m:t>𝐜</m:t>
                              </m:r>
                            </m:e>
                          </m:d>
                        </m:den>
                      </m:f>
                    </m:oMath>
                  </m:oMathPara>
                </a14:m>
                <a:endParaRPr lang="en-US" sz="2800" dirty="0"/>
              </a:p>
            </p:txBody>
          </p:sp>
        </mc:Choice>
        <mc:Fallback xmlns="">
          <p:sp>
            <p:nvSpPr>
              <p:cNvPr id="24" name="TextBox 23">
                <a:extLst>
                  <a:ext uri="{FF2B5EF4-FFF2-40B4-BE49-F238E27FC236}">
                    <a16:creationId xmlns:a16="http://schemas.microsoft.com/office/drawing/2014/main" id="{E1BD42B8-BEF1-7CEB-58BB-EFE9E08FD913}"/>
                  </a:ext>
                </a:extLst>
              </p:cNvPr>
              <p:cNvSpPr txBox="1">
                <a:spLocks noRot="1" noChangeAspect="1" noMove="1" noResize="1" noEditPoints="1" noAdjustHandles="1" noChangeArrowheads="1" noChangeShapeType="1" noTextEdit="1"/>
              </p:cNvSpPr>
              <p:nvPr/>
            </p:nvSpPr>
            <p:spPr>
              <a:xfrm>
                <a:off x="4723161" y="3664826"/>
                <a:ext cx="6093822" cy="902811"/>
              </a:xfrm>
              <a:prstGeom prst="rect">
                <a:avLst/>
              </a:prstGeom>
              <a:blipFill>
                <a:blip r:embed="rId7"/>
                <a:stretch>
                  <a:fillRect b="-972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45840802-8CE4-94E1-DE0B-80E05118DED5}"/>
              </a:ext>
            </a:extLst>
          </p:cNvPr>
          <p:cNvSpPr/>
          <p:nvPr/>
        </p:nvSpPr>
        <p:spPr>
          <a:xfrm>
            <a:off x="2986156" y="4888886"/>
            <a:ext cx="1516622" cy="59130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5D4414-23A8-7B29-7280-0C0DEDCF6466}"/>
              </a:ext>
            </a:extLst>
          </p:cNvPr>
          <p:cNvSpPr/>
          <p:nvPr/>
        </p:nvSpPr>
        <p:spPr>
          <a:xfrm>
            <a:off x="7123283" y="4888886"/>
            <a:ext cx="1326977" cy="59130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166426E-AFD1-76A2-B5B8-258EECFC0176}"/>
              </a:ext>
            </a:extLst>
          </p:cNvPr>
          <p:cNvSpPr/>
          <p:nvPr/>
        </p:nvSpPr>
        <p:spPr>
          <a:xfrm>
            <a:off x="4918904" y="4888886"/>
            <a:ext cx="1516622" cy="591300"/>
          </a:xfrm>
          <a:prstGeom prst="rect">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C75F6FA-8406-C721-F320-828F429A12BE}"/>
              </a:ext>
            </a:extLst>
          </p:cNvPr>
          <p:cNvSpPr/>
          <p:nvPr/>
        </p:nvSpPr>
        <p:spPr>
          <a:xfrm>
            <a:off x="8619988" y="4888886"/>
            <a:ext cx="1352422" cy="591300"/>
          </a:xfrm>
          <a:prstGeom prst="rect">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69782F3-170E-15AA-B76A-DC673697F0E2}"/>
              </a:ext>
            </a:extLst>
          </p:cNvPr>
          <p:cNvSpPr txBox="1"/>
          <p:nvPr/>
        </p:nvSpPr>
        <p:spPr>
          <a:xfrm>
            <a:off x="2986156" y="5496364"/>
            <a:ext cx="1516622" cy="369332"/>
          </a:xfrm>
          <a:prstGeom prst="rect">
            <a:avLst/>
          </a:prstGeom>
          <a:noFill/>
        </p:spPr>
        <p:txBody>
          <a:bodyPr wrap="square" rtlCol="0">
            <a:spAutoFit/>
          </a:bodyPr>
          <a:lstStyle/>
          <a:p>
            <a:pPr algn="ctr"/>
            <a:r>
              <a:rPr lang="en-US" dirty="0">
                <a:solidFill>
                  <a:schemeClr val="accent6"/>
                </a:solidFill>
              </a:rPr>
              <a:t>Pre-computed</a:t>
            </a:r>
          </a:p>
        </p:txBody>
      </p:sp>
      <p:sp>
        <p:nvSpPr>
          <p:cNvPr id="9" name="TextBox 8">
            <a:extLst>
              <a:ext uri="{FF2B5EF4-FFF2-40B4-BE49-F238E27FC236}">
                <a16:creationId xmlns:a16="http://schemas.microsoft.com/office/drawing/2014/main" id="{8433BB6F-1561-AD8B-D5A6-ACF35DC7B550}"/>
              </a:ext>
            </a:extLst>
          </p:cNvPr>
          <p:cNvSpPr txBox="1"/>
          <p:nvPr/>
        </p:nvSpPr>
        <p:spPr>
          <a:xfrm>
            <a:off x="7028460" y="5496364"/>
            <a:ext cx="1516622" cy="369332"/>
          </a:xfrm>
          <a:prstGeom prst="rect">
            <a:avLst/>
          </a:prstGeom>
          <a:noFill/>
        </p:spPr>
        <p:txBody>
          <a:bodyPr wrap="square" rtlCol="0">
            <a:spAutoFit/>
          </a:bodyPr>
          <a:lstStyle/>
          <a:p>
            <a:pPr algn="ctr"/>
            <a:r>
              <a:rPr lang="en-US" dirty="0">
                <a:solidFill>
                  <a:schemeClr val="accent6"/>
                </a:solidFill>
              </a:rPr>
              <a:t>Pre-computed</a:t>
            </a:r>
          </a:p>
        </p:txBody>
      </p:sp>
      <p:sp>
        <p:nvSpPr>
          <p:cNvPr id="10" name="TextBox 9">
            <a:extLst>
              <a:ext uri="{FF2B5EF4-FFF2-40B4-BE49-F238E27FC236}">
                <a16:creationId xmlns:a16="http://schemas.microsoft.com/office/drawing/2014/main" id="{E03DB9BC-EFFE-2FCD-D7DD-0DF5D6DC355C}"/>
              </a:ext>
            </a:extLst>
          </p:cNvPr>
          <p:cNvSpPr txBox="1"/>
          <p:nvPr/>
        </p:nvSpPr>
        <p:spPr>
          <a:xfrm>
            <a:off x="4875513" y="5515443"/>
            <a:ext cx="1516622" cy="646331"/>
          </a:xfrm>
          <a:prstGeom prst="rect">
            <a:avLst/>
          </a:prstGeom>
          <a:noFill/>
        </p:spPr>
        <p:txBody>
          <a:bodyPr wrap="square" rtlCol="0">
            <a:spAutoFit/>
          </a:bodyPr>
          <a:lstStyle/>
          <a:p>
            <a:pPr algn="ctr"/>
            <a:r>
              <a:rPr lang="en-US" dirty="0">
                <a:solidFill>
                  <a:srgbClr val="0000FF"/>
                </a:solidFill>
              </a:rPr>
              <a:t>Shared by all data vectors</a:t>
            </a:r>
          </a:p>
        </p:txBody>
      </p:sp>
      <p:sp>
        <p:nvSpPr>
          <p:cNvPr id="11" name="TextBox 10">
            <a:extLst>
              <a:ext uri="{FF2B5EF4-FFF2-40B4-BE49-F238E27FC236}">
                <a16:creationId xmlns:a16="http://schemas.microsoft.com/office/drawing/2014/main" id="{518F7C5C-2F38-3265-8E4B-4F063DD2221F}"/>
              </a:ext>
            </a:extLst>
          </p:cNvPr>
          <p:cNvSpPr txBox="1"/>
          <p:nvPr/>
        </p:nvSpPr>
        <p:spPr>
          <a:xfrm>
            <a:off x="8537888" y="5496364"/>
            <a:ext cx="1516622" cy="646331"/>
          </a:xfrm>
          <a:prstGeom prst="rect">
            <a:avLst/>
          </a:prstGeom>
          <a:noFill/>
        </p:spPr>
        <p:txBody>
          <a:bodyPr wrap="square" rtlCol="0">
            <a:spAutoFit/>
          </a:bodyPr>
          <a:lstStyle/>
          <a:p>
            <a:pPr algn="ctr"/>
            <a:r>
              <a:rPr lang="en-US" dirty="0">
                <a:solidFill>
                  <a:srgbClr val="0000FF"/>
                </a:solidFill>
              </a:rPr>
              <a:t>Shared by all data vectors</a:t>
            </a:r>
          </a:p>
        </p:txBody>
      </p:sp>
      <p:sp>
        <p:nvSpPr>
          <p:cNvPr id="16" name="TextBox 15">
            <a:extLst>
              <a:ext uri="{FF2B5EF4-FFF2-40B4-BE49-F238E27FC236}">
                <a16:creationId xmlns:a16="http://schemas.microsoft.com/office/drawing/2014/main" id="{2823C200-68B7-98B1-9E46-235C6E1041EF}"/>
              </a:ext>
            </a:extLst>
          </p:cNvPr>
          <p:cNvSpPr txBox="1"/>
          <p:nvPr/>
        </p:nvSpPr>
        <p:spPr>
          <a:xfrm>
            <a:off x="677517" y="1222412"/>
            <a:ext cx="10672520" cy="738664"/>
          </a:xfrm>
          <a:prstGeom prst="rect">
            <a:avLst/>
          </a:prstGeom>
          <a:noFill/>
        </p:spPr>
        <p:txBody>
          <a:bodyPr wrap="square">
            <a:spAutoFit/>
          </a:bodyPr>
          <a:lstStyle/>
          <a:p>
            <a:pPr marL="285750" indent="-285750">
              <a:buFont typeface="Wingdings" panose="05000000000000000000" pitchFamily="2" charset="2"/>
              <a:buChar char="Ø"/>
            </a:pPr>
            <a:r>
              <a:rPr lang="en-US" altLang="zh-CN" sz="2400" kern="100" dirty="0">
                <a:latin typeface="Calibri" panose="020F0502020204030204" pitchFamily="34" charset="0"/>
                <a:ea typeface="DengXian" panose="02010600030101010101" pitchFamily="2" charset="-122"/>
                <a:cs typeface="Times New Roman" panose="02020603050405020304" pitchFamily="18" charset="0"/>
              </a:rPr>
              <a:t>D</a:t>
            </a:r>
            <a:r>
              <a:rPr lang="en-US" altLang="zh-CN" sz="2400" dirty="0">
                <a:latin typeface="Calibri" panose="020F0502020204030204" pitchFamily="34" charset="0"/>
                <a:ea typeface="Microsoft YaHei" panose="020B0503020204020204" pitchFamily="34" charset="-122"/>
                <a:cs typeface="Calibri" panose="020F0502020204030204" pitchFamily="34" charset="0"/>
              </a:rPr>
              <a:t>irectly </a:t>
            </a:r>
            <a:r>
              <a:rPr lang="en-SG" sz="2400" kern="100" dirty="0">
                <a:latin typeface="Calibri" panose="020F0502020204030204" pitchFamily="34" charset="0"/>
                <a:ea typeface="DengXian" panose="02010600030101010101" pitchFamily="2" charset="-122"/>
                <a:cs typeface="Times New Roman" panose="02020603050405020304" pitchFamily="18" charset="0"/>
              </a:rPr>
              <a:t>constructing a codebook for the raw data vectors is challenging.</a:t>
            </a:r>
          </a:p>
          <a:p>
            <a:pPr marL="742950" lvl="1" indent="-285750">
              <a:buFont typeface="Wingdings" panose="05000000000000000000" pitchFamily="2" charset="2"/>
              <a:buChar char="Ø"/>
            </a:pPr>
            <a:r>
              <a:rPr lang="en-SG" kern="100" dirty="0">
                <a:latin typeface="Calibri" panose="020F0502020204030204" pitchFamily="34" charset="0"/>
                <a:ea typeface="DengXian" panose="02010600030101010101" pitchFamily="2" charset="-122"/>
                <a:cs typeface="Times New Roman" panose="02020603050405020304" pitchFamily="18" charset="0"/>
              </a:rPr>
              <a:t>The raw vectors may appear anywhere in the unbounded Euclidean space. </a:t>
            </a: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p:spTree>
    <p:custDataLst>
      <p:tags r:id="rId1"/>
    </p:custDataLst>
    <p:extLst>
      <p:ext uri="{BB962C8B-B14F-4D97-AF65-F5344CB8AC3E}">
        <p14:creationId xmlns:p14="http://schemas.microsoft.com/office/powerpoint/2010/main" val="2254079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CB6995A-DF1F-E7A4-160E-BD9FE655DD5D}"/>
                  </a:ext>
                </a:extLst>
              </p:cNvPr>
              <p:cNvSpPr>
                <a:spLocks noGrp="1"/>
              </p:cNvSpPr>
              <p:nvPr>
                <p:ph idx="1"/>
              </p:nvPr>
            </p:nvSpPr>
            <p:spPr/>
            <p:txBody>
              <a:bodyPr>
                <a:normAutofit fontScale="92500"/>
              </a:bodyPr>
              <a:lstStyle/>
              <a:p>
                <a:r>
                  <a:rPr lang="en-US" sz="2600" dirty="0"/>
                  <a:t>To achieve a theoretical error bound, we need a neat quantization codebook.</a:t>
                </a:r>
              </a:p>
              <a:p>
                <a:pPr lvl="1"/>
                <a:r>
                  <a:rPr lang="en-US" sz="2200" dirty="0"/>
                  <a:t>hypercube: a set of vectors composed of </a:t>
                </a:r>
                <a14:m>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2</m:t>
                        </m:r>
                      </m:e>
                      <m:sup>
                        <m:r>
                          <a:rPr lang="en-US" sz="2200" b="0" i="1" smtClean="0">
                            <a:latin typeface="Cambria Math" panose="02040503050406030204" pitchFamily="18" charset="0"/>
                          </a:rPr>
                          <m:t>𝐷</m:t>
                        </m:r>
                      </m:sup>
                    </m:sSup>
                  </m:oMath>
                </a14:m>
                <a:r>
                  <a:rPr lang="en-US" sz="2200" dirty="0"/>
                  <a:t> bi-valued vectors whose coordinates are </a:t>
                </a:r>
                <a14:m>
                  <m:oMath xmlns:m="http://schemas.openxmlformats.org/officeDocument/2006/math">
                    <m:r>
                      <a:rPr lang="en-US" altLang="zh-CN"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oMath>
                </a14:m>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a:p>
                <a:r>
                  <a:rPr lang="en-US" altLang="zh-CN" sz="2600" dirty="0">
                    <a:latin typeface="Calibri" panose="020F0502020204030204" pitchFamily="34" charset="0"/>
                    <a:ea typeface="Microsoft YaHei" panose="020B0503020204020204" pitchFamily="34" charset="-122"/>
                    <a:cs typeface="Calibri" panose="020F0502020204030204" pitchFamily="34" charset="0"/>
                  </a:rPr>
                  <a:t>A deterministic codebook favors some vectors but performs poorly for others. </a:t>
                </a:r>
              </a:p>
              <a:p>
                <a:pPr lvl="1"/>
                <a:r>
                  <a:rPr lang="en-US" altLang="zh-CN" sz="2200" b="1" dirty="0">
                    <a:ea typeface="Microsoft YaHei" panose="020B0503020204020204" pitchFamily="34" charset="-122"/>
                    <a:cs typeface="Calibri" panose="020F0502020204030204" pitchFamily="34" charset="0"/>
                  </a:rPr>
                  <a:t>Data Vector - </a:t>
                </a:r>
                <a14:m>
                  <m:oMath xmlns:m="http://schemas.openxmlformats.org/officeDocument/2006/math">
                    <m:r>
                      <a:rPr lang="en-US" altLang="zh-CN" sz="2200" b="1" i="0" smtClean="0">
                        <a:latin typeface="Cambria Math" panose="02040503050406030204" pitchFamily="18" charset="0"/>
                        <a:ea typeface="Microsoft YaHei" panose="020B0503020204020204" pitchFamily="34" charset="-122"/>
                        <a:cs typeface="Calibri" panose="020F0502020204030204" pitchFamily="34" charset="0"/>
                      </a:rPr>
                      <m:t>𝐨</m:t>
                    </m:r>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=(1,0,0,0,…,0)</m:t>
                    </m:r>
                  </m:oMath>
                </a14:m>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lvl="1"/>
                <a:r>
                  <a:rPr lang="en-US" altLang="zh-CN" sz="2200" b="1" dirty="0">
                    <a:ea typeface="Microsoft YaHei" panose="020B0503020204020204" pitchFamily="34" charset="-122"/>
                    <a:cs typeface="Calibri" panose="020F0502020204030204" pitchFamily="34" charset="0"/>
                  </a:rPr>
                  <a:t>Quantized Data Vector - </a:t>
                </a:r>
                <a14:m>
                  <m:oMath xmlns:m="http://schemas.openxmlformats.org/officeDocument/2006/math">
                    <m:acc>
                      <m:accPr>
                        <m:chr m:val="̅"/>
                        <m:ctrlP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200" b="1" i="0" smtClean="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m:t>
                    </m:r>
                    <m:d>
                      <m:dPr>
                        <m:ctrlP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ctrlPr>
                      </m:dPr>
                      <m:e>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2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200" i="1">
                                    <a:latin typeface="Cambria Math" panose="02040503050406030204" pitchFamily="18" charset="0"/>
                                    <a:ea typeface="Cambria Math" panose="02040503050406030204" pitchFamily="18" charset="0"/>
                                    <a:cs typeface="Calibri" panose="020F0502020204030204" pitchFamily="34" charset="0"/>
                                  </a:rPr>
                                  <m:t>𝐷</m:t>
                                </m:r>
                              </m:e>
                            </m:rad>
                          </m:den>
                        </m:f>
                      </m:e>
                    </m:d>
                  </m:oMath>
                </a14:m>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lvl="1"/>
                <a14:m>
                  <m:oMath xmlns:m="http://schemas.openxmlformats.org/officeDocument/2006/math">
                    <m:acc>
                      <m:accPr>
                        <m:chr m:val="̅"/>
                        <m:ctrlPr>
                          <a:rPr lang="en-US" altLang="zh-CN" sz="2200" b="1"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200" b="1" i="0" smtClean="0">
                            <a:latin typeface="Cambria Math" panose="02040503050406030204" pitchFamily="18" charset="0"/>
                            <a:ea typeface="Microsoft YaHei" panose="020B0503020204020204" pitchFamily="34" charset="-122"/>
                            <a:cs typeface="Calibri" panose="020F0502020204030204" pitchFamily="34" charset="0"/>
                          </a:rPr>
                          <m:t>𝐨</m:t>
                        </m:r>
                      </m:e>
                    </m:acc>
                  </m:oMath>
                </a14:m>
                <a:r>
                  <a:rPr lang="en-US" altLang="zh-CN" sz="2200" dirty="0">
                    <a:latin typeface="Calibri" panose="020F0502020204030204" pitchFamily="34" charset="0"/>
                    <a:ea typeface="Microsoft YaHei" panose="020B0503020204020204" pitchFamily="34" charset="-122"/>
                    <a:cs typeface="Calibri" panose="020F0502020204030204" pitchFamily="34" charset="0"/>
                  </a:rPr>
                  <a:t> is hardly a good approximation of </a:t>
                </a:r>
                <a14:m>
                  <m:oMath xmlns:m="http://schemas.openxmlformats.org/officeDocument/2006/math">
                    <m:r>
                      <a:rPr lang="en-US" altLang="zh-CN" sz="2200" b="1" i="0" smtClean="0">
                        <a:latin typeface="Cambria Math" panose="02040503050406030204" pitchFamily="18" charset="0"/>
                        <a:ea typeface="Microsoft YaHei" panose="020B0503020204020204" pitchFamily="34" charset="-122"/>
                        <a:cs typeface="Calibri" panose="020F0502020204030204" pitchFamily="34" charset="0"/>
                      </a:rPr>
                      <m:t>𝐨</m:t>
                    </m:r>
                  </m:oMath>
                </a14:m>
                <a:r>
                  <a:rPr lang="en-US" altLang="zh-CN" sz="2200" dirty="0">
                    <a:latin typeface="Calibri" panose="020F0502020204030204" pitchFamily="34" charset="0"/>
                    <a:ea typeface="Microsoft YaHei" panose="020B0503020204020204" pitchFamily="34" charset="-122"/>
                    <a:cs typeface="Calibri" panose="020F0502020204030204" pitchFamily="34" charset="0"/>
                  </a:rPr>
                  <a:t>.</a:t>
                </a:r>
                <a:endParaRPr lang="en-US" dirty="0"/>
              </a:p>
            </p:txBody>
          </p:sp>
        </mc:Choice>
        <mc:Fallback xmlns="">
          <p:sp>
            <p:nvSpPr>
              <p:cNvPr id="2" name="Content Placeholder 1">
                <a:extLst>
                  <a:ext uri="{FF2B5EF4-FFF2-40B4-BE49-F238E27FC236}">
                    <a16:creationId xmlns:a16="http://schemas.microsoft.com/office/drawing/2014/main" id="{BCB6995A-DF1F-E7A4-160E-BD9FE655DD5D}"/>
                  </a:ext>
                </a:extLst>
              </p:cNvPr>
              <p:cNvSpPr>
                <a:spLocks noGrp="1" noRot="1" noChangeAspect="1" noMove="1" noResize="1" noEditPoints="1" noAdjustHandles="1" noChangeArrowheads="1" noChangeShapeType="1" noTextEdit="1"/>
              </p:cNvSpPr>
              <p:nvPr>
                <p:ph idx="1"/>
              </p:nvPr>
            </p:nvSpPr>
            <p:spPr>
              <a:blipFill>
                <a:blip r:embed="rId3"/>
                <a:stretch>
                  <a:fillRect l="-844" t="-1442"/>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CB4B2E77-F834-1B3C-5392-097FDB63B675}"/>
              </a:ext>
            </a:extLst>
          </p:cNvPr>
          <p:cNvSpPr>
            <a:spLocks noGrp="1"/>
          </p:cNvSpPr>
          <p:nvPr>
            <p:ph type="title"/>
          </p:nvPr>
        </p:nvSpPr>
        <p:spPr/>
        <p:txBody>
          <a:bodyPr/>
          <a:lstStyle/>
          <a:p>
            <a:r>
              <a:rPr lang="en-US" altLang="zh-HK" dirty="0"/>
              <a:t>Index Phase: Construct a Codebook</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4547377-F619-231C-1276-58FF5E14EA39}"/>
                  </a:ext>
                </a:extLst>
              </p:cNvPr>
              <p:cNvSpPr txBox="1"/>
              <p:nvPr/>
            </p:nvSpPr>
            <p:spPr>
              <a:xfrm>
                <a:off x="6616379" y="2793901"/>
                <a:ext cx="2724785" cy="8969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ea typeface="Cambria Math" panose="02040503050406030204" pitchFamily="18" charset="0"/>
                          <a:cs typeface="Calibri" panose="020F0502020204030204" pitchFamily="34" charset="0"/>
                        </a:rPr>
                        <m:t>𝒞</m:t>
                      </m:r>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ctrlPr>
                        </m:sSupPr>
                        <m:e>
                          <m:d>
                            <m:dPr>
                              <m:begChr m:val="{"/>
                              <m:endChr m:val="}"/>
                              <m:ctrlP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4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4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4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400" i="1">
                                          <a:latin typeface="Cambria Math" panose="02040503050406030204" pitchFamily="18" charset="0"/>
                                          <a:ea typeface="Cambria Math" panose="02040503050406030204" pitchFamily="18" charset="0"/>
                                          <a:cs typeface="Calibri" panose="020F0502020204030204" pitchFamily="34" charset="0"/>
                                        </a:rPr>
                                        <m:t>𝐷</m:t>
                                      </m:r>
                                    </m:e>
                                  </m:rad>
                                </m:den>
                              </m:f>
                            </m:e>
                          </m:d>
                        </m:e>
                        <m:sup>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𝐷</m:t>
                          </m:r>
                        </m:sup>
                      </m:sSup>
                    </m:oMath>
                  </m:oMathPara>
                </a14:m>
                <a:endParaRPr lang="en-US" sz="2400" dirty="0"/>
              </a:p>
            </p:txBody>
          </p:sp>
        </mc:Choice>
        <mc:Fallback xmlns="">
          <p:sp>
            <p:nvSpPr>
              <p:cNvPr id="6" name="TextBox 5">
                <a:extLst>
                  <a:ext uri="{FF2B5EF4-FFF2-40B4-BE49-F238E27FC236}">
                    <a16:creationId xmlns:a16="http://schemas.microsoft.com/office/drawing/2014/main" id="{54547377-F619-231C-1276-58FF5E14EA39}"/>
                  </a:ext>
                </a:extLst>
              </p:cNvPr>
              <p:cNvSpPr txBox="1">
                <a:spLocks noRot="1" noChangeAspect="1" noMove="1" noResize="1" noEditPoints="1" noAdjustHandles="1" noChangeArrowheads="1" noChangeShapeType="1" noTextEdit="1"/>
              </p:cNvSpPr>
              <p:nvPr/>
            </p:nvSpPr>
            <p:spPr>
              <a:xfrm>
                <a:off x="6616379" y="2793901"/>
                <a:ext cx="2724785" cy="896977"/>
              </a:xfrm>
              <a:prstGeom prst="rect">
                <a:avLst/>
              </a:prstGeom>
              <a:blipFill>
                <a:blip r:embed="rId4"/>
                <a:stretch>
                  <a:fillRect l="-926" b="-1389"/>
                </a:stretch>
              </a:blipFill>
            </p:spPr>
            <p:txBody>
              <a:bodyPr/>
              <a:lstStyle/>
              <a:p>
                <a:r>
                  <a:rPr lang="en-US">
                    <a:noFill/>
                  </a:rPr>
                  <a:t> </a:t>
                </a:r>
              </a:p>
            </p:txBody>
          </p:sp>
        </mc:Fallback>
      </mc:AlternateContent>
      <p:pic>
        <p:nvPicPr>
          <p:cNvPr id="7" name="Picture 6" descr="A drawing of a cube with lines and dots&#10;&#10;Description automatically generated">
            <a:extLst>
              <a:ext uri="{FF2B5EF4-FFF2-40B4-BE49-F238E27FC236}">
                <a16:creationId xmlns:a16="http://schemas.microsoft.com/office/drawing/2014/main" id="{135779F9-E1F3-6F17-B795-BD6504127A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1650" y="2171644"/>
            <a:ext cx="3351279" cy="2061873"/>
          </a:xfrm>
          <a:prstGeom prst="rect">
            <a:avLst/>
          </a:prstGeom>
        </p:spPr>
      </p:pic>
    </p:spTree>
    <p:extLst>
      <p:ext uri="{BB962C8B-B14F-4D97-AF65-F5344CB8AC3E}">
        <p14:creationId xmlns:p14="http://schemas.microsoft.com/office/powerpoint/2010/main" val="2768515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ABC63-979E-DB92-A051-C03815C862F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6A3E754-A652-1B7F-F870-E201F40C0B0B}"/>
              </a:ext>
            </a:extLst>
          </p:cNvPr>
          <p:cNvSpPr>
            <a:spLocks noGrp="1"/>
          </p:cNvSpPr>
          <p:nvPr>
            <p:ph idx="1"/>
          </p:nvPr>
        </p:nvSpPr>
        <p:spPr>
          <a:xfrm>
            <a:off x="832414" y="1274961"/>
            <a:ext cx="10515600" cy="581543"/>
          </a:xfrm>
        </p:spPr>
        <p:txBody>
          <a:bodyPr>
            <a:normAutofit/>
          </a:bodyPr>
          <a:lstStyle/>
          <a:p>
            <a:r>
              <a:rPr lang="en-US" sz="2400" dirty="0"/>
              <a:t>Rotate the codebook by multiplying its vectors with a random orthogonal matrix</a:t>
            </a:r>
          </a:p>
        </p:txBody>
      </p:sp>
      <p:sp>
        <p:nvSpPr>
          <p:cNvPr id="2" name="Title 1">
            <a:extLst>
              <a:ext uri="{FF2B5EF4-FFF2-40B4-BE49-F238E27FC236}">
                <a16:creationId xmlns:a16="http://schemas.microsoft.com/office/drawing/2014/main" id="{98D376C3-1E88-38F7-FA79-AC9CCD5EDF21}"/>
              </a:ext>
            </a:extLst>
          </p:cNvPr>
          <p:cNvSpPr>
            <a:spLocks noGrp="1"/>
          </p:cNvSpPr>
          <p:nvPr>
            <p:ph type="title"/>
          </p:nvPr>
        </p:nvSpPr>
        <p:spPr/>
        <p:txBody>
          <a:bodyPr/>
          <a:lstStyle/>
          <a:p>
            <a:r>
              <a:rPr lang="en-US" altLang="zh-HK" dirty="0"/>
              <a:t>Index Phase: Randomly Rotate the Codebook</a:t>
            </a:r>
            <a:endParaRPr lang="zh-HK" altLang="en-US" dirty="0"/>
          </a:p>
        </p:txBody>
      </p:sp>
      <p:grpSp>
        <p:nvGrpSpPr>
          <p:cNvPr id="12" name="Group 11">
            <a:extLst>
              <a:ext uri="{FF2B5EF4-FFF2-40B4-BE49-F238E27FC236}">
                <a16:creationId xmlns:a16="http://schemas.microsoft.com/office/drawing/2014/main" id="{564B6C00-BCB1-2E22-B970-9D80560632CF}"/>
              </a:ext>
            </a:extLst>
          </p:cNvPr>
          <p:cNvGrpSpPr/>
          <p:nvPr/>
        </p:nvGrpSpPr>
        <p:grpSpPr>
          <a:xfrm>
            <a:off x="3865974" y="1675185"/>
            <a:ext cx="4448479" cy="2567672"/>
            <a:chOff x="2738422" y="1073442"/>
            <a:chExt cx="6715155" cy="4131497"/>
          </a:xfrm>
        </p:grpSpPr>
        <p:pic>
          <p:nvPicPr>
            <p:cNvPr id="13" name="Picture 12" descr="A drawing of a cube with lines and dots&#10;&#10;Description automatically generated">
              <a:extLst>
                <a:ext uri="{FF2B5EF4-FFF2-40B4-BE49-F238E27FC236}">
                  <a16:creationId xmlns:a16="http://schemas.microsoft.com/office/drawing/2014/main" id="{C564FBA0-554F-D5ED-A578-CA54C7B08D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8422" y="1073442"/>
              <a:ext cx="6715155" cy="4131497"/>
            </a:xfrm>
            <a:prstGeom prst="rect">
              <a:avLst/>
            </a:prstGeom>
          </p:spPr>
        </p:pic>
        <p:pic>
          <p:nvPicPr>
            <p:cNvPr id="1026" name="Picture 2" descr="Dice Royalty-Free Images, Stock Photos &amp; Pictures | Shutterstock">
              <a:extLst>
                <a:ext uri="{FF2B5EF4-FFF2-40B4-BE49-F238E27FC236}">
                  <a16:creationId xmlns:a16="http://schemas.microsoft.com/office/drawing/2014/main" id="{25BB1C9D-BC0E-20CB-57A3-8A47641F4E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2943" y="1177204"/>
              <a:ext cx="1081966" cy="1081966"/>
            </a:xfrm>
            <a:prstGeom prst="rect">
              <a:avLst/>
            </a:prstGeom>
            <a:solidFill>
              <a:srgbClr val="FF0000"/>
            </a:solidFill>
          </p:spPr>
        </p:pic>
        <p:sp>
          <p:nvSpPr>
            <p:cNvPr id="3" name="Curved Down Arrow 2">
              <a:extLst>
                <a:ext uri="{FF2B5EF4-FFF2-40B4-BE49-F238E27FC236}">
                  <a16:creationId xmlns:a16="http://schemas.microsoft.com/office/drawing/2014/main" id="{8269808C-405E-07F5-FFCC-8B8F748C9A55}"/>
                </a:ext>
              </a:extLst>
            </p:cNvPr>
            <p:cNvSpPr/>
            <p:nvPr/>
          </p:nvSpPr>
          <p:spPr>
            <a:xfrm rot="2640405">
              <a:off x="6636780" y="2004748"/>
              <a:ext cx="925148" cy="247983"/>
            </a:xfrm>
            <a:prstGeom prst="curvedDown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1" name="Group 10">
            <a:extLst>
              <a:ext uri="{FF2B5EF4-FFF2-40B4-BE49-F238E27FC236}">
                <a16:creationId xmlns:a16="http://schemas.microsoft.com/office/drawing/2014/main" id="{5323EA3B-069E-41BD-816C-B55FB1D3C8EA}"/>
              </a:ext>
            </a:extLst>
          </p:cNvPr>
          <p:cNvGrpSpPr/>
          <p:nvPr/>
        </p:nvGrpSpPr>
        <p:grpSpPr>
          <a:xfrm>
            <a:off x="2667857" y="3954992"/>
            <a:ext cx="6844711" cy="1046505"/>
            <a:chOff x="1547280" y="5123367"/>
            <a:chExt cx="10120064" cy="1046505"/>
          </a:xfrm>
        </p:grpSpPr>
        <p:sp>
          <p:nvSpPr>
            <p:cNvPr id="5" name="Down Arrow 4">
              <a:extLst>
                <a:ext uri="{FF2B5EF4-FFF2-40B4-BE49-F238E27FC236}">
                  <a16:creationId xmlns:a16="http://schemas.microsoft.com/office/drawing/2014/main" id="{D3417529-4690-27EE-A744-A7DEE2740EC6}"/>
                </a:ext>
              </a:extLst>
            </p:cNvPr>
            <p:cNvSpPr/>
            <p:nvPr/>
          </p:nvSpPr>
          <p:spPr>
            <a:xfrm rot="16200000">
              <a:off x="6303878" y="5436240"/>
              <a:ext cx="454743" cy="560439"/>
            </a:xfrm>
            <a:prstGeom prst="down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7" name="Group 6">
              <a:extLst>
                <a:ext uri="{FF2B5EF4-FFF2-40B4-BE49-F238E27FC236}">
                  <a16:creationId xmlns:a16="http://schemas.microsoft.com/office/drawing/2014/main" id="{02D201B1-A830-BCDE-DEFE-E12C4E2966E8}"/>
                </a:ext>
              </a:extLst>
            </p:cNvPr>
            <p:cNvGrpSpPr/>
            <p:nvPr/>
          </p:nvGrpSpPr>
          <p:grpSpPr>
            <a:xfrm>
              <a:off x="1547280" y="5123367"/>
              <a:ext cx="10120064" cy="1046505"/>
              <a:chOff x="1540571" y="5179918"/>
              <a:chExt cx="10120064" cy="1046505"/>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26483BD-F40D-89EB-324E-3726A24442DD}"/>
                      </a:ext>
                    </a:extLst>
                  </p:cNvPr>
                  <p:cNvSpPr txBox="1"/>
                  <p:nvPr/>
                </p:nvSpPr>
                <p:spPr>
                  <a:xfrm>
                    <a:off x="1540571" y="5179918"/>
                    <a:ext cx="4703750" cy="1046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cs typeface="Calibri" panose="020F0502020204030204" pitchFamily="34" charset="0"/>
                            </a:rPr>
                            <m:t>𝒞</m:t>
                          </m:r>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ctrlPr>
                            </m:sSupPr>
                            <m:e>
                              <m:d>
                                <m:dPr>
                                  <m:begChr m:val="{"/>
                                  <m:endChr m:val="}"/>
                                  <m:ctrlP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28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28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28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800" i="1">
                                              <a:latin typeface="Cambria Math" panose="02040503050406030204" pitchFamily="18" charset="0"/>
                                              <a:ea typeface="Cambria Math" panose="02040503050406030204" pitchFamily="18" charset="0"/>
                                              <a:cs typeface="Calibri" panose="020F0502020204030204" pitchFamily="34" charset="0"/>
                                            </a:rPr>
                                            <m:t>𝐷</m:t>
                                          </m:r>
                                        </m:e>
                                      </m:rad>
                                    </m:den>
                                  </m:f>
                                </m:e>
                              </m:d>
                            </m:e>
                            <m:sup>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𝐷</m:t>
                              </m:r>
                            </m:sup>
                          </m:sSup>
                        </m:oMath>
                      </m:oMathPara>
                    </a14:m>
                    <a:endParaRPr lang="en-US" sz="2800" dirty="0"/>
                  </a:p>
                </p:txBody>
              </p:sp>
            </mc:Choice>
            <mc:Fallback xmlns="">
              <p:sp>
                <p:nvSpPr>
                  <p:cNvPr id="8" name="TextBox 7">
                    <a:extLst>
                      <a:ext uri="{FF2B5EF4-FFF2-40B4-BE49-F238E27FC236}">
                        <a16:creationId xmlns:a16="http://schemas.microsoft.com/office/drawing/2014/main" id="{E26483BD-F40D-89EB-324E-3726A24442DD}"/>
                      </a:ext>
                    </a:extLst>
                  </p:cNvPr>
                  <p:cNvSpPr txBox="1">
                    <a:spLocks noRot="1" noChangeAspect="1" noMove="1" noResize="1" noEditPoints="1" noAdjustHandles="1" noChangeArrowheads="1" noChangeShapeType="1" noTextEdit="1"/>
                  </p:cNvSpPr>
                  <p:nvPr/>
                </p:nvSpPr>
                <p:spPr>
                  <a:xfrm>
                    <a:off x="1540571" y="5179918"/>
                    <a:ext cx="4703750" cy="10465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0C68A3-7808-2F70-04CB-526B4C2639AC}"/>
                      </a:ext>
                    </a:extLst>
                  </p:cNvPr>
                  <p:cNvSpPr txBox="1"/>
                  <p:nvPr/>
                </p:nvSpPr>
                <p:spPr>
                  <a:xfrm>
                    <a:off x="7165262" y="5538336"/>
                    <a:ext cx="449537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800" i="1" smtClean="0">
                                  <a:latin typeface="Cambria Math" panose="02040503050406030204" pitchFamily="18" charset="0"/>
                                  <a:ea typeface="Cambria Math" panose="02040503050406030204" pitchFamily="18" charset="0"/>
                                  <a:cs typeface="Calibri" panose="020F0502020204030204" pitchFamily="34" charset="0"/>
                                </a:rPr>
                                <m:t>𝒞</m:t>
                              </m:r>
                            </m:e>
                            <m:sub>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𝑟𝑎𝑛𝑑</m:t>
                              </m:r>
                            </m:sub>
                          </m:sSub>
                          <m:r>
                            <a:rPr lang="en-US" altLang="zh-CN" sz="2800" b="0" i="1" smtClean="0">
                              <a:latin typeface="Cambria Math" panose="02040503050406030204" pitchFamily="18" charset="0"/>
                              <a:ea typeface="Cambria Math" panose="02040503050406030204" pitchFamily="18" charset="0"/>
                              <a:cs typeface="Calibri" panose="020F0502020204030204" pitchFamily="34" charset="0"/>
                            </a:rPr>
                            <m:t>=</m:t>
                          </m:r>
                          <m:d>
                            <m:dPr>
                              <m:begChr m:val="{"/>
                              <m:endChr m:val="}"/>
                              <m:ctrlPr>
                                <a:rPr lang="en-US" altLang="zh-CN" sz="2800" i="1">
                                  <a:latin typeface="Cambria Math" panose="02040503050406030204" pitchFamily="18" charset="0"/>
                                  <a:ea typeface="Cambria Math" panose="02040503050406030204" pitchFamily="18" charset="0"/>
                                  <a:cs typeface="Calibri" panose="020F0502020204030204" pitchFamily="34" charset="0"/>
                                </a:rPr>
                              </m:ctrlPr>
                            </m:dPr>
                            <m:e>
                              <m:r>
                                <a:rPr lang="en-US" altLang="zh-CN" sz="2800" i="1">
                                  <a:latin typeface="Cambria Math" panose="02040503050406030204" pitchFamily="18" charset="0"/>
                                  <a:ea typeface="Cambria Math" panose="02040503050406030204" pitchFamily="18" charset="0"/>
                                  <a:cs typeface="Calibri" panose="020F0502020204030204" pitchFamily="34" charset="0"/>
                                </a:rPr>
                                <m:t>𝑃</m:t>
                              </m:r>
                              <m:r>
                                <a:rPr lang="en-US" altLang="zh-CN" sz="2800" b="1" i="0">
                                  <a:latin typeface="Cambria Math" panose="02040503050406030204" pitchFamily="18" charset="0"/>
                                  <a:ea typeface="Cambria Math" panose="02040503050406030204" pitchFamily="18" charset="0"/>
                                  <a:cs typeface="Calibri" panose="020F0502020204030204" pitchFamily="34" charset="0"/>
                                </a:rPr>
                                <m:t>𝐜</m:t>
                              </m:r>
                              <m:r>
                                <a:rPr lang="en-US" altLang="zh-CN" sz="2800" i="1">
                                  <a:latin typeface="Cambria Math" panose="02040503050406030204" pitchFamily="18" charset="0"/>
                                  <a:ea typeface="Cambria Math" panose="02040503050406030204" pitchFamily="18" charset="0"/>
                                  <a:cs typeface="Calibri" panose="020F0502020204030204" pitchFamily="34" charset="0"/>
                                </a:rPr>
                                <m:t>|</m:t>
                              </m:r>
                              <m:r>
                                <a:rPr lang="en-US" altLang="zh-CN" sz="2800" b="1" i="0">
                                  <a:latin typeface="Cambria Math" panose="02040503050406030204" pitchFamily="18" charset="0"/>
                                  <a:ea typeface="Cambria Math" panose="02040503050406030204" pitchFamily="18" charset="0"/>
                                  <a:cs typeface="Calibri" panose="020F0502020204030204" pitchFamily="34" charset="0"/>
                                </a:rPr>
                                <m:t>𝐜</m:t>
                              </m:r>
                              <m:r>
                                <a:rPr lang="en-US" altLang="zh-CN" sz="2800" i="1">
                                  <a:latin typeface="Cambria Math" panose="02040503050406030204" pitchFamily="18" charset="0"/>
                                  <a:ea typeface="Cambria Math" panose="02040503050406030204" pitchFamily="18" charset="0"/>
                                  <a:cs typeface="Calibri" panose="020F0502020204030204" pitchFamily="34" charset="0"/>
                                </a:rPr>
                                <m:t>∈</m:t>
                              </m:r>
                              <m:r>
                                <a:rPr lang="en-US" altLang="zh-CN" sz="2800" i="1">
                                  <a:latin typeface="Cambria Math" panose="02040503050406030204" pitchFamily="18" charset="0"/>
                                  <a:ea typeface="Cambria Math" panose="02040503050406030204" pitchFamily="18" charset="0"/>
                                  <a:cs typeface="Calibri" panose="020F0502020204030204" pitchFamily="34" charset="0"/>
                                </a:rPr>
                                <m:t>𝒞</m:t>
                              </m:r>
                            </m:e>
                          </m:d>
                        </m:oMath>
                      </m:oMathPara>
                    </a14:m>
                    <a:endParaRPr lang="en-US" sz="2800" dirty="0"/>
                  </a:p>
                </p:txBody>
              </p:sp>
            </mc:Choice>
            <mc:Fallback xmlns="">
              <p:sp>
                <p:nvSpPr>
                  <p:cNvPr id="6" name="TextBox 5">
                    <a:extLst>
                      <a:ext uri="{FF2B5EF4-FFF2-40B4-BE49-F238E27FC236}">
                        <a16:creationId xmlns:a16="http://schemas.microsoft.com/office/drawing/2014/main" id="{F80C68A3-7808-2F70-04CB-526B4C2639AC}"/>
                      </a:ext>
                    </a:extLst>
                  </p:cNvPr>
                  <p:cNvSpPr txBox="1">
                    <a:spLocks noRot="1" noChangeAspect="1" noMove="1" noResize="1" noEditPoints="1" noAdjustHandles="1" noChangeArrowheads="1" noChangeShapeType="1" noTextEdit="1"/>
                  </p:cNvSpPr>
                  <p:nvPr/>
                </p:nvSpPr>
                <p:spPr>
                  <a:xfrm>
                    <a:off x="7165262" y="5538336"/>
                    <a:ext cx="4495373" cy="430887"/>
                  </a:xfrm>
                  <a:prstGeom prst="rect">
                    <a:avLst/>
                  </a:prstGeom>
                  <a:blipFill>
                    <a:blip r:embed="rId7"/>
                    <a:stretch>
                      <a:fillRect l="-2083" t="-2857" b="-31429"/>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8CC840A-BE3D-DE2A-13B3-2071DDC9C2EB}"/>
                  </a:ext>
                </a:extLst>
              </p:cNvPr>
              <p:cNvSpPr txBox="1"/>
              <p:nvPr/>
            </p:nvSpPr>
            <p:spPr>
              <a:xfrm>
                <a:off x="7709563" y="6123543"/>
                <a:ext cx="4482437" cy="369332"/>
              </a:xfrm>
              <a:prstGeom prst="rect">
                <a:avLst/>
              </a:prstGeom>
              <a:noFill/>
            </p:spPr>
            <p:txBody>
              <a:bodyPr wrap="square">
                <a:spAutoFit/>
              </a:bodyPr>
              <a:lstStyle/>
              <a:p>
                <a:r>
                  <a:rPr lang="en-US" altLang="zh-CN" sz="1800" b="0" dirty="0">
                    <a:ea typeface="Microsoft YaHei" panose="020B0503020204020204" pitchFamily="34" charset="-122"/>
                    <a:cs typeface="Calibri" panose="020F0502020204030204" pitchFamily="34" charset="0"/>
                  </a:rPr>
                  <a:t>*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𝑃</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is a </a:t>
                </a:r>
                <a:r>
                  <a:rPr lang="en-US" altLang="zh-CN" dirty="0">
                    <a:latin typeface="Calibri" panose="020F0502020204030204" pitchFamily="34" charset="0"/>
                    <a:ea typeface="Microsoft YaHei" panose="020B0503020204020204" pitchFamily="34" charset="-122"/>
                    <a:cs typeface="Calibri" panose="020F0502020204030204" pitchFamily="34" charset="0"/>
                  </a:rPr>
                  <a:t>Johnson-</a:t>
                </a:r>
                <a:r>
                  <a:rPr lang="en-US" altLang="zh-CN" dirty="0" err="1">
                    <a:latin typeface="Calibri" panose="020F0502020204030204" pitchFamily="34" charset="0"/>
                    <a:ea typeface="Microsoft YaHei" panose="020B0503020204020204" pitchFamily="34" charset="-122"/>
                    <a:cs typeface="Calibri" panose="020F0502020204030204" pitchFamily="34" charset="0"/>
                  </a:rPr>
                  <a:t>Lindenstrauss</a:t>
                </a:r>
                <a:r>
                  <a:rPr lang="en-US" altLang="zh-CN" dirty="0">
                    <a:latin typeface="Calibri" panose="020F0502020204030204" pitchFamily="34" charset="0"/>
                    <a:ea typeface="Microsoft YaHei" panose="020B0503020204020204" pitchFamily="34" charset="-122"/>
                    <a:cs typeface="Calibri" panose="020F0502020204030204" pitchFamily="34" charset="0"/>
                  </a:rPr>
                  <a:t> Transformation</a:t>
                </a:r>
                <a:r>
                  <a:rPr lang="en-US" altLang="zh-CN" sz="1800" dirty="0">
                    <a:latin typeface="Calibri" panose="020F0502020204030204" pitchFamily="34" charset="0"/>
                    <a:ea typeface="Microsoft YaHei" panose="020B0503020204020204" pitchFamily="34" charset="-122"/>
                    <a:cs typeface="Calibri" panose="020F0502020204030204" pitchFamily="34" charset="0"/>
                  </a:rPr>
                  <a:t>.</a:t>
                </a:r>
              </a:p>
            </p:txBody>
          </p:sp>
        </mc:Choice>
        <mc:Fallback xmlns="">
          <p:sp>
            <p:nvSpPr>
              <p:cNvPr id="10" name="TextBox 9">
                <a:extLst>
                  <a:ext uri="{FF2B5EF4-FFF2-40B4-BE49-F238E27FC236}">
                    <a16:creationId xmlns:a16="http://schemas.microsoft.com/office/drawing/2014/main" id="{B8CC840A-BE3D-DE2A-13B3-2071DDC9C2EB}"/>
                  </a:ext>
                </a:extLst>
              </p:cNvPr>
              <p:cNvSpPr txBox="1">
                <a:spLocks noRot="1" noChangeAspect="1" noMove="1" noResize="1" noEditPoints="1" noAdjustHandles="1" noChangeArrowheads="1" noChangeShapeType="1" noTextEdit="1"/>
              </p:cNvSpPr>
              <p:nvPr/>
            </p:nvSpPr>
            <p:spPr>
              <a:xfrm>
                <a:off x="7709563" y="6123543"/>
                <a:ext cx="4482437" cy="369332"/>
              </a:xfrm>
              <a:prstGeom prst="rect">
                <a:avLst/>
              </a:prstGeom>
              <a:blipFill>
                <a:blip r:embed="rId8"/>
                <a:stretch>
                  <a:fillRect l="-1412" t="-6667" r="-2260" b="-23333"/>
                </a:stretch>
              </a:blipFill>
            </p:spPr>
            <p:txBody>
              <a:bodyPr/>
              <a:lstStyle/>
              <a:p>
                <a:r>
                  <a:rPr lang="en-US">
                    <a:noFill/>
                  </a:rPr>
                  <a:t> </a:t>
                </a:r>
              </a:p>
            </p:txBody>
          </p:sp>
        </mc:Fallback>
      </mc:AlternateContent>
      <p:sp>
        <p:nvSpPr>
          <p:cNvPr id="18" name="Content Placeholder 8">
            <a:extLst>
              <a:ext uri="{FF2B5EF4-FFF2-40B4-BE49-F238E27FC236}">
                <a16:creationId xmlns:a16="http://schemas.microsoft.com/office/drawing/2014/main" id="{DFA0171A-B152-EA94-8D11-CC3697B11C11}"/>
              </a:ext>
            </a:extLst>
          </p:cNvPr>
          <p:cNvSpPr txBox="1">
            <a:spLocks/>
          </p:cNvSpPr>
          <p:nvPr/>
        </p:nvSpPr>
        <p:spPr>
          <a:xfrm>
            <a:off x="832414" y="5239350"/>
            <a:ext cx="11103772" cy="581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For each vector, we find its quantized vector from the randomized codebook.  </a:t>
            </a:r>
          </a:p>
          <a:p>
            <a:pPr lvl="1"/>
            <a:r>
              <a:rPr lang="en-US" sz="1800" dirty="0"/>
              <a:t>A quantized vector is represented and stored as a 𝐷-bit string, where 0 and 1 indicate the two distinct values.</a:t>
            </a:r>
          </a:p>
        </p:txBody>
      </p:sp>
    </p:spTree>
    <p:custDataLst>
      <p:tags r:id="rId1"/>
    </p:custDataLst>
    <p:extLst>
      <p:ext uri="{BB962C8B-B14F-4D97-AF65-F5344CB8AC3E}">
        <p14:creationId xmlns:p14="http://schemas.microsoft.com/office/powerpoint/2010/main" val="2142297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2EC46-5264-313D-6125-49349AC49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DC80F-CD2C-B672-6D5D-804ED1EF2B8D}"/>
              </a:ext>
            </a:extLst>
          </p:cNvPr>
          <p:cNvSpPr>
            <a:spLocks noGrp="1"/>
          </p:cNvSpPr>
          <p:nvPr>
            <p:ph type="title"/>
          </p:nvPr>
        </p:nvSpPr>
        <p:spPr/>
        <p:txBody>
          <a:bodyPr/>
          <a:lstStyle/>
          <a:p>
            <a:r>
              <a:rPr lang="en-US" altLang="zh-HK" dirty="0"/>
              <a:t>Index Phase: Find the Nearest Vector</a:t>
            </a:r>
            <a:endParaRPr lang="zh-HK" altLang="en-US" dirty="0"/>
          </a:p>
        </p:txBody>
      </p:sp>
      <p:sp>
        <p:nvSpPr>
          <p:cNvPr id="4" name="Slide Number Placeholder 3">
            <a:extLst>
              <a:ext uri="{FF2B5EF4-FFF2-40B4-BE49-F238E27FC236}">
                <a16:creationId xmlns:a16="http://schemas.microsoft.com/office/drawing/2014/main" id="{FAD9F708-F1AF-578F-D3B9-3C7F714FA509}"/>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19</a:t>
            </a:fld>
            <a:endParaRPr lang="en-US"/>
          </a:p>
        </p:txBody>
      </p:sp>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ECA9DC28-01E3-E272-AF3E-CC2AB4BC280C}"/>
                  </a:ext>
                </a:extLst>
              </p:cNvPr>
              <p:cNvSpPr txBox="1">
                <a:spLocks/>
              </p:cNvSpPr>
              <p:nvPr/>
            </p:nvSpPr>
            <p:spPr>
              <a:xfrm>
                <a:off x="1056968" y="1177204"/>
                <a:ext cx="10296832" cy="34127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How to find the nearest vector for a unit vector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𝑜</m:t>
                    </m:r>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in </a:t>
                </a:r>
                <a14:m>
                  <m:oMath xmlns:m="http://schemas.openxmlformats.org/officeDocument/2006/math">
                    <m:sSub>
                      <m:sSubPr>
                        <m:ctrlP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400" i="1" smtClean="0">
                            <a:latin typeface="Cambria Math" panose="02040503050406030204" pitchFamily="18" charset="0"/>
                            <a:ea typeface="Cambria Math" panose="02040503050406030204" pitchFamily="18" charset="0"/>
                            <a:cs typeface="Calibri" panose="020F0502020204030204" pitchFamily="34" charset="0"/>
                          </a:rPr>
                          <m:t>𝒞</m:t>
                        </m:r>
                      </m:e>
                      <m:sub>
                        <m:r>
                          <a:rPr lang="en-US" altLang="zh-CN" sz="2400" b="0" i="1" smtClean="0">
                            <a:latin typeface="Cambria Math" panose="02040503050406030204" pitchFamily="18" charset="0"/>
                            <a:ea typeface="Cambria Math" panose="02040503050406030204" pitchFamily="18" charset="0"/>
                            <a:cs typeface="Calibri" panose="020F0502020204030204" pitchFamily="34" charset="0"/>
                          </a:rPr>
                          <m:t>𝑟𝑎𝑛𝑑</m:t>
                        </m:r>
                      </m:sub>
                    </m:sSub>
                  </m:oMath>
                </a14:m>
                <a:r>
                  <a:rPr lang="en-US" altLang="zh-CN" sz="24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Reversely rotate the data vector, i.e., to obtain </a:t>
                </a:r>
                <a14:m>
                  <m:oMath xmlns:m="http://schemas.openxmlformats.org/officeDocument/2006/math">
                    <m:sSup>
                      <m:sSupPr>
                        <m:ctrlP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𝑃</m:t>
                        </m:r>
                      </m:e>
                      <m:sup>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−1</m:t>
                        </m:r>
                      </m:sup>
                    </m:sSup>
                    <m:r>
                      <a:rPr lang="en-US" altLang="zh-CN" sz="2000" b="0" i="1" smtClean="0">
                        <a:latin typeface="Cambria Math" panose="02040503050406030204" pitchFamily="18" charset="0"/>
                        <a:ea typeface="Microsoft YaHei" panose="020B0503020204020204" pitchFamily="34" charset="-122"/>
                        <a:cs typeface="Calibri" panose="020F0502020204030204" pitchFamily="34" charset="0"/>
                      </a:rPr>
                      <m:t>𝑜</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Find its nearest vector in the codebook</a:t>
                </a:r>
                <a:r>
                  <a:rPr lang="en-US" altLang="zh-CN" sz="2000" dirty="0">
                    <a:ea typeface="Cambria Math" panose="02040503050406030204" pitchFamily="18" charset="0"/>
                    <a:cs typeface="Calibri" panose="020F0502020204030204" pitchFamily="34" charset="0"/>
                  </a:rPr>
                  <a:t> </a:t>
                </a:r>
                <a14:m>
                  <m:oMath xmlns:m="http://schemas.openxmlformats.org/officeDocument/2006/math">
                    <m:acc>
                      <m:accPr>
                        <m:chr m:val="̅"/>
                        <m:ctrlPr>
                          <a:rPr lang="en-US" altLang="zh-CN" sz="2000" b="0" i="1" smtClean="0">
                            <a:latin typeface="Cambria Math" panose="02040503050406030204" pitchFamily="18" charset="0"/>
                            <a:ea typeface="Cambria Math" panose="02040503050406030204" pitchFamily="18" charset="0"/>
                            <a:cs typeface="Calibri" panose="020F0502020204030204" pitchFamily="34" charset="0"/>
                          </a:rPr>
                        </m:ctrlPr>
                      </m:accPr>
                      <m:e>
                        <m:r>
                          <a:rPr lang="en-US" altLang="zh-CN" sz="2000" b="0" i="1" smtClean="0">
                            <a:latin typeface="Cambria Math" panose="02040503050406030204" pitchFamily="18" charset="0"/>
                            <a:ea typeface="Cambria Math" panose="02040503050406030204" pitchFamily="18" charset="0"/>
                            <a:cs typeface="Calibri" panose="020F0502020204030204" pitchFamily="34" charset="0"/>
                          </a:rPr>
                          <m:t>𝑥</m:t>
                        </m:r>
                      </m:e>
                    </m:acc>
                    <m:r>
                      <a:rPr lang="en-US" altLang="zh-CN" b="0" i="1" dirty="0"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000" i="1">
                        <a:latin typeface="Cambria Math" panose="02040503050406030204" pitchFamily="18" charset="0"/>
                        <a:ea typeface="Cambria Math" panose="02040503050406030204" pitchFamily="18" charset="0"/>
                        <a:cs typeface="Calibri" panose="020F0502020204030204" pitchFamily="34" charset="0"/>
                      </a:rPr>
                      <m:t>𝒞</m:t>
                    </m:r>
                  </m:oMath>
                </a14:m>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p>
              <a:p>
                <a:pPr marL="1200150" lvl="2" indent="-285750">
                  <a:buFont typeface="Wingdings" panose="05000000000000000000" pitchFamily="2" charset="2"/>
                  <a:buChar char="Ø"/>
                </a:pPr>
                <a:r>
                  <a:rPr lang="en-US" altLang="zh-CN" sz="1600" dirty="0">
                    <a:latin typeface="Calibri" panose="020F0502020204030204" pitchFamily="34" charset="0"/>
                    <a:ea typeface="Microsoft YaHei" panose="020B0503020204020204" pitchFamily="34" charset="-122"/>
                    <a:cs typeface="Calibri" panose="020F0502020204030204" pitchFamily="34" charset="0"/>
                  </a:rPr>
                  <a:t>This is easy because </a:t>
                </a:r>
                <a14:m>
                  <m:oMath xmlns:m="http://schemas.openxmlformats.org/officeDocument/2006/math">
                    <m:r>
                      <a:rPr lang="en-US" altLang="zh-CN" sz="1600" i="1" smtClean="0">
                        <a:latin typeface="Cambria Math" panose="02040503050406030204" pitchFamily="18" charset="0"/>
                        <a:ea typeface="Cambria Math" panose="02040503050406030204" pitchFamily="18" charset="0"/>
                        <a:cs typeface="Calibri" panose="020F0502020204030204" pitchFamily="34" charset="0"/>
                      </a:rPr>
                      <m:t>𝒞</m:t>
                    </m:r>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ctrlPr>
                      </m:sSupPr>
                      <m:e>
                        <m:d>
                          <m:dPr>
                            <m:begChr m:val="{"/>
                            <m:endChr m:val="}"/>
                            <m:ctrlP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𝐷</m:t>
                                    </m:r>
                                  </m:e>
                                </m:rad>
                              </m:den>
                            </m:f>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altLang="zh-CN" sz="1600" i="1">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latin typeface="Cambria Math" panose="02040503050406030204" pitchFamily="18" charset="0"/>
                                    <a:ea typeface="Cambria Math" panose="02040503050406030204" pitchFamily="18" charset="0"/>
                                    <a:cs typeface="Calibri" panose="020F0502020204030204" pitchFamily="34" charset="0"/>
                                  </a:rPr>
                                  <m:t>1</m:t>
                                </m:r>
                              </m:num>
                              <m:den>
                                <m:rad>
                                  <m:radPr>
                                    <m:degHide m:val="on"/>
                                    <m:ctrlPr>
                                      <a:rPr lang="en-US" altLang="zh-CN" sz="1600" i="1">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latin typeface="Cambria Math" panose="02040503050406030204" pitchFamily="18" charset="0"/>
                                        <a:ea typeface="Cambria Math" panose="02040503050406030204" pitchFamily="18" charset="0"/>
                                        <a:cs typeface="Calibri" panose="020F0502020204030204" pitchFamily="34" charset="0"/>
                                      </a:rPr>
                                      <m:t>𝐷</m:t>
                                    </m:r>
                                  </m:e>
                                </m:rad>
                              </m:den>
                            </m:f>
                          </m:e>
                        </m:d>
                      </m:e>
                      <m:sup>
                        <m:r>
                          <a:rPr lang="en-US" altLang="zh-CN" sz="1600" b="0" i="1" smtClean="0">
                            <a:latin typeface="Cambria Math" panose="02040503050406030204" pitchFamily="18" charset="0"/>
                            <a:ea typeface="Cambria Math" panose="02040503050406030204" pitchFamily="18" charset="0"/>
                            <a:cs typeface="Calibri" panose="020F0502020204030204" pitchFamily="34" charset="0"/>
                          </a:rPr>
                          <m:t>𝐷</m:t>
                        </m:r>
                      </m:sup>
                    </m:sSup>
                  </m:oMath>
                </a14:m>
                <a:r>
                  <a:rPr lang="en-US" altLang="zh-CN" sz="1600" dirty="0">
                    <a:latin typeface="Calibri" panose="020F0502020204030204" pitchFamily="34" charset="0"/>
                    <a:ea typeface="Microsoft YaHei" panose="020B0503020204020204" pitchFamily="34" charset="-122"/>
                    <a:cs typeface="Calibri" panose="020F0502020204030204" pitchFamily="34" charset="0"/>
                  </a:rPr>
                  <a:t>. </a:t>
                </a:r>
              </a:p>
              <a:p>
                <a:pPr marL="1200150" lvl="2" indent="-285750">
                  <a:buFont typeface="Wingdings" panose="05000000000000000000" pitchFamily="2" charset="2"/>
                  <a:buChar char="Ø"/>
                </a:pPr>
                <a:r>
                  <a:rPr lang="en-US" altLang="zh-CN" sz="1600" dirty="0">
                    <a:latin typeface="Calibri" panose="020F0502020204030204" pitchFamily="34" charset="0"/>
                    <a:ea typeface="Microsoft YaHei" panose="020B0503020204020204" pitchFamily="34" charset="-122"/>
                    <a:cs typeface="Calibri" panose="020F0502020204030204" pitchFamily="34" charset="0"/>
                  </a:rPr>
                  <a:t>The nearest vector can be found by viewing the signs of </a:t>
                </a:r>
                <a14:m>
                  <m:oMath xmlns:m="http://schemas.openxmlformats.org/officeDocument/2006/math">
                    <m:sSup>
                      <m:sSupPr>
                        <m:ctrlPr>
                          <a:rPr lang="en-US" altLang="zh-CN" sz="1600"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sz="1600" b="0" i="1" smtClean="0">
                            <a:latin typeface="Cambria Math" panose="02040503050406030204" pitchFamily="18" charset="0"/>
                            <a:ea typeface="Microsoft YaHei" panose="020B0503020204020204" pitchFamily="34" charset="-122"/>
                            <a:cs typeface="Calibri" panose="020F0502020204030204" pitchFamily="34" charset="0"/>
                          </a:rPr>
                          <m:t>𝑃</m:t>
                        </m:r>
                      </m:e>
                      <m:sup>
                        <m:r>
                          <a:rPr lang="en-US" altLang="zh-CN" sz="1600" b="0" i="1" smtClean="0">
                            <a:latin typeface="Cambria Math" panose="02040503050406030204" pitchFamily="18" charset="0"/>
                            <a:ea typeface="Microsoft YaHei" panose="020B0503020204020204" pitchFamily="34" charset="-122"/>
                            <a:cs typeface="Calibri" panose="020F0502020204030204" pitchFamily="34" charset="0"/>
                          </a:rPr>
                          <m:t>−1</m:t>
                        </m:r>
                      </m:sup>
                    </m:sSup>
                    <m:r>
                      <a:rPr lang="en-US" altLang="zh-CN" sz="1600" b="0" i="1" smtClean="0">
                        <a:latin typeface="Cambria Math" panose="02040503050406030204" pitchFamily="18" charset="0"/>
                        <a:ea typeface="Microsoft YaHei" panose="020B0503020204020204" pitchFamily="34" charset="-122"/>
                        <a:cs typeface="Calibri" panose="020F0502020204030204" pitchFamily="34" charset="0"/>
                      </a:rPr>
                      <m:t>𝑜</m:t>
                    </m:r>
                  </m:oMath>
                </a14:m>
                <a:r>
                  <a:rPr lang="en-US" altLang="zh-CN" sz="16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14:m>
                  <m:oMath xmlns:m="http://schemas.openxmlformats.org/officeDocument/2006/math">
                    <m:acc>
                      <m:accPr>
                        <m:chr m:val="̅"/>
                        <m:ctrlPr>
                          <a:rPr lang="en-US" altLang="zh-CN" sz="2000" b="0" i="1" smtClean="0">
                            <a:latin typeface="Cambria Math" panose="02040503050406030204" pitchFamily="18" charset="0"/>
                            <a:ea typeface="Cambria Math" panose="02040503050406030204" pitchFamily="18" charset="0"/>
                            <a:cs typeface="Calibri" panose="020F0502020204030204" pitchFamily="34" charset="0"/>
                          </a:rPr>
                        </m:ctrlPr>
                      </m:accPr>
                      <m:e>
                        <m:r>
                          <a:rPr lang="en-US" altLang="zh-CN" sz="2000" b="0" i="1" smtClean="0">
                            <a:latin typeface="Cambria Math" panose="02040503050406030204" pitchFamily="18" charset="0"/>
                            <a:ea typeface="Cambria Math" panose="02040503050406030204" pitchFamily="18" charset="0"/>
                            <a:cs typeface="Calibri" panose="020F0502020204030204" pitchFamily="34" charset="0"/>
                          </a:rPr>
                          <m:t>𝑜</m:t>
                        </m:r>
                      </m:e>
                    </m:acc>
                    <m:r>
                      <a:rPr lang="en-US" altLang="zh-CN" sz="2000" b="0" i="1" smtClean="0">
                        <a:latin typeface="Cambria Math" panose="02040503050406030204" pitchFamily="18" charset="0"/>
                        <a:ea typeface="Cambria Math" panose="02040503050406030204" pitchFamily="18" charset="0"/>
                        <a:cs typeface="Calibri" panose="020F0502020204030204" pitchFamily="34" charset="0"/>
                      </a:rPr>
                      <m:t>=</m:t>
                    </m:r>
                    <m:r>
                      <a:rPr lang="en-US" altLang="zh-CN" sz="2000" i="1">
                        <a:latin typeface="Cambria Math" panose="02040503050406030204" pitchFamily="18" charset="0"/>
                        <a:ea typeface="Cambria Math" panose="02040503050406030204" pitchFamily="18" charset="0"/>
                        <a:cs typeface="Calibri" panose="020F0502020204030204" pitchFamily="34" charset="0"/>
                      </a:rPr>
                      <m:t>𝑃</m:t>
                    </m:r>
                    <m:acc>
                      <m:accPr>
                        <m:chr m:val="̅"/>
                        <m:ctrlPr>
                          <a:rPr lang="en-US" altLang="zh-CN" sz="2000" i="1">
                            <a:latin typeface="Cambria Math" panose="02040503050406030204" pitchFamily="18" charset="0"/>
                            <a:ea typeface="Cambria Math" panose="02040503050406030204" pitchFamily="18" charset="0"/>
                            <a:cs typeface="Calibri" panose="020F0502020204030204" pitchFamily="34" charset="0"/>
                          </a:rPr>
                        </m:ctrlPr>
                      </m:accPr>
                      <m:e>
                        <m:r>
                          <a:rPr lang="en-US" altLang="zh-CN" sz="2000" i="1">
                            <a:latin typeface="Cambria Math" panose="02040503050406030204" pitchFamily="18" charset="0"/>
                            <a:ea typeface="Cambria Math" panose="02040503050406030204" pitchFamily="18" charset="0"/>
                            <a:cs typeface="Calibri" panose="020F0502020204030204" pitchFamily="34" charset="0"/>
                          </a:rPr>
                          <m:t>𝑥</m:t>
                        </m:r>
                      </m:e>
                    </m:acc>
                  </m:oMath>
                </a14:m>
                <a:r>
                  <a:rPr lang="en-US" altLang="zh-CN" sz="2000" b="0" dirty="0">
                    <a:ea typeface="Cambria Math" panose="02040503050406030204" pitchFamily="18" charset="0"/>
                    <a:cs typeface="Calibri" panose="020F0502020204030204" pitchFamily="34" charset="0"/>
                  </a:rPr>
                  <a:t> is the quantized vector.</a:t>
                </a:r>
                <a:endParaRPr lang="en-US" sz="2000" dirty="0"/>
              </a:p>
            </p:txBody>
          </p:sp>
        </mc:Choice>
        <mc:Fallback xmlns="">
          <p:sp>
            <p:nvSpPr>
              <p:cNvPr id="5" name="文本占位符 44">
                <a:extLst>
                  <a:ext uri="{FF2B5EF4-FFF2-40B4-BE49-F238E27FC236}">
                    <a16:creationId xmlns:a16="http://schemas.microsoft.com/office/drawing/2014/main" id="{ECA9DC28-01E3-E272-AF3E-CC2AB4BC280C}"/>
                  </a:ext>
                </a:extLst>
              </p:cNvPr>
              <p:cNvSpPr txBox="1">
                <a:spLocks noRot="1" noChangeAspect="1" noMove="1" noResize="1" noEditPoints="1" noAdjustHandles="1" noChangeArrowheads="1" noChangeShapeType="1" noTextEdit="1"/>
              </p:cNvSpPr>
              <p:nvPr/>
            </p:nvSpPr>
            <p:spPr>
              <a:xfrm>
                <a:off x="1056968" y="1177204"/>
                <a:ext cx="10296832" cy="3412752"/>
              </a:xfrm>
              <a:prstGeom prst="rect">
                <a:avLst/>
              </a:prstGeom>
              <a:blipFill>
                <a:blip r:embed="rId4"/>
                <a:stretch>
                  <a:fillRect l="-1108" t="-2963"/>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89D74B3F-6B8F-882B-23F1-FAD5AADA1145}"/>
              </a:ext>
            </a:extLst>
          </p:cNvPr>
          <p:cNvGrpSpPr/>
          <p:nvPr/>
        </p:nvGrpSpPr>
        <p:grpSpPr>
          <a:xfrm>
            <a:off x="1177468" y="3429000"/>
            <a:ext cx="9837063" cy="2952000"/>
            <a:chOff x="1056984" y="2576283"/>
            <a:chExt cx="9837063" cy="2952000"/>
          </a:xfrm>
        </p:grpSpPr>
        <p:grpSp>
          <p:nvGrpSpPr>
            <p:cNvPr id="16" name="Group 15">
              <a:extLst>
                <a:ext uri="{FF2B5EF4-FFF2-40B4-BE49-F238E27FC236}">
                  <a16:creationId xmlns:a16="http://schemas.microsoft.com/office/drawing/2014/main" id="{3016EC3D-900A-45D8-429E-452CEB249931}"/>
                </a:ext>
              </a:extLst>
            </p:cNvPr>
            <p:cNvGrpSpPr>
              <a:grpSpLocks noChangeAspect="1"/>
            </p:cNvGrpSpPr>
            <p:nvPr/>
          </p:nvGrpSpPr>
          <p:grpSpPr>
            <a:xfrm>
              <a:off x="1056984" y="2576283"/>
              <a:ext cx="4798047" cy="2952000"/>
              <a:chOff x="2738422" y="1073442"/>
              <a:chExt cx="6715155" cy="4131497"/>
            </a:xfrm>
          </p:grpSpPr>
          <p:pic>
            <p:nvPicPr>
              <p:cNvPr id="21" name="Picture 20" descr="A drawing of a cube with lines and dots&#10;&#10;Description automatically generated">
                <a:extLst>
                  <a:ext uri="{FF2B5EF4-FFF2-40B4-BE49-F238E27FC236}">
                    <a16:creationId xmlns:a16="http://schemas.microsoft.com/office/drawing/2014/main" id="{BBA5EEDF-2072-13E4-8162-F0279E25F1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38422" y="1073442"/>
                <a:ext cx="6715155" cy="4131497"/>
              </a:xfrm>
              <a:prstGeom prst="rect">
                <a:avLst/>
              </a:prstGeom>
            </p:spPr>
          </p:pic>
          <p:pic>
            <p:nvPicPr>
              <p:cNvPr id="22" name="Picture 2" descr="Dice Royalty-Free Images, Stock Photos &amp; Pictures | Shutterstock">
                <a:extLst>
                  <a:ext uri="{FF2B5EF4-FFF2-40B4-BE49-F238E27FC236}">
                    <a16:creationId xmlns:a16="http://schemas.microsoft.com/office/drawing/2014/main" id="{2735C198-3F92-EF9C-6780-86B18146DA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2943" y="1177204"/>
                <a:ext cx="1081966" cy="1081966"/>
              </a:xfrm>
              <a:prstGeom prst="rect">
                <a:avLst/>
              </a:prstGeom>
              <a:solidFill>
                <a:srgbClr val="FF0000"/>
              </a:solidFill>
            </p:spPr>
          </p:pic>
          <p:sp>
            <p:nvSpPr>
              <p:cNvPr id="23" name="Curved Down Arrow 22">
                <a:extLst>
                  <a:ext uri="{FF2B5EF4-FFF2-40B4-BE49-F238E27FC236}">
                    <a16:creationId xmlns:a16="http://schemas.microsoft.com/office/drawing/2014/main" id="{0EFE82BD-1829-E52F-4A0D-C4DE479AB240}"/>
                  </a:ext>
                </a:extLst>
              </p:cNvPr>
              <p:cNvSpPr/>
              <p:nvPr/>
            </p:nvSpPr>
            <p:spPr>
              <a:xfrm rot="2640405">
                <a:off x="6636780" y="2004748"/>
                <a:ext cx="925148" cy="247983"/>
              </a:xfrm>
              <a:prstGeom prst="curvedDown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7" name="Group 16">
              <a:extLst>
                <a:ext uri="{FF2B5EF4-FFF2-40B4-BE49-F238E27FC236}">
                  <a16:creationId xmlns:a16="http://schemas.microsoft.com/office/drawing/2014/main" id="{9CB018E9-B256-9FBC-DDFC-F5D12B405F27}"/>
                </a:ext>
              </a:extLst>
            </p:cNvPr>
            <p:cNvGrpSpPr>
              <a:grpSpLocks noChangeAspect="1"/>
            </p:cNvGrpSpPr>
            <p:nvPr/>
          </p:nvGrpSpPr>
          <p:grpSpPr>
            <a:xfrm>
              <a:off x="6096000" y="2576283"/>
              <a:ext cx="4798047" cy="2952000"/>
              <a:chOff x="2738422" y="1073442"/>
              <a:chExt cx="6715155" cy="4131497"/>
            </a:xfrm>
          </p:grpSpPr>
          <p:pic>
            <p:nvPicPr>
              <p:cNvPr id="18" name="Picture 17" descr="A drawing of a cube with lines and dots&#10;&#10;Description automatically generated">
                <a:extLst>
                  <a:ext uri="{FF2B5EF4-FFF2-40B4-BE49-F238E27FC236}">
                    <a16:creationId xmlns:a16="http://schemas.microsoft.com/office/drawing/2014/main" id="{E14DB736-FE5E-A61F-F250-77B1F8244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38422" y="1073442"/>
                <a:ext cx="6715155" cy="4131497"/>
              </a:xfrm>
              <a:prstGeom prst="rect">
                <a:avLst/>
              </a:prstGeom>
            </p:spPr>
          </p:pic>
          <p:pic>
            <p:nvPicPr>
              <p:cNvPr id="19" name="Picture 2" descr="Dice Royalty-Free Images, Stock Photos &amp; Pictures | Shutterstock">
                <a:extLst>
                  <a:ext uri="{FF2B5EF4-FFF2-40B4-BE49-F238E27FC236}">
                    <a16:creationId xmlns:a16="http://schemas.microsoft.com/office/drawing/2014/main" id="{A8EDA196-68DE-D39E-E215-5DD468B601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2942" y="1177204"/>
                <a:ext cx="1081966" cy="1081967"/>
              </a:xfrm>
              <a:prstGeom prst="rect">
                <a:avLst/>
              </a:prstGeom>
              <a:solidFill>
                <a:srgbClr val="FF0000"/>
              </a:solidFill>
            </p:spPr>
          </p:pic>
          <p:sp>
            <p:nvSpPr>
              <p:cNvPr id="20" name="Curved Down Arrow 19">
                <a:extLst>
                  <a:ext uri="{FF2B5EF4-FFF2-40B4-BE49-F238E27FC236}">
                    <a16:creationId xmlns:a16="http://schemas.microsoft.com/office/drawing/2014/main" id="{D66161EE-A349-2C6E-11FD-7AC80C4AA4CD}"/>
                  </a:ext>
                </a:extLst>
              </p:cNvPr>
              <p:cNvSpPr>
                <a:spLocks noChangeAspect="1"/>
              </p:cNvSpPr>
              <p:nvPr/>
            </p:nvSpPr>
            <p:spPr>
              <a:xfrm rot="2759278" flipH="1">
                <a:off x="6541498" y="1971847"/>
                <a:ext cx="923759" cy="247612"/>
              </a:xfrm>
              <a:prstGeom prst="curved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Footer Placeholder 2">
            <a:extLst>
              <a:ext uri="{FF2B5EF4-FFF2-40B4-BE49-F238E27FC236}">
                <a16:creationId xmlns:a16="http://schemas.microsoft.com/office/drawing/2014/main" id="{AC1C4A7B-E115-CB8A-EF7F-A229CD3BA079}"/>
              </a:ext>
            </a:extLst>
          </p:cNvPr>
          <p:cNvSpPr>
            <a:spLocks noGrp="1"/>
          </p:cNvSpPr>
          <p:nvPr>
            <p:ph type="ftr" sz="quarter" idx="11"/>
          </p:nvPr>
        </p:nvSpPr>
        <p:spPr/>
        <p:txBody>
          <a:bodyPr/>
          <a:lstStyle/>
          <a:p>
            <a:r>
              <a:rPr lang="en-US"/>
              <a:t>RaBitQ: Quantizing High-Dimensional Vectors with a Theoretical Error Bound for Approximate Nearest Neighbor Search and Beyond</a:t>
            </a:r>
            <a:endParaRPr lang="en-SG" dirty="0"/>
          </a:p>
        </p:txBody>
      </p:sp>
    </p:spTree>
    <p:custDataLst>
      <p:tags r:id="rId1"/>
    </p:custDataLst>
    <p:extLst>
      <p:ext uri="{BB962C8B-B14F-4D97-AF65-F5344CB8AC3E}">
        <p14:creationId xmlns:p14="http://schemas.microsoft.com/office/powerpoint/2010/main" val="1477608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8B62-5E53-064A-6E08-01C0D7CB751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2A39EA3-84E1-3C5A-D6D1-E2D1986327DC}"/>
                  </a:ext>
                </a:extLst>
              </p:cNvPr>
              <p:cNvSpPr>
                <a:spLocks noGrp="1"/>
              </p:cNvSpPr>
              <p:nvPr>
                <p:ph type="title"/>
              </p:nvPr>
            </p:nvSpPr>
            <p:spPr/>
            <p:txBody>
              <a:bodyPr/>
              <a:lstStyle/>
              <a:p>
                <a:r>
                  <a:rPr lang="en-US" altLang="zh-HK" dirty="0"/>
                  <a:t>Query Phase: Construct an Estimator for </a:t>
                </a:r>
                <a14:m>
                  <m:oMath xmlns:m="http://schemas.openxmlformats.org/officeDocument/2006/math">
                    <m:d>
                      <m:dPr>
                        <m:begChr m:val="⟨"/>
                        <m:end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e>
                    </m:d>
                  </m:oMath>
                </a14:m>
                <a:endParaRPr lang="zh-HK" altLang="en-US" dirty="0"/>
              </a:p>
            </p:txBody>
          </p:sp>
        </mc:Choice>
        <mc:Fallback xmlns="">
          <p:sp>
            <p:nvSpPr>
              <p:cNvPr id="2" name="Title 1">
                <a:extLst>
                  <a:ext uri="{FF2B5EF4-FFF2-40B4-BE49-F238E27FC236}">
                    <a16:creationId xmlns:a16="http://schemas.microsoft.com/office/drawing/2014/main" id="{C2A39EA3-84E1-3C5A-D6D1-E2D1986327DC}"/>
                  </a:ext>
                </a:extLst>
              </p:cNvPr>
              <p:cNvSpPr>
                <a:spLocks noGrp="1" noRot="1" noChangeAspect="1" noMove="1" noResize="1" noEditPoints="1" noAdjustHandles="1" noChangeArrowheads="1" noChangeShapeType="1" noTextEdit="1"/>
              </p:cNvSpPr>
              <p:nvPr>
                <p:ph type="title"/>
              </p:nvPr>
            </p:nvSpPr>
            <p:spPr>
              <a:blipFill>
                <a:blip r:embed="rId4"/>
                <a:stretch>
                  <a:fillRect l="-2171" t="-15254" b="-305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DE88FE2-DD4F-EB19-E68B-3502BDCB31FD}"/>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20</a:t>
            </a:fld>
            <a:endParaRPr lang="en-US"/>
          </a:p>
        </p:txBody>
      </p:sp>
      <p:sp>
        <p:nvSpPr>
          <p:cNvPr id="14" name="文本占位符 44">
            <a:extLst>
              <a:ext uri="{FF2B5EF4-FFF2-40B4-BE49-F238E27FC236}">
                <a16:creationId xmlns:a16="http://schemas.microsoft.com/office/drawing/2014/main" id="{579F89D2-8387-ABB5-3F69-0AA6EE1C0A4C}"/>
              </a:ext>
            </a:extLst>
          </p:cNvPr>
          <p:cNvSpPr txBox="1">
            <a:spLocks/>
          </p:cNvSpPr>
          <p:nvPr/>
        </p:nvSpPr>
        <p:spPr>
          <a:xfrm>
            <a:off x="947584" y="1277535"/>
            <a:ext cx="10296832" cy="730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PQ and its variants simply treat the quantized data vector as the data vector.</a:t>
            </a:r>
            <a:endParaRPr lang="en-SG" altLang="zh-CN" sz="24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To achieve a theoretical guarantee, we analyze the geometric relationship among these vectors.</a:t>
            </a:r>
          </a:p>
        </p:txBody>
      </p:sp>
      <p:pic>
        <p:nvPicPr>
          <p:cNvPr id="18" name="Picture 17">
            <a:extLst>
              <a:ext uri="{FF2B5EF4-FFF2-40B4-BE49-F238E27FC236}">
                <a16:creationId xmlns:a16="http://schemas.microsoft.com/office/drawing/2014/main" id="{B4DBF1E5-14BA-5A24-1211-153496ABA3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2448" y="2535319"/>
            <a:ext cx="5267104" cy="3847988"/>
          </a:xfrm>
          <a:prstGeom prst="rect">
            <a:avLst/>
          </a:prstGeom>
        </p:spPr>
      </p:pic>
    </p:spTree>
    <p:custDataLst>
      <p:tags r:id="rId1"/>
    </p:custDataLst>
    <p:extLst>
      <p:ext uri="{BB962C8B-B14F-4D97-AF65-F5344CB8AC3E}">
        <p14:creationId xmlns:p14="http://schemas.microsoft.com/office/powerpoint/2010/main" val="1040253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8B62-5E53-064A-6E08-01C0D7CB751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2A39EA3-84E1-3C5A-D6D1-E2D1986327DC}"/>
                  </a:ext>
                </a:extLst>
              </p:cNvPr>
              <p:cNvSpPr>
                <a:spLocks noGrp="1"/>
              </p:cNvSpPr>
              <p:nvPr>
                <p:ph type="title"/>
              </p:nvPr>
            </p:nvSpPr>
            <p:spPr/>
            <p:txBody>
              <a:bodyPr/>
              <a:lstStyle/>
              <a:p>
                <a:r>
                  <a:rPr lang="en-US" altLang="zh-HK" dirty="0"/>
                  <a:t>The Distribution of </a:t>
                </a:r>
                <a14:m>
                  <m:oMath xmlns:m="http://schemas.openxmlformats.org/officeDocument/2006/math">
                    <m:d>
                      <m:dPr>
                        <m:begChr m:val="⟨"/>
                        <m:end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e>
                    </m:d>
                  </m:oMath>
                </a14:m>
                <a:r>
                  <a:rPr lang="en-US" altLang="zh-HK" dirty="0"/>
                  <a:t> and </a:t>
                </a:r>
                <a14:m>
                  <m:oMath xmlns:m="http://schemas.openxmlformats.org/officeDocument/2006/math">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a:latin typeface="Cambria Math" panose="02040503050406030204" pitchFamily="18" charset="0"/>
                              </a:rPr>
                            </m:ctrlPr>
                          </m:sSubPr>
                          <m:e>
                            <m:r>
                              <a:rPr lang="en-US" altLang="zh-CN" b="1" i="0">
                                <a:latin typeface="Cambria Math" panose="02040503050406030204" pitchFamily="18" charset="0"/>
                                <a:ea typeface="Microsoft YaHei" panose="020B0503020204020204" pitchFamily="34" charset="-122"/>
                                <a:cs typeface="Calibri" panose="020F0502020204030204" pitchFamily="34" charset="0"/>
                              </a:rPr>
                              <m:t>𝐞</m:t>
                            </m:r>
                          </m:e>
                          <m:sub>
                            <m:r>
                              <a:rPr lang="en-US" altLang="zh-CN" b="0" i="1">
                                <a:latin typeface="Cambria Math" panose="02040503050406030204" pitchFamily="18" charset="0"/>
                                <a:ea typeface="Microsoft YaHei" panose="020B0503020204020204" pitchFamily="34" charset="-122"/>
                                <a:cs typeface="Calibri" panose="020F0502020204030204" pitchFamily="34" charset="0"/>
                              </a:rPr>
                              <m:t>1</m:t>
                            </m:r>
                          </m:sub>
                        </m:sSub>
                      </m:e>
                    </m:d>
                  </m:oMath>
                </a14:m>
                <a:endParaRPr lang="zh-HK" altLang="en-US" dirty="0"/>
              </a:p>
            </p:txBody>
          </p:sp>
        </mc:Choice>
        <mc:Fallback xmlns="">
          <p:sp>
            <p:nvSpPr>
              <p:cNvPr id="2" name="Title 1">
                <a:extLst>
                  <a:ext uri="{FF2B5EF4-FFF2-40B4-BE49-F238E27FC236}">
                    <a16:creationId xmlns:a16="http://schemas.microsoft.com/office/drawing/2014/main" id="{C2A39EA3-84E1-3C5A-D6D1-E2D1986327DC}"/>
                  </a:ext>
                </a:extLst>
              </p:cNvPr>
              <p:cNvSpPr>
                <a:spLocks noGrp="1" noRot="1" noChangeAspect="1" noMove="1" noResize="1" noEditPoints="1" noAdjustHandles="1" noChangeArrowheads="1" noChangeShapeType="1" noTextEdit="1"/>
              </p:cNvSpPr>
              <p:nvPr>
                <p:ph type="title"/>
              </p:nvPr>
            </p:nvSpPr>
            <p:spPr>
              <a:blipFill>
                <a:blip r:embed="rId4"/>
                <a:stretch>
                  <a:fillRect l="-2171" t="-15254" b="-305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DE88FE2-DD4F-EB19-E68B-3502BDCB31FD}"/>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21</a:t>
            </a:fld>
            <a:endParaRPr lang="en-US"/>
          </a:p>
        </p:txBody>
      </p:sp>
      <p:pic>
        <p:nvPicPr>
          <p:cNvPr id="6" name="Picture 5">
            <a:extLst>
              <a:ext uri="{FF2B5EF4-FFF2-40B4-BE49-F238E27FC236}">
                <a16:creationId xmlns:a16="http://schemas.microsoft.com/office/drawing/2014/main" id="{27CF1F69-12F6-145F-D7F3-04DE9A3CC1A4}"/>
              </a:ext>
            </a:extLst>
          </p:cNvPr>
          <p:cNvPicPr>
            <a:picLocks noChangeAspect="1"/>
          </p:cNvPicPr>
          <p:nvPr/>
        </p:nvPicPr>
        <p:blipFill rotWithShape="1">
          <a:blip r:embed="rId5">
            <a:extLst>
              <a:ext uri="{28A0092B-C50C-407E-A947-70E740481C1C}">
                <a14:useLocalDpi xmlns:a14="http://schemas.microsoft.com/office/drawing/2010/main" val="0"/>
              </a:ext>
            </a:extLst>
          </a:blip>
          <a:srcRect t="63582" r="12292"/>
          <a:stretch/>
        </p:blipFill>
        <p:spPr>
          <a:xfrm>
            <a:off x="3786164" y="1337721"/>
            <a:ext cx="4619668" cy="1401363"/>
          </a:xfrm>
          <a:prstGeom prst="rect">
            <a:avLst/>
          </a:prstGeom>
        </p:spPr>
      </p:pic>
      <p:pic>
        <p:nvPicPr>
          <p:cNvPr id="7" name="Picture 6" descr="A white background with black text&#10;&#10;Description automatically generated">
            <a:extLst>
              <a:ext uri="{FF2B5EF4-FFF2-40B4-BE49-F238E27FC236}">
                <a16:creationId xmlns:a16="http://schemas.microsoft.com/office/drawing/2014/main" id="{7659AFF8-30D5-CD07-BD9C-CDC5AE0AF4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8540" y="3079199"/>
            <a:ext cx="9814920" cy="3082575"/>
          </a:xfrm>
          <a:prstGeom prst="rect">
            <a:avLst/>
          </a:prstGeom>
        </p:spPr>
      </p:pic>
    </p:spTree>
    <p:custDataLst>
      <p:tags r:id="rId1"/>
    </p:custDataLst>
    <p:extLst>
      <p:ext uri="{BB962C8B-B14F-4D97-AF65-F5344CB8AC3E}">
        <p14:creationId xmlns:p14="http://schemas.microsoft.com/office/powerpoint/2010/main" val="1665411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7DBD2-2510-88B9-2995-C95D724B1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FBDBB-833A-1155-421A-9365FC53A4A7}"/>
              </a:ext>
            </a:extLst>
          </p:cNvPr>
          <p:cNvSpPr>
            <a:spLocks noGrp="1"/>
          </p:cNvSpPr>
          <p:nvPr>
            <p:ph type="title"/>
          </p:nvPr>
        </p:nvSpPr>
        <p:spPr/>
        <p:txBody>
          <a:bodyPr/>
          <a:lstStyle/>
          <a:p>
            <a:r>
              <a:rPr lang="en-US" altLang="zh-HK" dirty="0"/>
              <a:t>Query Phase: the Error Bound</a:t>
            </a:r>
            <a:endParaRPr lang="zh-HK" altLang="en-US" dirty="0"/>
          </a:p>
        </p:txBody>
      </p:sp>
      <p:sp>
        <p:nvSpPr>
          <p:cNvPr id="4" name="Slide Number Placeholder 3">
            <a:extLst>
              <a:ext uri="{FF2B5EF4-FFF2-40B4-BE49-F238E27FC236}">
                <a16:creationId xmlns:a16="http://schemas.microsoft.com/office/drawing/2014/main" id="{9A23AF68-DD10-45B4-2F4E-3C9795C2AD54}"/>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22</a:t>
            </a:fld>
            <a:endParaRPr lang="en-US"/>
          </a:p>
        </p:txBody>
      </p:sp>
      <mc:AlternateContent xmlns:mc="http://schemas.openxmlformats.org/markup-compatibility/2006" xmlns:a14="http://schemas.microsoft.com/office/drawing/2010/main">
        <mc:Choice Requires="a14">
          <p:sp>
            <p:nvSpPr>
              <p:cNvPr id="3" name="文本占位符 44">
                <a:extLst>
                  <a:ext uri="{FF2B5EF4-FFF2-40B4-BE49-F238E27FC236}">
                    <a16:creationId xmlns:a16="http://schemas.microsoft.com/office/drawing/2014/main" id="{50D94BFA-D899-36AE-46BD-78E92914B5E2}"/>
                  </a:ext>
                </a:extLst>
              </p:cNvPr>
              <p:cNvSpPr txBox="1">
                <a:spLocks/>
              </p:cNvSpPr>
              <p:nvPr/>
            </p:nvSpPr>
            <p:spPr>
              <a:xfrm>
                <a:off x="795640" y="5133130"/>
                <a:ext cx="10600718" cy="1300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000" dirty="0">
                    <a:solidFill>
                      <a:srgbClr val="FF0000"/>
                    </a:solidFill>
                    <a:latin typeface="Calibri" panose="020F0502020204030204" pitchFamily="34" charset="0"/>
                    <a:ea typeface="Microsoft YaHei" panose="020B0503020204020204" pitchFamily="34" charset="-122"/>
                    <a:cs typeface="Calibri" panose="020F0502020204030204" pitchFamily="34" charset="0"/>
                  </a:rPr>
                  <a:t>This bound is asymptotically optimal [6]: When compressing </a:t>
                </a:r>
                <a14:m>
                  <m:oMath xmlns:m="http://schemas.openxmlformats.org/officeDocument/2006/math">
                    <m: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𝐷</m:t>
                    </m:r>
                  </m:oMath>
                </a14:m>
                <a:r>
                  <a:rPr lang="en-US" altLang="zh-CN" sz="2000" dirty="0">
                    <a:solidFill>
                      <a:srgbClr val="FF0000"/>
                    </a:solidFill>
                    <a:latin typeface="Calibri" panose="020F0502020204030204" pitchFamily="34" charset="0"/>
                    <a:ea typeface="Microsoft YaHei" panose="020B0503020204020204" pitchFamily="34" charset="-122"/>
                    <a:cs typeface="Calibri" panose="020F0502020204030204" pitchFamily="34" charset="0"/>
                  </a:rPr>
                  <a:t>-dimensional vectors to </a:t>
                </a:r>
                <a14:m>
                  <m:oMath xmlns:m="http://schemas.openxmlformats.org/officeDocument/2006/math">
                    <m: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𝐷</m:t>
                    </m:r>
                  </m:oMath>
                </a14:m>
                <a:r>
                  <a:rPr lang="en-US" altLang="zh-CN" sz="2000" dirty="0">
                    <a:solidFill>
                      <a:srgbClr val="FF0000"/>
                    </a:solidFill>
                    <a:latin typeface="Calibri" panose="020F0502020204030204" pitchFamily="34" charset="0"/>
                    <a:ea typeface="Microsoft YaHei" panose="020B0503020204020204" pitchFamily="34" charset="-122"/>
                    <a:cs typeface="Calibri" panose="020F0502020204030204" pitchFamily="34" charset="0"/>
                  </a:rPr>
                  <a:t>-bit strings, it is not possible to provide a worst-case error bound which is tighter than </a:t>
                </a:r>
                <a14:m>
                  <m:oMath xmlns:m="http://schemas.openxmlformats.org/officeDocument/2006/math">
                    <m: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𝑂</m:t>
                    </m:r>
                    <m:d>
                      <m:dPr>
                        <m:ctrlP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dPr>
                      <m:e>
                        <m:f>
                          <m:fPr>
                            <m:ctrlP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1</m:t>
                            </m:r>
                          </m:num>
                          <m:den>
                            <m:rad>
                              <m:radPr>
                                <m:degHide m:val="on"/>
                                <m:ctrlP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sz="2000"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𝐷</m:t>
                                </m:r>
                              </m:e>
                            </m:rad>
                          </m:den>
                        </m:f>
                      </m:e>
                    </m:d>
                  </m:oMath>
                </a14:m>
                <a:r>
                  <a:rPr lang="en-US" altLang="zh-CN" sz="2000" dirty="0">
                    <a:solidFill>
                      <a:srgbClr val="FF0000"/>
                    </a:solidFill>
                    <a:latin typeface="Calibri" panose="020F0502020204030204" pitchFamily="34" charset="0"/>
                    <a:ea typeface="Microsoft YaHei" panose="020B0503020204020204" pitchFamily="34" charset="-122"/>
                    <a:cs typeface="Calibri" panose="020F0502020204030204" pitchFamily="34" charset="0"/>
                  </a:rPr>
                  <a:t>. </a:t>
                </a:r>
              </a:p>
            </p:txBody>
          </p:sp>
        </mc:Choice>
        <mc:Fallback xmlns="">
          <p:sp>
            <p:nvSpPr>
              <p:cNvPr id="3" name="文本占位符 44">
                <a:extLst>
                  <a:ext uri="{FF2B5EF4-FFF2-40B4-BE49-F238E27FC236}">
                    <a16:creationId xmlns:a16="http://schemas.microsoft.com/office/drawing/2014/main" id="{50D94BFA-D899-36AE-46BD-78E92914B5E2}"/>
                  </a:ext>
                </a:extLst>
              </p:cNvPr>
              <p:cNvSpPr txBox="1">
                <a:spLocks noRot="1" noChangeAspect="1" noMove="1" noResize="1" noEditPoints="1" noAdjustHandles="1" noChangeArrowheads="1" noChangeShapeType="1" noTextEdit="1"/>
              </p:cNvSpPr>
              <p:nvPr/>
            </p:nvSpPr>
            <p:spPr>
              <a:xfrm>
                <a:off x="795640" y="5133130"/>
                <a:ext cx="10600718" cy="1300193"/>
              </a:xfrm>
              <a:prstGeom prst="rect">
                <a:avLst/>
              </a:prstGeom>
              <a:blipFill>
                <a:blip r:embed="rId4"/>
                <a:stretch>
                  <a:fillRect l="-478" t="-582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A2F6CF6-6836-A9FF-3569-753904891330}"/>
              </a:ext>
            </a:extLst>
          </p:cNvPr>
          <p:cNvSpPr txBox="1"/>
          <p:nvPr/>
        </p:nvSpPr>
        <p:spPr>
          <a:xfrm>
            <a:off x="182379" y="6119575"/>
            <a:ext cx="11827240" cy="415498"/>
          </a:xfrm>
          <a:prstGeom prst="rect">
            <a:avLst/>
          </a:prstGeom>
          <a:noFill/>
        </p:spPr>
        <p:txBody>
          <a:bodyPr wrap="square">
            <a:spAutoFit/>
          </a:bodyPr>
          <a:lstStyle/>
          <a:p>
            <a:r>
              <a:rPr lang="en-SG" sz="1050" dirty="0">
                <a:latin typeface="Arial" panose="020B0604020202020204" pitchFamily="34" charset="0"/>
              </a:rPr>
              <a:t>[6] </a:t>
            </a:r>
            <a:r>
              <a:rPr lang="en-SG" sz="1050" dirty="0" err="1">
                <a:latin typeface="Arial" panose="020B0604020202020204" pitchFamily="34" charset="0"/>
              </a:rPr>
              <a:t>Noga</a:t>
            </a:r>
            <a:r>
              <a:rPr lang="en-SG" sz="1050" dirty="0">
                <a:latin typeface="Arial" panose="020B0604020202020204" pitchFamily="34" charset="0"/>
              </a:rPr>
              <a:t> Alon and </a:t>
            </a:r>
            <a:r>
              <a:rPr lang="en-SG" sz="1050" dirty="0" err="1">
                <a:latin typeface="Arial" panose="020B0604020202020204" pitchFamily="34" charset="0"/>
              </a:rPr>
              <a:t>Bo’az</a:t>
            </a:r>
            <a:r>
              <a:rPr lang="en-SG" sz="1050" dirty="0">
                <a:latin typeface="Arial" panose="020B0604020202020204" pitchFamily="34" charset="0"/>
              </a:rPr>
              <a:t> </a:t>
            </a:r>
            <a:r>
              <a:rPr lang="en-SG" sz="1050" dirty="0" err="1">
                <a:latin typeface="Arial" panose="020B0604020202020204" pitchFamily="34" charset="0"/>
              </a:rPr>
              <a:t>Klartag</a:t>
            </a:r>
            <a:r>
              <a:rPr lang="en-SG" sz="1050" dirty="0">
                <a:latin typeface="Arial" panose="020B0604020202020204" pitchFamily="34" charset="0"/>
              </a:rPr>
              <a:t>. 2017. Optimal Compression of Approximate Inner Products and Dimension Reduction. In 2017 IEEE 58th Annual </a:t>
            </a:r>
            <a:r>
              <a:rPr lang="en-SG" sz="1050" dirty="0" err="1">
                <a:latin typeface="Arial" panose="020B0604020202020204" pitchFamily="34" charset="0"/>
              </a:rPr>
              <a:t>Symp</a:t>
            </a:r>
            <a:r>
              <a:rPr lang="en-SG" sz="1050" dirty="0">
                <a:latin typeface="Arial" panose="020B0604020202020204" pitchFamily="34" charset="0"/>
              </a:rPr>
              <a:t>. on Foundations of Computer Science (FOCS). 639–650.</a:t>
            </a:r>
            <a:endParaRPr lang="en-US" sz="1050" dirty="0">
              <a:solidFill>
                <a:srgbClr val="FF0000"/>
              </a:solidFill>
            </a:endParaRPr>
          </a:p>
        </p:txBody>
      </p:sp>
      <p:sp>
        <p:nvSpPr>
          <p:cNvPr id="9" name="TextBox 8">
            <a:extLst>
              <a:ext uri="{FF2B5EF4-FFF2-40B4-BE49-F238E27FC236}">
                <a16:creationId xmlns:a16="http://schemas.microsoft.com/office/drawing/2014/main" id="{2E9D5A83-12FD-E507-6036-D60A443C9AFC}"/>
              </a:ext>
            </a:extLst>
          </p:cNvPr>
          <p:cNvSpPr txBox="1"/>
          <p:nvPr/>
        </p:nvSpPr>
        <p:spPr>
          <a:xfrm>
            <a:off x="616244" y="1517396"/>
            <a:ext cx="1919115" cy="461665"/>
          </a:xfrm>
          <a:prstGeom prst="rect">
            <a:avLst/>
          </a:prstGeom>
          <a:noFill/>
        </p:spPr>
        <p:txBody>
          <a:bodyPr wrap="none" rtlCol="0">
            <a:spAutoFit/>
          </a:bodyPr>
          <a:lstStyle/>
          <a:p>
            <a:r>
              <a:rPr lang="en-US" sz="2400" b="1" dirty="0"/>
              <a:t>unbiasedness</a:t>
            </a:r>
          </a:p>
        </p:txBody>
      </p:sp>
      <p:sp>
        <p:nvSpPr>
          <p:cNvPr id="11" name="TextBox 10">
            <a:extLst>
              <a:ext uri="{FF2B5EF4-FFF2-40B4-BE49-F238E27FC236}">
                <a16:creationId xmlns:a16="http://schemas.microsoft.com/office/drawing/2014/main" id="{32BFEC40-565F-CAFB-6811-80C04BE1CEE9}"/>
              </a:ext>
            </a:extLst>
          </p:cNvPr>
          <p:cNvSpPr txBox="1"/>
          <p:nvPr/>
        </p:nvSpPr>
        <p:spPr>
          <a:xfrm>
            <a:off x="426064" y="3288553"/>
            <a:ext cx="2109295" cy="461665"/>
          </a:xfrm>
          <a:prstGeom prst="rect">
            <a:avLst/>
          </a:prstGeom>
          <a:noFill/>
        </p:spPr>
        <p:txBody>
          <a:bodyPr wrap="none" rtlCol="0">
            <a:spAutoFit/>
          </a:bodyPr>
          <a:lstStyle/>
          <a:p>
            <a:r>
              <a:rPr lang="en-US" sz="2400" b="1" dirty="0"/>
              <a:t>an error bound</a:t>
            </a:r>
          </a:p>
        </p:txBody>
      </p:sp>
      <p:sp>
        <p:nvSpPr>
          <p:cNvPr id="13" name="Left Brace 12">
            <a:extLst>
              <a:ext uri="{FF2B5EF4-FFF2-40B4-BE49-F238E27FC236}">
                <a16:creationId xmlns:a16="http://schemas.microsoft.com/office/drawing/2014/main" id="{B3158F0C-2266-1251-9C21-6EAE6DD58633}"/>
              </a:ext>
            </a:extLst>
          </p:cNvPr>
          <p:cNvSpPr/>
          <p:nvPr/>
        </p:nvSpPr>
        <p:spPr>
          <a:xfrm>
            <a:off x="2578308" y="1412776"/>
            <a:ext cx="254833" cy="7305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e 13">
            <a:extLst>
              <a:ext uri="{FF2B5EF4-FFF2-40B4-BE49-F238E27FC236}">
                <a16:creationId xmlns:a16="http://schemas.microsoft.com/office/drawing/2014/main" id="{83306AA0-AF26-B72F-F555-30E9D11EE2E0}"/>
              </a:ext>
            </a:extLst>
          </p:cNvPr>
          <p:cNvSpPr/>
          <p:nvPr/>
        </p:nvSpPr>
        <p:spPr>
          <a:xfrm>
            <a:off x="2578308" y="2324055"/>
            <a:ext cx="254833" cy="23906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 name="Picture 6" descr="A math equations with black text&#10;&#10;Description automatically generated with medium confidence">
            <a:extLst>
              <a:ext uri="{FF2B5EF4-FFF2-40B4-BE49-F238E27FC236}">
                <a16:creationId xmlns:a16="http://schemas.microsoft.com/office/drawing/2014/main" id="{AF590FD1-0D6A-55AA-7117-C7B5A02BFC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76090" y="1057346"/>
            <a:ext cx="6445060" cy="3815799"/>
          </a:xfrm>
          <a:prstGeom prst="rect">
            <a:avLst/>
          </a:prstGeom>
        </p:spPr>
      </p:pic>
    </p:spTree>
    <p:custDataLst>
      <p:tags r:id="rId1"/>
    </p:custDataLst>
    <p:extLst>
      <p:ext uri="{BB962C8B-B14F-4D97-AF65-F5344CB8AC3E}">
        <p14:creationId xmlns:p14="http://schemas.microsoft.com/office/powerpoint/2010/main" val="155986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052A-93C2-6516-CE5A-B9D05ED08F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206238B-ED73-3BE0-D73D-6E537674FB66}"/>
                  </a:ext>
                </a:extLst>
              </p:cNvPr>
              <p:cNvSpPr>
                <a:spLocks noGrp="1"/>
              </p:cNvSpPr>
              <p:nvPr>
                <p:ph type="title"/>
              </p:nvPr>
            </p:nvSpPr>
            <p:spPr/>
            <p:txBody>
              <a:bodyPr>
                <a:normAutofit/>
              </a:bodyPr>
              <a:lstStyle/>
              <a:p>
                <a:r>
                  <a:rPr lang="en-US" altLang="zh-HK" dirty="0">
                    <a:solidFill>
                      <a:schemeClr val="accent5">
                        <a:lumMod val="75000"/>
                      </a:schemeClr>
                    </a:solidFill>
                  </a:rPr>
                  <a:t>Query</a:t>
                </a:r>
                <a:r>
                  <a:rPr lang="zh-CN" altLang="en-US" dirty="0">
                    <a:solidFill>
                      <a:schemeClr val="accent5">
                        <a:lumMod val="75000"/>
                      </a:schemeClr>
                    </a:solidFill>
                  </a:rPr>
                  <a:t> </a:t>
                </a:r>
                <a:r>
                  <a:rPr lang="en-US" altLang="zh-CN" dirty="0">
                    <a:solidFill>
                      <a:schemeClr val="accent5">
                        <a:lumMod val="75000"/>
                      </a:schemeClr>
                    </a:solidFill>
                  </a:rPr>
                  <a:t>Phase: </a:t>
                </a:r>
                <a:r>
                  <a:rPr lang="en-US" altLang="zh-HK" dirty="0">
                    <a:solidFill>
                      <a:schemeClr val="accent5">
                        <a:lumMod val="75000"/>
                      </a:schemeClr>
                    </a:solidFill>
                  </a:rPr>
                  <a:t>Computing </a:t>
                </a:r>
                <a14:m>
                  <m:oMath xmlns:m="http://schemas.openxmlformats.org/officeDocument/2006/math">
                    <m:d>
                      <m:dPr>
                        <m:begChr m:val="⟨"/>
                        <m:endChr m:val="⟩"/>
                        <m:ctrlPr>
                          <a:rPr lang="en-US" altLang="zh-CN" i="1"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b="0" i="1"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b="0" i="1"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i="1">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b="0" i="1">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solidFill>
                              <a:schemeClr val="accent5">
                                <a:lumMod val="75000"/>
                              </a:schemeClr>
                            </a:solidFill>
                            <a:latin typeface="Cambria Math" panose="02040503050406030204" pitchFamily="18" charset="0"/>
                            <a:ea typeface="Microsoft YaHei" panose="020B0503020204020204" pitchFamily="34" charset="-122"/>
                            <a:cs typeface="Calibri" panose="020F0502020204030204" pitchFamily="34" charset="0"/>
                          </a:rPr>
                          <m:t>𝐨</m:t>
                        </m:r>
                      </m:e>
                    </m:d>
                  </m:oMath>
                </a14:m>
                <a:endParaRPr lang="zh-HK" altLang="en-US" dirty="0">
                  <a:solidFill>
                    <a:schemeClr val="accent5">
                      <a:lumMod val="75000"/>
                    </a:schemeClr>
                  </a:solidFill>
                </a:endParaRPr>
              </a:p>
            </p:txBody>
          </p:sp>
        </mc:Choice>
        <mc:Fallback xmlns="">
          <p:sp>
            <p:nvSpPr>
              <p:cNvPr id="2" name="Title 1">
                <a:extLst>
                  <a:ext uri="{FF2B5EF4-FFF2-40B4-BE49-F238E27FC236}">
                    <a16:creationId xmlns:a16="http://schemas.microsoft.com/office/drawing/2014/main" id="{1206238B-ED73-3BE0-D73D-6E537674FB66}"/>
                  </a:ext>
                </a:extLst>
              </p:cNvPr>
              <p:cNvSpPr>
                <a:spLocks noGrp="1" noRot="1" noChangeAspect="1" noMove="1" noResize="1" noEditPoints="1" noAdjustHandles="1" noChangeArrowheads="1" noChangeShapeType="1" noTextEdit="1"/>
              </p:cNvSpPr>
              <p:nvPr>
                <p:ph type="title"/>
              </p:nvPr>
            </p:nvSpPr>
            <p:spPr>
              <a:blipFill>
                <a:blip r:embed="rId4"/>
                <a:stretch>
                  <a:fillRect l="-2171" t="-15254" b="-305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0611E75-59D4-6861-022B-B74ABC72E3CF}"/>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23</a:t>
            </a:fld>
            <a:endParaRPr lang="en-US"/>
          </a:p>
        </p:txBody>
      </p:sp>
      <mc:AlternateContent xmlns:mc="http://schemas.openxmlformats.org/markup-compatibility/2006" xmlns:a14="http://schemas.microsoft.com/office/drawing/2010/main">
        <mc:Choice Requires="a14">
          <p:sp>
            <p:nvSpPr>
              <p:cNvPr id="3" name="文本占位符 44">
                <a:extLst>
                  <a:ext uri="{FF2B5EF4-FFF2-40B4-BE49-F238E27FC236}">
                    <a16:creationId xmlns:a16="http://schemas.microsoft.com/office/drawing/2014/main" id="{181FC9D9-143B-EEE5-1F24-3205D27CD5CE}"/>
                  </a:ext>
                </a:extLst>
              </p:cNvPr>
              <p:cNvSpPr txBox="1">
                <a:spLocks/>
              </p:cNvSpPr>
              <p:nvPr/>
            </p:nvSpPr>
            <p:spPr>
              <a:xfrm>
                <a:off x="838199" y="1780470"/>
                <a:ext cx="10515600" cy="9468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14:m>
                  <m:oMath xmlns:m="http://schemas.openxmlformats.org/officeDocument/2006/math">
                    <m:d>
                      <m:dPr>
                        <m:begChr m:val="⟨"/>
                        <m:end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b="0"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e>
                    </m:d>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can be pre-computed in the index phase.</a:t>
                </a:r>
              </a:p>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It is independent of the query vector.</a:t>
                </a:r>
              </a:p>
            </p:txBody>
          </p:sp>
        </mc:Choice>
        <mc:Fallback xmlns="">
          <p:sp>
            <p:nvSpPr>
              <p:cNvPr id="3" name="文本占位符 44">
                <a:extLst>
                  <a:ext uri="{FF2B5EF4-FFF2-40B4-BE49-F238E27FC236}">
                    <a16:creationId xmlns:a16="http://schemas.microsoft.com/office/drawing/2014/main" id="{181FC9D9-143B-EEE5-1F24-3205D27CD5CE}"/>
                  </a:ext>
                </a:extLst>
              </p:cNvPr>
              <p:cNvSpPr txBox="1">
                <a:spLocks noRot="1" noChangeAspect="1" noMove="1" noResize="1" noEditPoints="1" noAdjustHandles="1" noChangeArrowheads="1" noChangeShapeType="1" noTextEdit="1"/>
              </p:cNvSpPr>
              <p:nvPr/>
            </p:nvSpPr>
            <p:spPr>
              <a:xfrm>
                <a:off x="838199" y="1780470"/>
                <a:ext cx="10515600" cy="946834"/>
              </a:xfrm>
              <a:prstGeom prst="rect">
                <a:avLst/>
              </a:prstGeom>
              <a:blipFill>
                <a:blip r:embed="rId5"/>
                <a:stretch>
                  <a:fillRect l="-965" t="-1066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占位符 44">
                <a:extLst>
                  <a:ext uri="{FF2B5EF4-FFF2-40B4-BE49-F238E27FC236}">
                    <a16:creationId xmlns:a16="http://schemas.microsoft.com/office/drawing/2014/main" id="{F37ABA3E-941A-0627-E9C2-ADCE4CD3C6AD}"/>
                  </a:ext>
                </a:extLst>
              </p:cNvPr>
              <p:cNvSpPr txBox="1">
                <a:spLocks/>
              </p:cNvSpPr>
              <p:nvPr/>
            </p:nvSpPr>
            <p:spPr>
              <a:xfrm>
                <a:off x="838199" y="3412143"/>
                <a:ext cx="10515600" cy="9468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14:m>
                  <m:oMath xmlns:m="http://schemas.openxmlformats.org/officeDocument/2006/math">
                    <m:d>
                      <m:dPr>
                        <m:begChr m:val="⟨"/>
                        <m:end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b="0" i="1">
                            <a:latin typeface="Cambria Math" panose="02040503050406030204" pitchFamily="18" charset="0"/>
                            <a:ea typeface="Microsoft YaHei" panose="020B0503020204020204" pitchFamily="34" charset="-122"/>
                            <a:cs typeface="Calibri" panose="020F0502020204030204" pitchFamily="34" charset="0"/>
                          </a:rPr>
                          <m:t>,</m:t>
                        </m:r>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e>
                    </m:d>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should be computed in the query phase.</a:t>
                </a:r>
              </a:p>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For estimating a single distance: </a:t>
                </a:r>
                <a:r>
                  <a:rPr lang="en-US" altLang="zh-CN" b="1" i="1" u="sng" dirty="0">
                    <a:solidFill>
                      <a:srgbClr val="0000FF"/>
                    </a:solidFill>
                    <a:latin typeface="Calibri" panose="020F0502020204030204" pitchFamily="34" charset="0"/>
                    <a:ea typeface="Microsoft YaHei" panose="020B0503020204020204" pitchFamily="34" charset="-122"/>
                    <a:cs typeface="Calibri" panose="020F0502020204030204" pitchFamily="34" charset="0"/>
                  </a:rPr>
                  <a:t>bitwise operations</a:t>
                </a:r>
              </a:p>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For estimating a batch of distances: SIMD-based operations (Fast Scan)</a:t>
                </a:r>
              </a:p>
              <a:p>
                <a:pPr marL="1200150" lvl="2" indent="-285750">
                  <a:buFont typeface="Wingdings" panose="05000000000000000000" pitchFamily="2" charset="2"/>
                  <a:buChar char="Ø"/>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6" name="文本占位符 44">
                <a:extLst>
                  <a:ext uri="{FF2B5EF4-FFF2-40B4-BE49-F238E27FC236}">
                    <a16:creationId xmlns:a16="http://schemas.microsoft.com/office/drawing/2014/main" id="{F37ABA3E-941A-0627-E9C2-ADCE4CD3C6AD}"/>
                  </a:ext>
                </a:extLst>
              </p:cNvPr>
              <p:cNvSpPr txBox="1">
                <a:spLocks noRot="1" noChangeAspect="1" noMove="1" noResize="1" noEditPoints="1" noAdjustHandles="1" noChangeArrowheads="1" noChangeShapeType="1" noTextEdit="1"/>
              </p:cNvSpPr>
              <p:nvPr/>
            </p:nvSpPr>
            <p:spPr>
              <a:xfrm>
                <a:off x="838199" y="3412143"/>
                <a:ext cx="10515600" cy="946834"/>
              </a:xfrm>
              <a:prstGeom prst="rect">
                <a:avLst/>
              </a:prstGeom>
              <a:blipFill>
                <a:blip r:embed="rId6"/>
                <a:stretch>
                  <a:fillRect l="-965" t="-10526" b="-47368"/>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453793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052A-93C2-6516-CE5A-B9D05ED08F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206238B-ED73-3BE0-D73D-6E537674FB66}"/>
                  </a:ext>
                </a:extLst>
              </p:cNvPr>
              <p:cNvSpPr>
                <a:spLocks noGrp="1"/>
              </p:cNvSpPr>
              <p:nvPr>
                <p:ph type="title"/>
              </p:nvPr>
            </p:nvSpPr>
            <p:spPr/>
            <p:txBody>
              <a:bodyPr>
                <a:normAutofit/>
              </a:bodyPr>
              <a:lstStyle/>
              <a:p>
                <a:r>
                  <a:rPr lang="en-US" altLang="zh-HK" dirty="0"/>
                  <a:t>How to compute </a:t>
                </a:r>
                <a14:m>
                  <m:oMath xmlns:m="http://schemas.openxmlformats.org/officeDocument/2006/math">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b="1" i="1" dirty="0"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dirty="0" smtClean="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i="1">
                            <a:latin typeface="Cambria Math" panose="02040503050406030204" pitchFamily="18" charset="0"/>
                            <a:ea typeface="Microsoft YaHei" panose="020B0503020204020204" pitchFamily="34" charset="-122"/>
                            <a:cs typeface="Calibri" panose="020F0502020204030204" pitchFamily="34" charset="0"/>
                          </a:rPr>
                          <m:t>,</m:t>
                        </m:r>
                        <m:r>
                          <a:rPr lang="en-US" altLang="zh-CN">
                            <a:latin typeface="Cambria Math" panose="02040503050406030204" pitchFamily="18" charset="0"/>
                            <a:ea typeface="Microsoft YaHei" panose="020B0503020204020204" pitchFamily="34" charset="-122"/>
                            <a:cs typeface="Calibri" panose="020F0502020204030204" pitchFamily="34" charset="0"/>
                          </a:rPr>
                          <m:t>𝐪</m:t>
                        </m:r>
                      </m:e>
                    </m:d>
                  </m:oMath>
                </a14:m>
                <a:r>
                  <a:rPr lang="en-US" altLang="zh-HK" dirty="0">
                    <a:solidFill>
                      <a:schemeClr val="accent5">
                        <a:lumMod val="75000"/>
                      </a:schemeClr>
                    </a:solidFill>
                  </a:rPr>
                  <a:t>?</a:t>
                </a:r>
                <a:endParaRPr lang="zh-HK" altLang="en-US" dirty="0">
                  <a:solidFill>
                    <a:schemeClr val="accent5">
                      <a:lumMod val="75000"/>
                    </a:schemeClr>
                  </a:solidFill>
                </a:endParaRPr>
              </a:p>
            </p:txBody>
          </p:sp>
        </mc:Choice>
        <mc:Fallback xmlns="">
          <p:sp>
            <p:nvSpPr>
              <p:cNvPr id="2" name="Title 1">
                <a:extLst>
                  <a:ext uri="{FF2B5EF4-FFF2-40B4-BE49-F238E27FC236}">
                    <a16:creationId xmlns:a16="http://schemas.microsoft.com/office/drawing/2014/main" id="{1206238B-ED73-3BE0-D73D-6E537674FB66}"/>
                  </a:ext>
                </a:extLst>
              </p:cNvPr>
              <p:cNvSpPr>
                <a:spLocks noGrp="1" noRot="1" noChangeAspect="1" noMove="1" noResize="1" noEditPoints="1" noAdjustHandles="1" noChangeArrowheads="1" noChangeShapeType="1" noTextEdit="1"/>
              </p:cNvSpPr>
              <p:nvPr>
                <p:ph type="title"/>
              </p:nvPr>
            </p:nvSpPr>
            <p:spPr>
              <a:blipFill>
                <a:blip r:embed="rId4"/>
                <a:stretch>
                  <a:fillRect l="-2171" t="-15254" b="-30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0CFCF6D6-200C-6938-BF78-D595FCBD35D1}"/>
                  </a:ext>
                </a:extLst>
              </p:cNvPr>
              <p:cNvSpPr txBox="1">
                <a:spLocks/>
              </p:cNvSpPr>
              <p:nvPr/>
            </p:nvSpPr>
            <p:spPr>
              <a:xfrm>
                <a:off x="444734" y="1452907"/>
                <a:ext cx="10515600" cy="9468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Let </a:t>
                </a:r>
                <a14:m>
                  <m:oMath xmlns:m="http://schemas.openxmlformats.org/officeDocument/2006/math">
                    <m:acc>
                      <m:accPr>
                        <m:chr m:val="̅"/>
                        <m:ctrlPr>
                          <a:rPr lang="en-US" altLang="zh-CN" b="1"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𝐱</m:t>
                        </m:r>
                      </m:e>
                    </m:acc>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Sup>
                      <m:sSup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𝑃</m:t>
                        </m:r>
                      </m:e>
                      <m:sup>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−1</m:t>
                        </m:r>
                      </m:sup>
                    </m:sSup>
                    <m:acc>
                      <m:accPr>
                        <m: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e>
                    </m:acc>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Note that </a:t>
                </a:r>
                <a14:m>
                  <m:oMath xmlns:m="http://schemas.openxmlformats.org/officeDocument/2006/math">
                    <m:acc>
                      <m:accPr>
                        <m:chr m:val="̅"/>
                        <m:ctrlPr>
                          <a:rPr lang="en-US" altLang="zh-CN"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a:latin typeface="Cambria Math" panose="02040503050406030204" pitchFamily="18" charset="0"/>
                            <a:ea typeface="Microsoft YaHei" panose="020B0503020204020204" pitchFamily="34" charset="-122"/>
                            <a:cs typeface="Calibri" panose="020F0502020204030204" pitchFamily="34" charset="0"/>
                          </a:rPr>
                          <m:t>𝐱</m:t>
                        </m:r>
                      </m:e>
                    </m:acc>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is a bi-valued vector whose coordinates are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1</m:t>
                        </m:r>
                      </m:num>
                      <m:den>
                        <m:rad>
                          <m:radPr>
                            <m:degHide m:val="on"/>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𝐷</m:t>
                            </m:r>
                          </m:e>
                        </m:rad>
                      </m:den>
                    </m:f>
                  </m:oMath>
                </a14:m>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b="0" dirty="0">
                    <a:ea typeface="Microsoft YaHei" panose="020B0503020204020204" pitchFamily="34" charset="-122"/>
                    <a:cs typeface="Calibri" panose="020F0502020204030204" pitchFamily="34" charset="0"/>
                  </a:rPr>
                  <a:t>We express </a:t>
                </a:r>
                <a14:m>
                  <m:oMath xmlns:m="http://schemas.openxmlformats.org/officeDocument/2006/math">
                    <m:acc>
                      <m:accPr>
                        <m:chr m:val="̅"/>
                        <m:ctrlPr>
                          <a:rPr lang="en-US" altLang="zh-CN"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a:latin typeface="Cambria Math" panose="02040503050406030204" pitchFamily="18" charset="0"/>
                            <a:ea typeface="Microsoft YaHei" panose="020B0503020204020204" pitchFamily="34" charset="-122"/>
                            <a:cs typeface="Calibri" panose="020F0502020204030204" pitchFamily="34" charset="0"/>
                          </a:rPr>
                          <m:t>𝐱</m:t>
                        </m:r>
                      </m:e>
                    </m:acc>
                  </m:oMath>
                </a14:m>
                <a:r>
                  <a:rPr lang="en-US" altLang="zh-CN" b="0" dirty="0">
                    <a:ea typeface="Microsoft YaHei" panose="020B0503020204020204" pitchFamily="34" charset="-122"/>
                    <a:cs typeface="Calibri" panose="020F0502020204030204" pitchFamily="34" charset="0"/>
                  </a:rPr>
                  <a:t> with its binary representation: </a:t>
                </a:r>
                <a14:m>
                  <m:oMath xmlns:m="http://schemas.openxmlformats.org/officeDocument/2006/math">
                    <m:acc>
                      <m:accPr>
                        <m: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𝐱</m:t>
                        </m:r>
                      </m:e>
                    </m:acc>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2</m:t>
                        </m:r>
                      </m:num>
                      <m:den>
                        <m:rad>
                          <m:radPr>
                            <m:degHide m:val="on"/>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𝐷</m:t>
                            </m:r>
                          </m:e>
                        </m:rad>
                      </m:den>
                    </m:f>
                    <m:d>
                      <m:d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b="1"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fPr>
                          <m:num>
                            <m:sSub>
                              <m:sSubPr>
                                <m:ctrlPr>
                                  <a:rPr lang="en-US" altLang="zh-CN" b="1" i="1"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1" i="1" smtClean="0">
                                    <a:latin typeface="Cambria Math" panose="02040503050406030204" pitchFamily="18" charset="0"/>
                                    <a:ea typeface="Microsoft YaHei" panose="020B0503020204020204" pitchFamily="34" charset="-122"/>
                                    <a:cs typeface="Calibri" panose="020F0502020204030204" pitchFamily="34" charset="0"/>
                                  </a:rPr>
                                  <m:t>𝟏</m:t>
                                </m:r>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𝐷</m:t>
                                </m:r>
                              </m:sub>
                            </m:sSub>
                          </m:num>
                          <m:den>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2</m:t>
                            </m:r>
                          </m:den>
                        </m:f>
                      </m:e>
                    </m:d>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 </m:t>
                    </m:r>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Sup>
                      <m:sSup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pPr>
                      <m:e>
                        <m:d>
                          <m:dPr>
                            <m:begChr m:val="{"/>
                            <m:end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0, 1</m:t>
                            </m:r>
                          </m:e>
                        </m:d>
                      </m:e>
                      <m:sup>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𝐷</m:t>
                        </m:r>
                      </m:sup>
                    </m:sSup>
                  </m:oMath>
                </a14:m>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Let </a:t>
                </a:r>
                <a14:m>
                  <m:oMath xmlns:m="http://schemas.openxmlformats.org/officeDocument/2006/math">
                    <m:sSup>
                      <m:sSup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e>
                      <m:sup>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up>
                    </m:sSup>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Sup>
                      <m:sSup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𝑃</m:t>
                        </m:r>
                      </m:e>
                      <m:sup>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−1</m:t>
                        </m:r>
                      </m:sup>
                    </m:sSup>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oMath>
                </a14:m>
                <a:r>
                  <a:rPr lang="en-US" altLang="zh-CN" dirty="0">
                    <a:latin typeface="Calibri" panose="020F0502020204030204" pitchFamily="34" charset="0"/>
                    <a:ea typeface="Microsoft YaHei" panose="020B0503020204020204" pitchFamily="34" charset="-122"/>
                    <a:cs typeface="Calibri" panose="020F0502020204030204" pitchFamily="34" charset="0"/>
                  </a:rPr>
                  <a:t>. </a:t>
                </a:r>
              </a:p>
            </p:txBody>
          </p:sp>
        </mc:Choice>
        <mc:Fallback xmlns="">
          <p:sp>
            <p:nvSpPr>
              <p:cNvPr id="5" name="文本占位符 44">
                <a:extLst>
                  <a:ext uri="{FF2B5EF4-FFF2-40B4-BE49-F238E27FC236}">
                    <a16:creationId xmlns:a16="http://schemas.microsoft.com/office/drawing/2014/main" id="{0CFCF6D6-200C-6938-BF78-D595FCBD35D1}"/>
                  </a:ext>
                </a:extLst>
              </p:cNvPr>
              <p:cNvSpPr txBox="1">
                <a:spLocks noRot="1" noChangeAspect="1" noMove="1" noResize="1" noEditPoints="1" noAdjustHandles="1" noChangeArrowheads="1" noChangeShapeType="1" noTextEdit="1"/>
              </p:cNvSpPr>
              <p:nvPr/>
            </p:nvSpPr>
            <p:spPr>
              <a:xfrm>
                <a:off x="444734" y="1452907"/>
                <a:ext cx="10515600" cy="946834"/>
              </a:xfrm>
              <a:prstGeom prst="rect">
                <a:avLst/>
              </a:prstGeom>
              <a:blipFill>
                <a:blip r:embed="rId5"/>
                <a:stretch>
                  <a:fillRect t="-1316" r="-241" b="-75000"/>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AE9D07DF-8A1A-6E23-7C29-724E0F29653E}"/>
              </a:ext>
            </a:extLst>
          </p:cNvPr>
          <p:cNvGrpSpPr/>
          <p:nvPr/>
        </p:nvGrpSpPr>
        <p:grpSpPr>
          <a:xfrm>
            <a:off x="2126839" y="3363904"/>
            <a:ext cx="7938319" cy="2399503"/>
            <a:chOff x="2126840" y="3641830"/>
            <a:chExt cx="7938319" cy="2399503"/>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573F594-1A60-DB19-CC02-95A72146CD52}"/>
                    </a:ext>
                  </a:extLst>
                </p:cNvPr>
                <p:cNvSpPr txBox="1"/>
                <p:nvPr/>
              </p:nvSpPr>
              <p:spPr>
                <a:xfrm>
                  <a:off x="2126840" y="3641830"/>
                  <a:ext cx="7938319" cy="239950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sz="2800"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𝐨</m:t>
                                </m:r>
                              </m:e>
                            </m:acc>
                            <m:r>
                              <a:rPr lang="en-US" altLang="zh-CN" sz="2800" b="0" i="1">
                                <a:latin typeface="Cambria Math" panose="02040503050406030204" pitchFamily="18" charset="0"/>
                                <a:ea typeface="Microsoft YaHei" panose="020B0503020204020204" pitchFamily="34" charset="-122"/>
                                <a:cs typeface="Calibri" panose="020F0502020204030204" pitchFamily="34" charset="0"/>
                              </a:rPr>
                              <m:t>,</m:t>
                            </m:r>
                            <m:r>
                              <a:rPr lang="en-US" altLang="zh-CN" sz="2800" b="1" i="0" smtClean="0">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dPr>
                          <m:e>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𝑃</m:t>
                            </m:r>
                            <m:acc>
                              <m:accPr>
                                <m:chr m:val="̅"/>
                                <m:ctrlPr>
                                  <a:rPr lang="en-US" altLang="zh-CN" sz="2800"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800" b="1" i="0" smtClean="0">
                                    <a:latin typeface="Cambria Math" panose="02040503050406030204" pitchFamily="18" charset="0"/>
                                    <a:ea typeface="Microsoft YaHei" panose="020B0503020204020204" pitchFamily="34" charset="-122"/>
                                    <a:cs typeface="Calibri" panose="020F0502020204030204" pitchFamily="34" charset="0"/>
                                  </a:rPr>
                                  <m:t>𝐱</m:t>
                                </m:r>
                              </m:e>
                            </m:acc>
                            <m:r>
                              <a:rPr lang="en-US" altLang="zh-CN" sz="2800" i="1">
                                <a:latin typeface="Cambria Math" panose="02040503050406030204" pitchFamily="18" charset="0"/>
                                <a:ea typeface="Microsoft YaHei" panose="020B0503020204020204" pitchFamily="34" charset="-122"/>
                                <a:cs typeface="Calibri" panose="020F0502020204030204" pitchFamily="34" charset="0"/>
                              </a:rPr>
                              <m:t>,</m:t>
                            </m:r>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dPr>
                          <m:e>
                            <m:acc>
                              <m:accPr>
                                <m:chr m:val="̅"/>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𝐱</m:t>
                                </m:r>
                              </m:e>
                            </m:acc>
                            <m:r>
                              <a:rPr lang="en-US" altLang="zh-CN" sz="2800" i="1">
                                <a:latin typeface="Cambria Math" panose="02040503050406030204" pitchFamily="18" charset="0"/>
                                <a:ea typeface="Microsoft YaHei" panose="020B0503020204020204" pitchFamily="34" charset="-122"/>
                                <a:cs typeface="Calibri" panose="020F0502020204030204" pitchFamily="34" charset="0"/>
                              </a:rPr>
                              <m:t>,</m:t>
                            </m:r>
                            <m:sSup>
                              <m:sSupPr>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𝑃</m:t>
                                </m:r>
                              </m:e>
                              <m:sup>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−1</m:t>
                                </m:r>
                              </m:sup>
                            </m:sSup>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𝐪</m:t>
                            </m:r>
                          </m:e>
                        </m:d>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dPr>
                          <m:e>
                            <m:f>
                              <m:fPr>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sz="2800" i="1">
                                    <a:latin typeface="Cambria Math" panose="02040503050406030204" pitchFamily="18" charset="0"/>
                                    <a:ea typeface="Microsoft YaHei" panose="020B0503020204020204" pitchFamily="34" charset="-122"/>
                                    <a:cs typeface="Calibri" panose="020F0502020204030204" pitchFamily="34" charset="0"/>
                                  </a:rPr>
                                  <m:t>2</m:t>
                                </m:r>
                              </m:num>
                              <m:den>
                                <m:rad>
                                  <m:radPr>
                                    <m:degHide m:val="on"/>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sz="2800" i="1">
                                        <a:latin typeface="Cambria Math" panose="02040503050406030204" pitchFamily="18" charset="0"/>
                                        <a:ea typeface="Microsoft YaHei" panose="020B0503020204020204" pitchFamily="34" charset="-122"/>
                                        <a:cs typeface="Calibri" panose="020F0502020204030204" pitchFamily="34" charset="0"/>
                                      </a:rPr>
                                      <m:t>𝐷</m:t>
                                    </m:r>
                                  </m:e>
                                </m:rad>
                              </m:den>
                            </m:f>
                            <m:d>
                              <m:dPr>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sz="2800"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sz="2800"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sz="2800" i="1">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fPr>
                                  <m:num>
                                    <m:sSub>
                                      <m:sSubPr>
                                        <m:ctrlPr>
                                          <a:rPr lang="en-US" altLang="zh-CN" sz="2800" b="1" i="1">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sz="2800" b="1" i="1">
                                            <a:latin typeface="Cambria Math" panose="02040503050406030204" pitchFamily="18" charset="0"/>
                                            <a:ea typeface="Microsoft YaHei" panose="020B0503020204020204" pitchFamily="34" charset="-122"/>
                                            <a:cs typeface="Calibri" panose="020F0502020204030204" pitchFamily="34" charset="0"/>
                                          </a:rPr>
                                          <m:t>𝟏</m:t>
                                        </m:r>
                                      </m:e>
                                      <m:sub>
                                        <m:r>
                                          <a:rPr lang="en-US" altLang="zh-CN" sz="2800" i="1">
                                            <a:latin typeface="Cambria Math" panose="02040503050406030204" pitchFamily="18" charset="0"/>
                                            <a:ea typeface="Microsoft YaHei" panose="020B0503020204020204" pitchFamily="34" charset="-122"/>
                                            <a:cs typeface="Calibri" panose="020F0502020204030204" pitchFamily="34" charset="0"/>
                                          </a:rPr>
                                          <m:t>𝐷</m:t>
                                        </m:r>
                                      </m:sub>
                                    </m:sSub>
                                  </m:num>
                                  <m:den>
                                    <m:r>
                                      <a:rPr lang="en-US" altLang="zh-CN" sz="2800" i="1">
                                        <a:latin typeface="Cambria Math" panose="02040503050406030204" pitchFamily="18" charset="0"/>
                                        <a:ea typeface="Microsoft YaHei" panose="020B0503020204020204" pitchFamily="34" charset="-122"/>
                                        <a:cs typeface="Calibri" panose="020F0502020204030204" pitchFamily="34" charset="0"/>
                                      </a:rPr>
                                      <m:t>2</m:t>
                                    </m:r>
                                  </m:den>
                                </m:f>
                              </m:e>
                            </m:d>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800" b="1" i="0" smtClean="0">
                                <a:latin typeface="Cambria Math" panose="02040503050406030204" pitchFamily="18" charset="0"/>
                                <a:ea typeface="Microsoft YaHei" panose="020B0503020204020204" pitchFamily="34" charset="-122"/>
                                <a:cs typeface="Calibri" panose="020F0502020204030204" pitchFamily="34" charset="0"/>
                              </a:rPr>
                              <m:t>𝐪</m:t>
                            </m:r>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 </m:t>
                            </m:r>
                          </m:e>
                        </m:d>
                      </m:oMath>
                    </m:oMathPara>
                  </a14:m>
                  <a:endParaRPr lang="en-US" altLang="zh-CN" sz="2800" b="0" i="1" dirty="0">
                    <a:latin typeface="Cambria Math" panose="02040503050406030204" pitchFamily="18" charset="0"/>
                    <a:ea typeface="Microsoft YaHei" panose="020B0503020204020204" pitchFamily="34" charset="-122"/>
                    <a:cs typeface="Calibri" panose="020F0502020204030204" pitchFamily="34" charset="0"/>
                  </a:endParaRPr>
                </a:p>
                <a:p>
                  <a:pPr algn="ct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2</m:t>
                            </m:r>
                          </m:num>
                          <m:den>
                            <m:rad>
                              <m:radPr>
                                <m:degHide m:val="on"/>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𝐷</m:t>
                                </m:r>
                              </m:e>
                            </m:rad>
                          </m:den>
                        </m:f>
                        <m:d>
                          <m:dPr>
                            <m:begChr m:val="⟨"/>
                            <m:endChr m:val="⟩"/>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sz="2800"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sz="2800"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sz="2800" i="1">
                                <a:latin typeface="Cambria Math" panose="02040503050406030204" pitchFamily="18" charset="0"/>
                                <a:ea typeface="Microsoft YaHei" panose="020B0503020204020204" pitchFamily="34" charset="-122"/>
                                <a:cs typeface="Calibri" panose="020F0502020204030204" pitchFamily="34" charset="0"/>
                              </a:rPr>
                              <m:t>,</m:t>
                            </m:r>
                            <m:r>
                              <a:rPr lang="en-US" altLang="zh-CN" sz="2800" b="1" i="0" smtClean="0">
                                <a:latin typeface="Cambria Math" panose="02040503050406030204" pitchFamily="18" charset="0"/>
                                <a:ea typeface="Microsoft YaHei" panose="020B0503020204020204" pitchFamily="34" charset="-122"/>
                                <a:cs typeface="Calibri" panose="020F0502020204030204" pitchFamily="34" charset="0"/>
                              </a:rPr>
                              <m:t>𝐪</m:t>
                            </m:r>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e>
                        </m:d>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f>
                          <m:fPr>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fPr>
                          <m:num>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1</m:t>
                            </m:r>
                          </m:num>
                          <m:den>
                            <m:rad>
                              <m:radPr>
                                <m:degHide m:val="on"/>
                                <m:ctrlPr>
                                  <a:rPr lang="en-US" altLang="zh-CN" sz="2800" i="1" smtClean="0">
                                    <a:latin typeface="Cambria Math" panose="02040503050406030204" pitchFamily="18" charset="0"/>
                                    <a:ea typeface="Microsoft YaHei" panose="020B0503020204020204" pitchFamily="34" charset="-122"/>
                                    <a:cs typeface="Calibri" panose="020F0502020204030204" pitchFamily="34" charset="0"/>
                                  </a:rPr>
                                </m:ctrlPr>
                              </m:radPr>
                              <m:deg/>
                              <m:e>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𝐷</m:t>
                                </m:r>
                              </m:e>
                            </m:rad>
                          </m:den>
                        </m:f>
                        <m:nary>
                          <m:naryPr>
                            <m:chr m:val="∑"/>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naryPr>
                          <m:sub>
                            <m:r>
                              <m:rPr>
                                <m:brk m:alnAt="23"/>
                              </m:r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𝑖</m:t>
                            </m:r>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=1</m:t>
                            </m:r>
                          </m:sub>
                          <m:sup>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𝐷</m:t>
                            </m:r>
                          </m:sup>
                          <m:e>
                            <m:sSup>
                              <m:sSupPr>
                                <m:ctrlP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sz="2800" b="1" i="0" smtClean="0">
                                    <a:latin typeface="Cambria Math" panose="02040503050406030204" pitchFamily="18" charset="0"/>
                                    <a:ea typeface="Microsoft YaHei" panose="020B0503020204020204" pitchFamily="34" charset="-122"/>
                                    <a:cs typeface="Calibri" panose="020F0502020204030204" pitchFamily="34" charset="0"/>
                                  </a:rPr>
                                  <m:t>𝐪</m:t>
                                </m:r>
                              </m:e>
                              <m:sup>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sup>
                            </m:sSup>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𝑖</m:t>
                            </m:r>
                            <m:r>
                              <a:rPr lang="en-US" altLang="zh-CN" sz="2800" b="0" i="1" smtClean="0">
                                <a:latin typeface="Cambria Math" panose="02040503050406030204" pitchFamily="18" charset="0"/>
                                <a:ea typeface="Microsoft YaHei" panose="020B0503020204020204" pitchFamily="34" charset="-122"/>
                                <a:cs typeface="Calibri" panose="020F0502020204030204" pitchFamily="34" charset="0"/>
                              </a:rPr>
                              <m:t>]</m:t>
                            </m:r>
                          </m:e>
                        </m:nary>
                      </m:oMath>
                    </m:oMathPara>
                  </a14:m>
                  <a:endParaRPr lang="en-US" sz="2800" dirty="0"/>
                </a:p>
              </p:txBody>
            </p:sp>
          </mc:Choice>
          <mc:Fallback xmlns="">
            <p:sp>
              <p:nvSpPr>
                <p:cNvPr id="8" name="TextBox 7">
                  <a:extLst>
                    <a:ext uri="{FF2B5EF4-FFF2-40B4-BE49-F238E27FC236}">
                      <a16:creationId xmlns:a16="http://schemas.microsoft.com/office/drawing/2014/main" id="{A573F594-1A60-DB19-CC02-95A72146CD52}"/>
                    </a:ext>
                  </a:extLst>
                </p:cNvPr>
                <p:cNvSpPr txBox="1">
                  <a:spLocks noRot="1" noChangeAspect="1" noMove="1" noResize="1" noEditPoints="1" noAdjustHandles="1" noChangeArrowheads="1" noChangeShapeType="1" noTextEdit="1"/>
                </p:cNvSpPr>
                <p:nvPr/>
              </p:nvSpPr>
              <p:spPr>
                <a:xfrm>
                  <a:off x="2126840" y="3641830"/>
                  <a:ext cx="7938319" cy="2399503"/>
                </a:xfrm>
                <a:prstGeom prst="rect">
                  <a:avLst/>
                </a:prstGeom>
                <a:blipFill>
                  <a:blip r:embed="rId6"/>
                  <a:stretch>
                    <a:fillRect t="-10000" b="-85789"/>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2C7E348-3AF0-0403-B23E-974534F1386D}"/>
                </a:ext>
              </a:extLst>
            </p:cNvPr>
            <p:cNvSpPr/>
            <p:nvPr/>
          </p:nvSpPr>
          <p:spPr>
            <a:xfrm>
              <a:off x="4287040" y="4929126"/>
              <a:ext cx="1651819" cy="9884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D4D226-D969-A1DC-F74F-AFA060D448BA}"/>
                  </a:ext>
                </a:extLst>
              </p:cNvPr>
              <p:cNvSpPr txBox="1"/>
              <p:nvPr/>
            </p:nvSpPr>
            <p:spPr>
              <a:xfrm>
                <a:off x="4347033" y="5639608"/>
                <a:ext cx="1531830" cy="369332"/>
              </a:xfrm>
              <a:prstGeom prst="rect">
                <a:avLst/>
              </a:prstGeom>
              <a:noFill/>
            </p:spPr>
            <p:txBody>
              <a:bodyPr wrap="none" rtlCol="0">
                <a:spAutoFit/>
              </a:bodyPr>
              <a:lstStyle/>
              <a:p>
                <a:r>
                  <a:rPr lang="en-US" dirty="0">
                    <a:solidFill>
                      <a:srgbClr val="FF0000"/>
                    </a:solidFill>
                  </a:rPr>
                  <a:t>binary </a:t>
                </a:r>
                <a14:m>
                  <m:oMath xmlns:m="http://schemas.openxmlformats.org/officeDocument/2006/math">
                    <m:r>
                      <a:rPr lang="en-US" b="0" i="1" smtClean="0">
                        <a:solidFill>
                          <a:srgbClr val="FF0000"/>
                        </a:solidFill>
                        <a:latin typeface="Cambria Math" panose="02040503050406030204" pitchFamily="18" charset="0"/>
                      </a:rPr>
                      <m:t>×</m:t>
                    </m:r>
                  </m:oMath>
                </a14:m>
                <a:r>
                  <a:rPr lang="en-US" dirty="0">
                    <a:solidFill>
                      <a:srgbClr val="FF0000"/>
                    </a:solidFill>
                  </a:rPr>
                  <a:t> float </a:t>
                </a:r>
              </a:p>
            </p:txBody>
          </p:sp>
        </mc:Choice>
        <mc:Fallback xmlns="">
          <p:sp>
            <p:nvSpPr>
              <p:cNvPr id="10" name="TextBox 9">
                <a:extLst>
                  <a:ext uri="{FF2B5EF4-FFF2-40B4-BE49-F238E27FC236}">
                    <a16:creationId xmlns:a16="http://schemas.microsoft.com/office/drawing/2014/main" id="{89D4D226-D969-A1DC-F74F-AFA060D448BA}"/>
                  </a:ext>
                </a:extLst>
              </p:cNvPr>
              <p:cNvSpPr txBox="1">
                <a:spLocks noRot="1" noChangeAspect="1" noMove="1" noResize="1" noEditPoints="1" noAdjustHandles="1" noChangeArrowheads="1" noChangeShapeType="1" noTextEdit="1"/>
              </p:cNvSpPr>
              <p:nvPr/>
            </p:nvSpPr>
            <p:spPr>
              <a:xfrm>
                <a:off x="4347033" y="5639608"/>
                <a:ext cx="1531830" cy="369332"/>
              </a:xfrm>
              <a:prstGeom prst="rect">
                <a:avLst/>
              </a:prstGeom>
              <a:blipFill>
                <a:blip r:embed="rId7"/>
                <a:stretch>
                  <a:fillRect l="-3306" t="-6667" r="-2479" b="-2333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104766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34C0-B941-7B13-CEBF-A83A41F628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55B8E17-D7B6-F6AA-BDC3-3CFDA0475DB5}"/>
                  </a:ext>
                </a:extLst>
              </p:cNvPr>
              <p:cNvSpPr>
                <a:spLocks noGrp="1"/>
              </p:cNvSpPr>
              <p:nvPr>
                <p:ph type="title"/>
              </p:nvPr>
            </p:nvSpPr>
            <p:spPr/>
            <p:txBody>
              <a:bodyPr/>
              <a:lstStyle/>
              <a:p>
                <a:r>
                  <a:rPr lang="en-US" altLang="zh-HK" dirty="0"/>
                  <a:t>How to compute </a:t>
                </a:r>
                <a14:m>
                  <m:oMath xmlns:m="http://schemas.openxmlformats.org/officeDocument/2006/math">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b="0"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b="0"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i="1">
                            <a:latin typeface="Cambria Math" panose="02040503050406030204" pitchFamily="18" charset="0"/>
                            <a:ea typeface="Microsoft YaHei" panose="020B0503020204020204" pitchFamily="34" charset="-122"/>
                            <a:cs typeface="Calibri" panose="020F0502020204030204" pitchFamily="34" charset="0"/>
                          </a:rPr>
                          <m:t>,</m:t>
                        </m:r>
                        <m:r>
                          <a:rPr lang="en-US" altLang="zh-CN" b="1" i="0">
                            <a:latin typeface="Cambria Math" panose="02040503050406030204" pitchFamily="18" charset="0"/>
                            <a:ea typeface="Microsoft YaHei" panose="020B0503020204020204" pitchFamily="34" charset="-122"/>
                            <a:cs typeface="Calibri" panose="020F0502020204030204" pitchFamily="34" charset="0"/>
                          </a:rPr>
                          <m:t>𝐪</m:t>
                        </m:r>
                        <m:r>
                          <a:rPr lang="en-US" altLang="zh-CN" b="0" i="1">
                            <a:latin typeface="Cambria Math" panose="02040503050406030204" pitchFamily="18" charset="0"/>
                            <a:ea typeface="Microsoft YaHei" panose="020B0503020204020204" pitchFamily="34" charset="-122"/>
                            <a:cs typeface="Calibri" panose="020F0502020204030204" pitchFamily="34" charset="0"/>
                          </a:rPr>
                          <m:t>′</m:t>
                        </m:r>
                      </m:e>
                    </m:d>
                  </m:oMath>
                </a14:m>
                <a:r>
                  <a:rPr lang="en-US" altLang="zh-HK" dirty="0"/>
                  <a:t>?</a:t>
                </a:r>
                <a:endParaRPr lang="zh-HK" altLang="en-US" dirty="0"/>
              </a:p>
            </p:txBody>
          </p:sp>
        </mc:Choice>
        <mc:Fallback xmlns="">
          <p:sp>
            <p:nvSpPr>
              <p:cNvPr id="2" name="Title 1">
                <a:extLst>
                  <a:ext uri="{FF2B5EF4-FFF2-40B4-BE49-F238E27FC236}">
                    <a16:creationId xmlns:a16="http://schemas.microsoft.com/office/drawing/2014/main" id="{455B8E17-D7B6-F6AA-BDC3-3CFDA0475DB5}"/>
                  </a:ext>
                </a:extLst>
              </p:cNvPr>
              <p:cNvSpPr>
                <a:spLocks noGrp="1" noRot="1" noChangeAspect="1" noMove="1" noResize="1" noEditPoints="1" noAdjustHandles="1" noChangeArrowheads="1" noChangeShapeType="1" noTextEdit="1"/>
              </p:cNvSpPr>
              <p:nvPr>
                <p:ph type="title"/>
              </p:nvPr>
            </p:nvSpPr>
            <p:spPr>
              <a:blipFill>
                <a:blip r:embed="rId4"/>
                <a:stretch>
                  <a:fillRect l="-2171" t="-15254" b="-305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BB6E5EE-832E-5348-62CC-A5C1393BDCC1}"/>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25</a:t>
            </a:fld>
            <a:endParaRPr lang="en-US"/>
          </a:p>
        </p:txBody>
      </p:sp>
      <mc:AlternateContent xmlns:mc="http://schemas.openxmlformats.org/markup-compatibility/2006" xmlns:a14="http://schemas.microsoft.com/office/drawing/2010/main">
        <mc:Choice Requires="a14">
          <p:sp>
            <p:nvSpPr>
              <p:cNvPr id="3" name="文本占位符 44">
                <a:extLst>
                  <a:ext uri="{FF2B5EF4-FFF2-40B4-BE49-F238E27FC236}">
                    <a16:creationId xmlns:a16="http://schemas.microsoft.com/office/drawing/2014/main" id="{F6943948-0D8C-C851-D6A1-6A9703E5DDAE}"/>
                  </a:ext>
                </a:extLst>
              </p:cNvPr>
              <p:cNvSpPr txBox="1">
                <a:spLocks/>
              </p:cNvSpPr>
              <p:nvPr/>
            </p:nvSpPr>
            <p:spPr>
              <a:xfrm>
                <a:off x="838199" y="1243366"/>
                <a:ext cx="10515600" cy="21856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We target to estimate </a:t>
                </a:r>
                <a14:m>
                  <m:oMath xmlns:m="http://schemas.openxmlformats.org/officeDocument/2006/math">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𝐨</m:t>
                        </m:r>
                        <m:r>
                          <a:rPr lang="en-US" altLang="zh-CN" i="0">
                            <a:latin typeface="Cambria Math" panose="02040503050406030204" pitchFamily="18" charset="0"/>
                            <a:ea typeface="Microsoft YaHei" panose="020B0503020204020204" pitchFamily="34" charset="-122"/>
                            <a:cs typeface="Calibri" panose="020F0502020204030204" pitchFamily="34" charset="0"/>
                          </a:rPr>
                          <m:t>,</m:t>
                        </m:r>
                        <m:r>
                          <a:rPr lang="en-US" altLang="zh-CN" b="1" i="0">
                            <a:latin typeface="Cambria Math" panose="02040503050406030204" pitchFamily="18" charset="0"/>
                            <a:ea typeface="Microsoft YaHei" panose="020B0503020204020204" pitchFamily="34" charset="-122"/>
                            <a:cs typeface="Calibri" panose="020F0502020204030204" pitchFamily="34" charset="0"/>
                          </a:rPr>
                          <m:t>𝐪</m:t>
                        </m:r>
                      </m:e>
                    </m:d>
                  </m:oMath>
                </a14:m>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b="1" dirty="0">
                    <a:solidFill>
                      <a:srgbClr val="0000FF"/>
                    </a:solidFill>
                    <a:latin typeface="Calibri" panose="020F0502020204030204" pitchFamily="34" charset="0"/>
                    <a:ea typeface="Microsoft YaHei" panose="020B0503020204020204" pitchFamily="34" charset="-122"/>
                    <a:cs typeface="Calibri" panose="020F0502020204030204" pitchFamily="34" charset="0"/>
                  </a:rPr>
                  <a:t>It suffices if the error of the computation </a:t>
                </a:r>
                <a14:m>
                  <m:oMath xmlns:m="http://schemas.openxmlformats.org/officeDocument/2006/math">
                    <m:r>
                      <a:rPr lang="en-US" altLang="zh-CN" b="1" i="1" smtClean="0">
                        <a:solidFill>
                          <a:srgbClr val="0000FF"/>
                        </a:solidFill>
                        <a:latin typeface="Cambria Math" panose="02040503050406030204" pitchFamily="18" charset="0"/>
                        <a:ea typeface="Microsoft YaHei" panose="020B0503020204020204" pitchFamily="34" charset="-122"/>
                        <a:cs typeface="Calibri" panose="020F0502020204030204" pitchFamily="34" charset="0"/>
                      </a:rPr>
                      <m:t>≪</m:t>
                    </m:r>
                  </m:oMath>
                </a14:m>
                <a:r>
                  <a:rPr lang="en-US" altLang="zh-CN" b="1" dirty="0">
                    <a:solidFill>
                      <a:srgbClr val="0000FF"/>
                    </a:solidFill>
                    <a:latin typeface="Calibri" panose="020F0502020204030204" pitchFamily="34" charset="0"/>
                    <a:ea typeface="Microsoft YaHei" panose="020B0503020204020204" pitchFamily="34" charset="-122"/>
                    <a:cs typeface="Calibri" panose="020F0502020204030204" pitchFamily="34" charset="0"/>
                  </a:rPr>
                  <a:t> the error of the estimator.</a:t>
                </a:r>
              </a:p>
            </p:txBody>
          </p:sp>
        </mc:Choice>
        <mc:Fallback xmlns="">
          <p:sp>
            <p:nvSpPr>
              <p:cNvPr id="3" name="文本占位符 44">
                <a:extLst>
                  <a:ext uri="{FF2B5EF4-FFF2-40B4-BE49-F238E27FC236}">
                    <a16:creationId xmlns:a16="http://schemas.microsoft.com/office/drawing/2014/main" id="{F6943948-0D8C-C851-D6A1-6A9703E5DDAE}"/>
                  </a:ext>
                </a:extLst>
              </p:cNvPr>
              <p:cNvSpPr txBox="1">
                <a:spLocks noRot="1" noChangeAspect="1" noMove="1" noResize="1" noEditPoints="1" noAdjustHandles="1" noChangeArrowheads="1" noChangeShapeType="1" noTextEdit="1"/>
              </p:cNvSpPr>
              <p:nvPr/>
            </p:nvSpPr>
            <p:spPr>
              <a:xfrm>
                <a:off x="838199" y="1243366"/>
                <a:ext cx="10515600" cy="2185634"/>
              </a:xfrm>
              <a:prstGeom prst="rect">
                <a:avLst/>
              </a:prstGeom>
              <a:blipFill>
                <a:blip r:embed="rId5"/>
                <a:stretch>
                  <a:fillRect l="-965" t="-45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B0112E-D282-1CC7-F87E-AD1913347E93}"/>
                  </a:ext>
                </a:extLst>
              </p:cNvPr>
              <p:cNvSpPr txBox="1"/>
              <p:nvPr/>
            </p:nvSpPr>
            <p:spPr>
              <a:xfrm>
                <a:off x="6908784" y="3743567"/>
                <a:ext cx="3296287" cy="390748"/>
              </a:xfrm>
              <a:prstGeom prst="rect">
                <a:avLst/>
              </a:prstGeom>
              <a:noFill/>
            </p:spPr>
            <p:txBody>
              <a:bodyPr wrap="none" rtlCol="0">
                <a:spAutoFit/>
              </a:bodyPr>
              <a:lstStyle/>
              <a:p>
                <a:r>
                  <a:rPr lang="en-US" dirty="0">
                    <a:solidFill>
                      <a:srgbClr val="FF0000"/>
                    </a:solidFill>
                  </a:rPr>
                  <a:t>binary </a:t>
                </a:r>
                <a14:m>
                  <m:oMath xmlns:m="http://schemas.openxmlformats.org/officeDocument/2006/math">
                    <m:r>
                      <a:rPr lang="en-US" b="0" i="1" smtClean="0">
                        <a:solidFill>
                          <a:srgbClr val="FF0000"/>
                        </a:solidFill>
                        <a:latin typeface="Cambria Math" panose="02040503050406030204" pitchFamily="18" charset="0"/>
                      </a:rPr>
                      <m:t>×</m:t>
                    </m:r>
                  </m:oMath>
                </a14:m>
                <a:r>
                  <a:rPr lang="en-US" dirty="0">
                    <a:solidFill>
                      <a:srgbClr val="FF0000"/>
                    </a:solidFill>
                  </a:rPr>
                  <a:t> </a:t>
                </a:r>
                <a14:m>
                  <m:oMath xmlns:m="http://schemas.openxmlformats.org/officeDocument/2006/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𝐵</m:t>
                        </m:r>
                      </m:e>
                      <m:sub>
                        <m:r>
                          <a:rPr lang="en-US" b="0" i="1" dirty="0" smtClean="0">
                            <a:solidFill>
                              <a:srgbClr val="FF0000"/>
                            </a:solidFill>
                            <a:latin typeface="Cambria Math" panose="02040503050406030204" pitchFamily="18" charset="0"/>
                          </a:rPr>
                          <m:t>𝑞</m:t>
                        </m:r>
                      </m:sub>
                    </m:sSub>
                  </m:oMath>
                </a14:m>
                <a:r>
                  <a:rPr lang="en-US" dirty="0">
                    <a:solidFill>
                      <a:srgbClr val="FF0000"/>
                    </a:solidFill>
                  </a:rPr>
                  <a:t>-bit unsigned integer </a:t>
                </a:r>
              </a:p>
            </p:txBody>
          </p:sp>
        </mc:Choice>
        <mc:Fallback xmlns="">
          <p:sp>
            <p:nvSpPr>
              <p:cNvPr id="6" name="TextBox 5">
                <a:extLst>
                  <a:ext uri="{FF2B5EF4-FFF2-40B4-BE49-F238E27FC236}">
                    <a16:creationId xmlns:a16="http://schemas.microsoft.com/office/drawing/2014/main" id="{B2B0112E-D282-1CC7-F87E-AD1913347E93}"/>
                  </a:ext>
                </a:extLst>
              </p:cNvPr>
              <p:cNvSpPr txBox="1">
                <a:spLocks noRot="1" noChangeAspect="1" noMove="1" noResize="1" noEditPoints="1" noAdjustHandles="1" noChangeArrowheads="1" noChangeShapeType="1" noTextEdit="1"/>
              </p:cNvSpPr>
              <p:nvPr/>
            </p:nvSpPr>
            <p:spPr>
              <a:xfrm>
                <a:off x="6908784" y="3743567"/>
                <a:ext cx="3296287" cy="390748"/>
              </a:xfrm>
              <a:prstGeom prst="rect">
                <a:avLst/>
              </a:prstGeom>
              <a:blipFill>
                <a:blip r:embed="rId6"/>
                <a:stretch>
                  <a:fillRect l="-1149" t="-6250" r="-383"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文本占位符 44">
                <a:extLst>
                  <a:ext uri="{FF2B5EF4-FFF2-40B4-BE49-F238E27FC236}">
                    <a16:creationId xmlns:a16="http://schemas.microsoft.com/office/drawing/2014/main" id="{C172FCA2-0412-F07B-996E-3A2EFAE9A6D6}"/>
                  </a:ext>
                </a:extLst>
              </p:cNvPr>
              <p:cNvSpPr txBox="1">
                <a:spLocks/>
              </p:cNvSpPr>
              <p:nvPr/>
            </p:nvSpPr>
            <p:spPr>
              <a:xfrm>
                <a:off x="838199" y="2835416"/>
                <a:ext cx="10515600" cy="21856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We apply a randomized version of </a:t>
                </a: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𝐵</m:t>
                        </m:r>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𝑞</m:t>
                        </m:r>
                      </m:sub>
                    </m:sSub>
                  </m:oMath>
                </a14:m>
                <a:r>
                  <a:rPr lang="en-US" altLang="zh-CN" dirty="0">
                    <a:latin typeface="Calibri" panose="020F0502020204030204" pitchFamily="34" charset="0"/>
                    <a:ea typeface="Microsoft YaHei" panose="020B0503020204020204" pitchFamily="34" charset="-122"/>
                    <a:cs typeface="Calibri" panose="020F0502020204030204" pitchFamily="34" charset="0"/>
                  </a:rPr>
                  <a:t>-bit scalar quantization to </a:t>
                </a:r>
                <a14:m>
                  <m:oMath xmlns:m="http://schemas.openxmlformats.org/officeDocument/2006/math">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oMath>
                </a14:m>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We approximately compute </a:t>
                </a:r>
                <a14:m>
                  <m:oMath xmlns:m="http://schemas.openxmlformats.org/officeDocument/2006/math">
                    <m:d>
                      <m:dPr>
                        <m:begChr m:val="⟨"/>
                        <m:endChr m:val="⟩"/>
                        <m:ctrlPr>
                          <a:rPr lang="en-US" altLang="zh-CN" i="1" smtClean="0">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b="0"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b="0"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i="1">
                            <a:latin typeface="Cambria Math" panose="02040503050406030204" pitchFamily="18" charset="0"/>
                            <a:ea typeface="Microsoft YaHei" panose="020B0503020204020204" pitchFamily="34" charset="-122"/>
                            <a:cs typeface="Calibri" panose="020F0502020204030204" pitchFamily="34" charset="0"/>
                          </a:rPr>
                          <m:t>,</m:t>
                        </m:r>
                        <m:r>
                          <a:rPr lang="en-US" altLang="zh-CN" b="1" i="0">
                            <a:latin typeface="Cambria Math" panose="02040503050406030204" pitchFamily="18" charset="0"/>
                            <a:ea typeface="Microsoft YaHei" panose="020B0503020204020204" pitchFamily="34" charset="-122"/>
                            <a:cs typeface="Calibri" panose="020F0502020204030204" pitchFamily="34" charset="0"/>
                          </a:rPr>
                          <m:t>𝐪</m:t>
                        </m:r>
                        <m:r>
                          <a:rPr lang="en-US" altLang="zh-CN" b="0" i="1">
                            <a:latin typeface="Cambria Math" panose="02040503050406030204" pitchFamily="18" charset="0"/>
                            <a:ea typeface="Microsoft YaHei" panose="020B0503020204020204" pitchFamily="34" charset="-122"/>
                            <a:cs typeface="Calibri" panose="020F0502020204030204" pitchFamily="34" charset="0"/>
                          </a:rPr>
                          <m:t>′</m:t>
                        </m:r>
                      </m:e>
                    </m:d>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i="1">
                            <a:latin typeface="Cambria Math" panose="02040503050406030204" pitchFamily="18" charset="0"/>
                            <a:ea typeface="Microsoft YaHei" panose="020B0503020204020204" pitchFamily="34" charset="-122"/>
                            <a:cs typeface="Calibri" panose="020F0502020204030204" pitchFamily="34" charset="0"/>
                          </a:rPr>
                          <m:t>,</m:t>
                        </m:r>
                        <m:acc>
                          <m:accPr>
                            <m: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𝐪</m:t>
                            </m:r>
                          </m:e>
                        </m:acc>
                      </m:e>
                    </m:d>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r>
                      <m:rPr>
                        <m:sty m:val="p"/>
                      </m:rPr>
                      <a:rPr lang="en-US" altLang="zh-CN" b="0" i="0" smtClean="0">
                        <a:latin typeface="Cambria Math" panose="02040503050406030204" pitchFamily="18" charset="0"/>
                        <a:ea typeface="Microsoft YaHei" panose="020B0503020204020204" pitchFamily="34" charset="-122"/>
                        <a:cs typeface="Calibri" panose="020F0502020204030204" pitchFamily="34" charset="0"/>
                      </a:rPr>
                      <m:t>Δ</m:t>
                    </m:r>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i="1">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b="1"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latin typeface="Cambria Math" panose="02040503050406030204" pitchFamily="18" charset="0"/>
                                    <a:ea typeface="Microsoft YaHei" panose="020B0503020204020204" pitchFamily="34" charset="-122"/>
                                    <a:cs typeface="Calibri" panose="020F0502020204030204" pitchFamily="34" charset="0"/>
                                  </a:rPr>
                                  <m:t>𝐪</m:t>
                                </m:r>
                              </m:e>
                            </m:acc>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𝑢</m:t>
                            </m:r>
                          </m:sub>
                        </m:sSub>
                      </m:e>
                    </m:d>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𝑣</m:t>
                        </m:r>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𝑙</m:t>
                        </m:r>
                      </m:sub>
                    </m:s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b="0" i="1" smtClean="0">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b="0" i="1" smtClean="0">
                            <a:latin typeface="Cambria Math" panose="02040503050406030204" pitchFamily="18" charset="0"/>
                            <a:ea typeface="Microsoft YaHei" panose="020B0503020204020204" pitchFamily="34" charset="-122"/>
                            <a:cs typeface="Calibri" panose="020F0502020204030204" pitchFamily="34" charset="0"/>
                          </a:rPr>
                          <m:t>𝑏</m:t>
                        </m:r>
                      </m:sub>
                    </m:sSub>
                  </m:oMath>
                </a14:m>
                <a:r>
                  <a:rPr lang="en-US" altLang="zh-CN" dirty="0">
                    <a:latin typeface="Calibri" panose="020F0502020204030204" pitchFamily="34" charset="0"/>
                    <a:ea typeface="Microsoft YaHei" panose="020B0503020204020204" pitchFamily="34" charset="-122"/>
                    <a:cs typeface="Calibri" panose="020F0502020204030204" pitchFamily="34" charset="0"/>
                  </a:rPr>
                  <a:t>.</a:t>
                </a:r>
              </a:p>
            </p:txBody>
          </p:sp>
        </mc:Choice>
        <mc:Fallback xmlns="">
          <p:sp>
            <p:nvSpPr>
              <p:cNvPr id="10" name="文本占位符 44">
                <a:extLst>
                  <a:ext uri="{FF2B5EF4-FFF2-40B4-BE49-F238E27FC236}">
                    <a16:creationId xmlns:a16="http://schemas.microsoft.com/office/drawing/2014/main" id="{C172FCA2-0412-F07B-996E-3A2EFAE9A6D6}"/>
                  </a:ext>
                </a:extLst>
              </p:cNvPr>
              <p:cNvSpPr txBox="1">
                <a:spLocks noRot="1" noChangeAspect="1" noMove="1" noResize="1" noEditPoints="1" noAdjustHandles="1" noChangeArrowheads="1" noChangeShapeType="1" noTextEdit="1"/>
              </p:cNvSpPr>
              <p:nvPr/>
            </p:nvSpPr>
            <p:spPr>
              <a:xfrm>
                <a:off x="838199" y="2835416"/>
                <a:ext cx="10515600" cy="2185634"/>
              </a:xfrm>
              <a:prstGeom prst="rect">
                <a:avLst/>
              </a:prstGeom>
              <a:blipFill>
                <a:blip r:embed="rId7"/>
                <a:stretch>
                  <a:fillRect l="-965" t="-40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CB0A92A-73E1-F302-C4D5-1C3DF9A5C7E0}"/>
                  </a:ext>
                </a:extLst>
              </p:cNvPr>
              <p:cNvSpPr txBox="1"/>
              <p:nvPr/>
            </p:nvSpPr>
            <p:spPr>
              <a:xfrm>
                <a:off x="10122971" y="6161774"/>
                <a:ext cx="2069028" cy="390748"/>
              </a:xfrm>
              <a:prstGeom prst="rect">
                <a:avLst/>
              </a:prstGeom>
              <a:noFill/>
            </p:spPr>
            <p:txBody>
              <a:bodyPr wrap="none" rtlCol="0">
                <a:spAutoFit/>
              </a:bodyPr>
              <a:lstStyle/>
              <a:p>
                <a:r>
                  <a:rPr lang="en-US" dirty="0">
                    <a:solidFill>
                      <a:schemeClr val="tx1"/>
                    </a:solidFill>
                  </a:rPr>
                  <a:t>*In practice,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𝐵</m:t>
                        </m:r>
                      </m:e>
                      <m:sub>
                        <m:r>
                          <a:rPr lang="en-US" b="0" i="1" smtClean="0">
                            <a:solidFill>
                              <a:schemeClr val="tx1"/>
                            </a:solidFill>
                            <a:latin typeface="Cambria Math" panose="02040503050406030204" pitchFamily="18" charset="0"/>
                          </a:rPr>
                          <m:t>𝑞</m:t>
                        </m:r>
                      </m:sub>
                    </m:sSub>
                    <m:r>
                      <a:rPr lang="en-US" b="0" i="1" smtClean="0">
                        <a:solidFill>
                          <a:schemeClr val="tx1"/>
                        </a:solidFill>
                        <a:latin typeface="Cambria Math" panose="02040503050406030204" pitchFamily="18" charset="0"/>
                      </a:rPr>
                      <m:t>=4</m:t>
                    </m:r>
                  </m:oMath>
                </a14:m>
                <a:endParaRPr lang="en-US" dirty="0">
                  <a:solidFill>
                    <a:schemeClr val="tx1"/>
                  </a:solidFill>
                </a:endParaRPr>
              </a:p>
            </p:txBody>
          </p:sp>
        </mc:Choice>
        <mc:Fallback xmlns="">
          <p:sp>
            <p:nvSpPr>
              <p:cNvPr id="12" name="TextBox 11">
                <a:extLst>
                  <a:ext uri="{FF2B5EF4-FFF2-40B4-BE49-F238E27FC236}">
                    <a16:creationId xmlns:a16="http://schemas.microsoft.com/office/drawing/2014/main" id="{8CB0A92A-73E1-F302-C4D5-1C3DF9A5C7E0}"/>
                  </a:ext>
                </a:extLst>
              </p:cNvPr>
              <p:cNvSpPr txBox="1">
                <a:spLocks noRot="1" noChangeAspect="1" noMove="1" noResize="1" noEditPoints="1" noAdjustHandles="1" noChangeArrowheads="1" noChangeShapeType="1" noTextEdit="1"/>
              </p:cNvSpPr>
              <p:nvPr/>
            </p:nvSpPr>
            <p:spPr>
              <a:xfrm>
                <a:off x="10122971" y="6161774"/>
                <a:ext cx="2069028" cy="390748"/>
              </a:xfrm>
              <a:prstGeom prst="rect">
                <a:avLst/>
              </a:prstGeom>
              <a:blipFill>
                <a:blip r:embed="rId8"/>
                <a:stretch>
                  <a:fillRect l="-3049" t="-9677" b="-22581"/>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23E8F04-C114-04E4-F87D-2B5BE5DD4825}"/>
              </a:ext>
            </a:extLst>
          </p:cNvPr>
          <p:cNvSpPr/>
          <p:nvPr/>
        </p:nvSpPr>
        <p:spPr>
          <a:xfrm>
            <a:off x="8098217" y="3294976"/>
            <a:ext cx="982736" cy="4443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15DFD05-4414-0962-9C5A-6ADD91E6CF96}"/>
              </a:ext>
            </a:extLst>
          </p:cNvPr>
          <p:cNvPicPr>
            <a:picLocks noChangeAspect="1"/>
          </p:cNvPicPr>
          <p:nvPr/>
        </p:nvPicPr>
        <p:blipFill>
          <a:blip r:embed="rId9"/>
          <a:stretch>
            <a:fillRect/>
          </a:stretch>
        </p:blipFill>
        <p:spPr>
          <a:xfrm>
            <a:off x="2988660" y="4680524"/>
            <a:ext cx="6214679" cy="70883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483B75D-08BA-D0B8-F421-85FCE4DE1B96}"/>
                  </a:ext>
                </a:extLst>
              </p:cNvPr>
              <p:cNvSpPr txBox="1"/>
              <p:nvPr/>
            </p:nvSpPr>
            <p:spPr>
              <a:xfrm>
                <a:off x="7231460" y="2494890"/>
                <a:ext cx="4824876" cy="374398"/>
              </a:xfrm>
              <a:prstGeom prst="rect">
                <a:avLst/>
              </a:prstGeom>
              <a:no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𝐪</m:t>
                          </m:r>
                        </m:e>
                      </m:acc>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m:t>
                      </m:r>
                      <m:r>
                        <m:rPr>
                          <m:sty m:val="p"/>
                        </m:rPr>
                        <a:rPr lang="en-US" altLang="zh-CN" b="0" i="0"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Δ</m:t>
                      </m:r>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𝐪</m:t>
                              </m:r>
                            </m:e>
                          </m:acc>
                        </m:e>
                        <m: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𝑢</m:t>
                          </m:r>
                        </m:sub>
                      </m:s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𝑣</m:t>
                          </m:r>
                        </m:e>
                        <m: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𝑙</m:t>
                          </m:r>
                        </m:sub>
                      </m:s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 </m:t>
                      </m:r>
                      <m:sSub>
                        <m:sSubPr>
                          <m:ctrlPr>
                            <a:rPr lang="en-US" altLang="zh-CN" i="1">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b="1" i="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𝐪</m:t>
                              </m:r>
                            </m:e>
                          </m:acc>
                        </m:e>
                        <m:sub>
                          <m:r>
                            <a:rPr lang="en-US" altLang="zh-CN" i="1">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𝑢</m:t>
                          </m:r>
                        </m:sub>
                      </m:sSub>
                      <m:d>
                        <m:dPr>
                          <m:begChr m:val="["/>
                          <m:endChr m:val="]"/>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dPr>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𝑖</m:t>
                          </m:r>
                        </m:e>
                      </m:d>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∈{0,1,2,3,…,</m:t>
                      </m:r>
                      <m:sSup>
                        <m:sSup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2</m:t>
                          </m:r>
                        </m:e>
                        <m:sup>
                          <m:sSub>
                            <m:sSubPr>
                              <m:ctrlP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ctrlPr>
                            </m:sSubPr>
                            <m:e>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𝐵</m:t>
                              </m:r>
                            </m:e>
                            <m:sub>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𝑞</m:t>
                              </m:r>
                            </m:sub>
                          </m:sSub>
                        </m:sup>
                      </m:sSup>
                      <m:r>
                        <a:rPr lang="en-US" altLang="zh-CN" b="0" i="1" smtClean="0">
                          <a:solidFill>
                            <a:srgbClr val="FF0000"/>
                          </a:solidFill>
                          <a:latin typeface="Cambria Math" panose="02040503050406030204" pitchFamily="18" charset="0"/>
                          <a:ea typeface="Microsoft YaHei" panose="020B0503020204020204" pitchFamily="34" charset="-122"/>
                          <a:cs typeface="Calibri" panose="020F0502020204030204" pitchFamily="34" charset="0"/>
                        </a:rPr>
                        <m:t>−1}</m:t>
                      </m:r>
                    </m:oMath>
                  </m:oMathPara>
                </a14:m>
                <a:endParaRPr lang="en-US" dirty="0">
                  <a:solidFill>
                    <a:srgbClr val="FF0000"/>
                  </a:solidFill>
                </a:endParaRPr>
              </a:p>
            </p:txBody>
          </p:sp>
        </mc:Choice>
        <mc:Fallback xmlns="">
          <p:sp>
            <p:nvSpPr>
              <p:cNvPr id="9" name="TextBox 8">
                <a:extLst>
                  <a:ext uri="{FF2B5EF4-FFF2-40B4-BE49-F238E27FC236}">
                    <a16:creationId xmlns:a16="http://schemas.microsoft.com/office/drawing/2014/main" id="{0483B75D-08BA-D0B8-F421-85FCE4DE1B96}"/>
                  </a:ext>
                </a:extLst>
              </p:cNvPr>
              <p:cNvSpPr txBox="1">
                <a:spLocks noRot="1" noChangeAspect="1" noMove="1" noResize="1" noEditPoints="1" noAdjustHandles="1" noChangeArrowheads="1" noChangeShapeType="1" noTextEdit="1"/>
              </p:cNvSpPr>
              <p:nvPr/>
            </p:nvSpPr>
            <p:spPr>
              <a:xfrm>
                <a:off x="7231460" y="2494890"/>
                <a:ext cx="4824876" cy="374398"/>
              </a:xfrm>
              <a:prstGeom prst="rect">
                <a:avLst/>
              </a:prstGeom>
              <a:blipFill>
                <a:blip r:embed="rId10"/>
                <a:stretch>
                  <a:fillRect b="-9375"/>
                </a:stretch>
              </a:blipFill>
              <a:ln>
                <a:solidFill>
                  <a:srgbClr val="FF0000"/>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256410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34C0-B941-7B13-CEBF-A83A41F6286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75ADD10-7F8A-5B4E-C1AE-8CC249BAE4B7}"/>
              </a:ext>
            </a:extLst>
          </p:cNvPr>
          <p:cNvPicPr>
            <a:picLocks noChangeAspect="1"/>
          </p:cNvPicPr>
          <p:nvPr/>
        </p:nvPicPr>
        <p:blipFill>
          <a:blip r:embed="rId4"/>
          <a:stretch>
            <a:fillRect/>
          </a:stretch>
        </p:blipFill>
        <p:spPr>
          <a:xfrm>
            <a:off x="2657028" y="1020765"/>
            <a:ext cx="3108704" cy="2455170"/>
          </a:xfrm>
          <a:prstGeom prst="rect">
            <a:avLst/>
          </a:prstGeom>
        </p:spPr>
      </p:pic>
      <p:pic>
        <p:nvPicPr>
          <p:cNvPr id="14" name="Picture 13">
            <a:extLst>
              <a:ext uri="{FF2B5EF4-FFF2-40B4-BE49-F238E27FC236}">
                <a16:creationId xmlns:a16="http://schemas.microsoft.com/office/drawing/2014/main" id="{9CFC95D4-120A-8CBB-2DFF-412E1482EAEA}"/>
              </a:ext>
            </a:extLst>
          </p:cNvPr>
          <p:cNvPicPr>
            <a:picLocks noChangeAspect="1"/>
          </p:cNvPicPr>
          <p:nvPr/>
        </p:nvPicPr>
        <p:blipFill>
          <a:blip r:embed="rId5"/>
          <a:stretch>
            <a:fillRect/>
          </a:stretch>
        </p:blipFill>
        <p:spPr>
          <a:xfrm>
            <a:off x="6407160" y="1285541"/>
            <a:ext cx="3204895" cy="2172207"/>
          </a:xfrm>
          <a:prstGeom prst="rect">
            <a:avLst/>
          </a:prstGeom>
        </p:spPr>
      </p:pic>
      <mc:AlternateContent xmlns:mc="http://schemas.openxmlformats.org/markup-compatibility/2006" xmlns:a14="http://schemas.microsoft.com/office/drawing/2010/main">
        <mc:Choice Requires="a14">
          <p:sp>
            <p:nvSpPr>
              <p:cNvPr id="18" name="Title 1">
                <a:extLst>
                  <a:ext uri="{FF2B5EF4-FFF2-40B4-BE49-F238E27FC236}">
                    <a16:creationId xmlns:a16="http://schemas.microsoft.com/office/drawing/2014/main" id="{99F827C9-CE7C-A477-D6FE-0DEB17DEBD7C}"/>
                  </a:ext>
                </a:extLst>
              </p:cNvPr>
              <p:cNvSpPr>
                <a:spLocks noGrp="1"/>
              </p:cNvSpPr>
              <p:nvPr>
                <p:ph type="title"/>
              </p:nvPr>
            </p:nvSpPr>
            <p:spPr>
              <a:xfrm>
                <a:off x="838200" y="365125"/>
                <a:ext cx="10515600" cy="730507"/>
              </a:xfrm>
            </p:spPr>
            <p:txBody>
              <a:bodyPr/>
              <a:lstStyle/>
              <a:p>
                <a:r>
                  <a:rPr lang="en-US" altLang="zh-HK" dirty="0"/>
                  <a:t>How to compute </a:t>
                </a:r>
                <a14:m>
                  <m:oMath xmlns:m="http://schemas.openxmlformats.org/officeDocument/2006/math">
                    <m:d>
                      <m:dPr>
                        <m:begChr m:val="⟨"/>
                        <m:end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dPr>
                      <m:e>
                        <m:sSub>
                          <m:sSubPr>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a:latin typeface="Cambria Math" panose="02040503050406030204" pitchFamily="18" charset="0"/>
                                    <a:ea typeface="Microsoft YaHei" panose="020B0503020204020204" pitchFamily="34" charset="-122"/>
                                    <a:cs typeface="Calibri" panose="020F0502020204030204" pitchFamily="34" charset="0"/>
                                  </a:rPr>
                                  <m:t>𝐱</m:t>
                                </m:r>
                              </m:e>
                            </m:acc>
                          </m:e>
                          <m:sub>
                            <m:r>
                              <a:rPr lang="en-US" altLang="zh-CN" i="1">
                                <a:latin typeface="Cambria Math" panose="02040503050406030204" pitchFamily="18" charset="0"/>
                                <a:ea typeface="Microsoft YaHei" panose="020B0503020204020204" pitchFamily="34" charset="-122"/>
                                <a:cs typeface="Calibri" panose="020F0502020204030204" pitchFamily="34" charset="0"/>
                              </a:rPr>
                              <m:t>𝑏</m:t>
                            </m:r>
                          </m:sub>
                        </m:sSub>
                        <m:r>
                          <a:rPr lang="en-US" altLang="zh-CN" i="1">
                            <a:latin typeface="Cambria Math" panose="02040503050406030204" pitchFamily="18" charset="0"/>
                            <a:ea typeface="Microsoft YaHei" panose="020B0503020204020204" pitchFamily="34" charset="-122"/>
                            <a:cs typeface="Calibri" panose="020F0502020204030204" pitchFamily="34" charset="0"/>
                          </a:rPr>
                          <m:t>,</m:t>
                        </m:r>
                        <m:sSub>
                          <m:sSubPr>
                            <m:ctrlPr>
                              <a:rPr lang="en-US" altLang="zh-CN" b="0" i="1">
                                <a:latin typeface="Cambria Math" panose="02040503050406030204" pitchFamily="18" charset="0"/>
                                <a:ea typeface="Microsoft YaHei" panose="020B0503020204020204" pitchFamily="34" charset="-122"/>
                                <a:cs typeface="Calibri" panose="020F0502020204030204" pitchFamily="34" charset="0"/>
                              </a:rPr>
                            </m:ctrlPr>
                          </m:sSubPr>
                          <m:e>
                            <m:acc>
                              <m:accPr>
                                <m:chr m:val="̅"/>
                                <m:ctrlPr>
                                  <a:rPr lang="en-US" altLang="zh-CN" i="1">
                                    <a:latin typeface="Cambria Math" panose="02040503050406030204" pitchFamily="18" charset="0"/>
                                    <a:ea typeface="Microsoft YaHei" panose="020B0503020204020204" pitchFamily="34" charset="-122"/>
                                    <a:cs typeface="Calibri" panose="020F0502020204030204" pitchFamily="34" charset="0"/>
                                  </a:rPr>
                                </m:ctrlPr>
                              </m:accPr>
                              <m:e>
                                <m:r>
                                  <a:rPr lang="en-US" altLang="zh-CN">
                                    <a:latin typeface="Cambria Math" panose="02040503050406030204" pitchFamily="18" charset="0"/>
                                    <a:ea typeface="Microsoft YaHei" panose="020B0503020204020204" pitchFamily="34" charset="-122"/>
                                    <a:cs typeface="Calibri" panose="020F0502020204030204" pitchFamily="34" charset="0"/>
                                  </a:rPr>
                                  <m:t>𝐪</m:t>
                                </m:r>
                              </m:e>
                            </m:acc>
                          </m:e>
                          <m:sub>
                            <m:r>
                              <a:rPr lang="en-US" altLang="zh-CN" b="0" i="1">
                                <a:latin typeface="Cambria Math" panose="02040503050406030204" pitchFamily="18" charset="0"/>
                                <a:ea typeface="Microsoft YaHei" panose="020B0503020204020204" pitchFamily="34" charset="-122"/>
                                <a:cs typeface="Calibri" panose="020F0502020204030204" pitchFamily="34" charset="0"/>
                              </a:rPr>
                              <m:t>𝑢</m:t>
                            </m:r>
                          </m:sub>
                        </m:sSub>
                      </m:e>
                    </m:d>
                  </m:oMath>
                </a14:m>
                <a:r>
                  <a:rPr lang="en-US" altLang="zh-HK" dirty="0"/>
                  <a:t>?</a:t>
                </a:r>
                <a:endParaRPr lang="zh-HK" altLang="en-US" dirty="0"/>
              </a:p>
            </p:txBody>
          </p:sp>
        </mc:Choice>
        <mc:Fallback xmlns="">
          <p:sp>
            <p:nvSpPr>
              <p:cNvPr id="18" name="Title 1">
                <a:extLst>
                  <a:ext uri="{FF2B5EF4-FFF2-40B4-BE49-F238E27FC236}">
                    <a16:creationId xmlns:a16="http://schemas.microsoft.com/office/drawing/2014/main" id="{99F827C9-CE7C-A477-D6FE-0DEB17DEBD7C}"/>
                  </a:ext>
                </a:extLst>
              </p:cNvPr>
              <p:cNvSpPr>
                <a:spLocks noGrp="1" noRot="1" noChangeAspect="1" noMove="1" noResize="1" noEditPoints="1" noAdjustHandles="1" noChangeArrowheads="1" noChangeShapeType="1" noTextEdit="1"/>
              </p:cNvSpPr>
              <p:nvPr>
                <p:ph type="title"/>
              </p:nvPr>
            </p:nvSpPr>
            <p:spPr>
              <a:xfrm>
                <a:off x="838200" y="365125"/>
                <a:ext cx="10515600" cy="730507"/>
              </a:xfrm>
              <a:blipFill>
                <a:blip r:embed="rId6"/>
                <a:stretch>
                  <a:fillRect l="-2171" t="-15254" b="-30508"/>
                </a:stretch>
              </a:blipFill>
            </p:spPr>
            <p:txBody>
              <a:bodyPr/>
              <a:lstStyle/>
              <a:p>
                <a:r>
                  <a:rPr lang="en-US">
                    <a:noFill/>
                  </a:rPr>
                  <a:t> </a:t>
                </a:r>
              </a:p>
            </p:txBody>
          </p:sp>
        </mc:Fallback>
      </mc:AlternateContent>
      <p:sp>
        <p:nvSpPr>
          <p:cNvPr id="20" name="文本占位符 44">
            <a:extLst>
              <a:ext uri="{FF2B5EF4-FFF2-40B4-BE49-F238E27FC236}">
                <a16:creationId xmlns:a16="http://schemas.microsoft.com/office/drawing/2014/main" id="{763EF7D4-2BC6-642D-72FD-DDE717227BA0}"/>
              </a:ext>
            </a:extLst>
          </p:cNvPr>
          <p:cNvSpPr txBox="1">
            <a:spLocks/>
          </p:cNvSpPr>
          <p:nvPr/>
        </p:nvSpPr>
        <p:spPr>
          <a:xfrm>
            <a:off x="907153" y="5529204"/>
            <a:ext cx="11000014" cy="10269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We decompose the 4-bit unsigned integer vectors into 4 binary vectors.</a:t>
            </a:r>
          </a:p>
          <a:p>
            <a:pPr marL="285750"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The inner product can be realized with bitwise-and and </a:t>
            </a:r>
            <a:r>
              <a:rPr lang="en-US" altLang="zh-CN" sz="2000" dirty="0" err="1">
                <a:latin typeface="Calibri" panose="020F0502020204030204" pitchFamily="34" charset="0"/>
                <a:ea typeface="Microsoft YaHei" panose="020B0503020204020204" pitchFamily="34" charset="-122"/>
                <a:cs typeface="Calibri" panose="020F0502020204030204" pitchFamily="34" charset="0"/>
              </a:rPr>
              <a:t>popcount</a:t>
            </a:r>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p>
        </p:txBody>
      </p:sp>
      <p:pic>
        <p:nvPicPr>
          <p:cNvPr id="2" name="Picture 1">
            <a:extLst>
              <a:ext uri="{FF2B5EF4-FFF2-40B4-BE49-F238E27FC236}">
                <a16:creationId xmlns:a16="http://schemas.microsoft.com/office/drawing/2014/main" id="{A642226A-6B77-90EC-1A68-6AC3652B7972}"/>
              </a:ext>
            </a:extLst>
          </p:cNvPr>
          <p:cNvPicPr>
            <a:picLocks noChangeAspect="1"/>
          </p:cNvPicPr>
          <p:nvPr/>
        </p:nvPicPr>
        <p:blipFill>
          <a:blip r:embed="rId7"/>
          <a:stretch>
            <a:fillRect/>
          </a:stretch>
        </p:blipFill>
        <p:spPr>
          <a:xfrm>
            <a:off x="2750624" y="3463176"/>
            <a:ext cx="6690751" cy="2066028"/>
          </a:xfrm>
          <a:prstGeom prst="rect">
            <a:avLst/>
          </a:prstGeom>
        </p:spPr>
      </p:pic>
    </p:spTree>
    <p:custDataLst>
      <p:tags r:id="rId1"/>
    </p:custDataLst>
    <p:extLst>
      <p:ext uri="{BB962C8B-B14F-4D97-AF65-F5344CB8AC3E}">
        <p14:creationId xmlns:p14="http://schemas.microsoft.com/office/powerpoint/2010/main" val="2614807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CB08-AFE3-3E81-2931-760F3ACC8F97}"/>
            </a:ext>
          </a:extLst>
        </p:cNvPr>
        <p:cNvGrpSpPr/>
        <p:nvPr/>
      </p:nvGrpSpPr>
      <p:grpSpPr>
        <a:xfrm>
          <a:off x="0" y="0"/>
          <a:ext cx="0" cy="0"/>
          <a:chOff x="0" y="0"/>
          <a:chExt cx="0" cy="0"/>
        </a:xfrm>
      </p:grpSpPr>
      <p:sp>
        <p:nvSpPr>
          <p:cNvPr id="2" name="文本占位符 44">
            <a:extLst>
              <a:ext uri="{FF2B5EF4-FFF2-40B4-BE49-F238E27FC236}">
                <a16:creationId xmlns:a16="http://schemas.microsoft.com/office/drawing/2014/main" id="{2B7C3F82-AD63-1E85-E961-FAC3894E27D1}"/>
              </a:ext>
            </a:extLst>
          </p:cNvPr>
          <p:cNvSpPr txBox="1">
            <a:spLocks/>
          </p:cNvSpPr>
          <p:nvPr/>
        </p:nvSpPr>
        <p:spPr>
          <a:xfrm>
            <a:off x="838199" y="1487876"/>
            <a:ext cx="10515600" cy="1693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Baseline (PQ, OPQ and LSQ, all from </a:t>
            </a:r>
            <a:r>
              <a:rPr lang="en-US" altLang="zh-CN" dirty="0" err="1">
                <a:latin typeface="Calibri" panose="020F0502020204030204" pitchFamily="34" charset="0"/>
                <a:ea typeface="Microsoft YaHei" panose="020B0503020204020204" pitchFamily="34" charset="-122"/>
                <a:cs typeface="Calibri" panose="020F0502020204030204" pitchFamily="34" charset="0"/>
              </a:rPr>
              <a:t>Faiss</a:t>
            </a:r>
            <a:r>
              <a:rPr lang="en-US" altLang="zh-CN" dirty="0">
                <a:latin typeface="Calibri" panose="020F0502020204030204" pitchFamily="34" charset="0"/>
                <a:ea typeface="Microsoft YaHei" panose="020B0503020204020204" pitchFamily="34" charset="-122"/>
                <a:cs typeface="Calibri" panose="020F0502020204030204" pitchFamily="34" charset="0"/>
              </a:rPr>
              <a:t> 1.7.4)</a:t>
            </a:r>
          </a:p>
          <a:p>
            <a:pPr marL="742950" lvl="1"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For estimating a single distance: </a:t>
            </a:r>
            <a:r>
              <a:rPr lang="en-US" altLang="zh-CN" sz="2200" i="1" u="sng" dirty="0">
                <a:latin typeface="Calibri" panose="020F0502020204030204" pitchFamily="34" charset="0"/>
                <a:ea typeface="Microsoft YaHei" panose="020B0503020204020204" pitchFamily="34" charset="-122"/>
                <a:cs typeface="Calibri" panose="020F0502020204030204" pitchFamily="34" charset="0"/>
              </a:rPr>
              <a:t>looking up tables in RAM</a:t>
            </a: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For estimating a batch of distances: </a:t>
            </a:r>
            <a:r>
              <a:rPr lang="en-US" altLang="zh-CN" sz="2200" i="1" u="sng" dirty="0">
                <a:latin typeface="Calibri" panose="020F0502020204030204" pitchFamily="34" charset="0"/>
                <a:ea typeface="Microsoft YaHei" panose="020B0503020204020204" pitchFamily="34" charset="-122"/>
                <a:cs typeface="Calibri" panose="020F0502020204030204" pitchFamily="34" charset="0"/>
              </a:rPr>
              <a:t>Fast Scan (with AVX2)</a:t>
            </a:r>
          </a:p>
          <a:p>
            <a:pPr marL="742950" lvl="1" indent="-285750">
              <a:buFont typeface="Wingdings" panose="05000000000000000000" pitchFamily="2" charset="2"/>
              <a:buChar char="Ø"/>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p:sp>
        <p:nvSpPr>
          <p:cNvPr id="7" name="Title 1">
            <a:extLst>
              <a:ext uri="{FF2B5EF4-FFF2-40B4-BE49-F238E27FC236}">
                <a16:creationId xmlns:a16="http://schemas.microsoft.com/office/drawing/2014/main" id="{6FF424BF-B91D-5F0D-969E-D669A5FD5369}"/>
              </a:ext>
            </a:extLst>
          </p:cNvPr>
          <p:cNvSpPr txBox="1">
            <a:spLocks/>
          </p:cNvSpPr>
          <p:nvPr/>
        </p:nvSpPr>
        <p:spPr>
          <a:xfrm>
            <a:off x="838199" y="525546"/>
            <a:ext cx="10515600" cy="73050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K" dirty="0">
                <a:solidFill>
                  <a:schemeClr val="accent5">
                    <a:lumMod val="75000"/>
                  </a:schemeClr>
                </a:solidFill>
              </a:rPr>
              <a:t>Experimental Setup</a:t>
            </a:r>
            <a:endParaRPr lang="zh-HK" altLang="en-US" dirty="0">
              <a:solidFill>
                <a:schemeClr val="accent5">
                  <a:lumMod val="75000"/>
                </a:schemeClr>
              </a:solidFill>
            </a:endParaRPr>
          </a:p>
        </p:txBody>
      </p:sp>
      <p:sp>
        <p:nvSpPr>
          <p:cNvPr id="10" name="文本占位符 44">
            <a:extLst>
              <a:ext uri="{FF2B5EF4-FFF2-40B4-BE49-F238E27FC236}">
                <a16:creationId xmlns:a16="http://schemas.microsoft.com/office/drawing/2014/main" id="{A99E918D-E656-4124-E57C-0894552A1CBE}"/>
              </a:ext>
            </a:extLst>
          </p:cNvPr>
          <p:cNvSpPr txBox="1">
            <a:spLocks/>
          </p:cNvSpPr>
          <p:nvPr/>
        </p:nvSpPr>
        <p:spPr>
          <a:xfrm>
            <a:off x="838199" y="3035007"/>
            <a:ext cx="10515600" cy="23351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dirty="0">
                <a:latin typeface="Calibri" panose="020F0502020204030204" pitchFamily="34" charset="0"/>
                <a:ea typeface="Microsoft YaHei" panose="020B0503020204020204" pitchFamily="34" charset="-122"/>
                <a:cs typeface="Calibri" panose="020F0502020204030204" pitchFamily="34" charset="0"/>
              </a:rPr>
              <a:t>Ours (</a:t>
            </a:r>
            <a:r>
              <a:rPr lang="en-US" altLang="zh-CN" dirty="0" err="1">
                <a:latin typeface="Calibri" panose="020F0502020204030204" pitchFamily="34" charset="0"/>
                <a:ea typeface="Microsoft YaHei" panose="020B0503020204020204" pitchFamily="34" charset="-122"/>
                <a:cs typeface="Calibri" panose="020F0502020204030204" pitchFamily="34" charset="0"/>
              </a:rPr>
              <a:t>RaBitQ</a:t>
            </a:r>
            <a:r>
              <a:rPr lang="en-US" altLang="zh-CN"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For estimating a single distance: </a:t>
            </a:r>
            <a:r>
              <a:rPr lang="en-US" altLang="zh-CN" sz="2200" i="1" u="sng" dirty="0">
                <a:latin typeface="Calibri" panose="020F0502020204030204" pitchFamily="34" charset="0"/>
                <a:ea typeface="Microsoft YaHei" panose="020B0503020204020204" pitchFamily="34" charset="-122"/>
                <a:cs typeface="Calibri" panose="020F0502020204030204" pitchFamily="34" charset="0"/>
              </a:rPr>
              <a:t>bitwise operations</a:t>
            </a: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For estimating a batch of distances: </a:t>
            </a:r>
            <a:r>
              <a:rPr lang="en-US" altLang="zh-CN" sz="2200" i="1" u="sng" dirty="0">
                <a:latin typeface="Calibri" panose="020F0502020204030204" pitchFamily="34" charset="0"/>
                <a:ea typeface="Microsoft YaHei" panose="020B0503020204020204" pitchFamily="34" charset="-122"/>
                <a:cs typeface="Calibri" panose="020F0502020204030204" pitchFamily="34" charset="0"/>
              </a:rPr>
              <a:t>Fast Scan (with AVX2)</a:t>
            </a:r>
          </a:p>
          <a:p>
            <a:pPr marL="742950" lvl="1" indent="-285750">
              <a:buFont typeface="Wingdings" panose="05000000000000000000" pitchFamily="2" charset="2"/>
              <a:buChar char="Ø"/>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p:spTree>
    <p:custDataLst>
      <p:tags r:id="rId1"/>
    </p:custDataLst>
    <p:extLst>
      <p:ext uri="{BB962C8B-B14F-4D97-AF65-F5344CB8AC3E}">
        <p14:creationId xmlns:p14="http://schemas.microsoft.com/office/powerpoint/2010/main" val="1726938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CB08-AFE3-3E81-2931-760F3ACC8F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E5BC88E-A949-398C-43A2-C041F57461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284" y="1634795"/>
            <a:ext cx="7178404" cy="4037852"/>
          </a:xfrm>
          <a:prstGeom prst="rect">
            <a:avLst/>
          </a:prstGeom>
        </p:spPr>
      </p:pic>
      <p:sp>
        <p:nvSpPr>
          <p:cNvPr id="2" name="文本占位符 44">
            <a:extLst>
              <a:ext uri="{FF2B5EF4-FFF2-40B4-BE49-F238E27FC236}">
                <a16:creationId xmlns:a16="http://schemas.microsoft.com/office/drawing/2014/main" id="{36C38BC9-56A7-504B-AE2A-DE3520A3DF4E}"/>
              </a:ext>
            </a:extLst>
          </p:cNvPr>
          <p:cNvSpPr txBox="1">
            <a:spLocks/>
          </p:cNvSpPr>
          <p:nvPr/>
        </p:nvSpPr>
        <p:spPr>
          <a:xfrm>
            <a:off x="7298688" y="1686566"/>
            <a:ext cx="4893312" cy="1693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For estimating a single distance (8-bit PQ)</a:t>
            </a:r>
          </a:p>
          <a:p>
            <a:pPr marL="742950" lvl="1" indent="-285750">
              <a:buFont typeface="Wingdings" panose="05000000000000000000" pitchFamily="2" charset="2"/>
              <a:buChar char="Ø"/>
            </a:pPr>
            <a:r>
              <a:rPr lang="en-US" altLang="zh-CN" sz="1400" b="1" i="1" u="sng" dirty="0">
                <a:latin typeface="Calibri" panose="020F0502020204030204" pitchFamily="34" charset="0"/>
                <a:ea typeface="Microsoft YaHei" panose="020B0503020204020204" pitchFamily="34" charset="-122"/>
                <a:cs typeface="Calibri" panose="020F0502020204030204" pitchFamily="34" charset="0"/>
              </a:rPr>
              <a:t>RaBitQ is ~3x faster under the same accuracy.</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RaBitQ: bitwise operations</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The baselines: looking up tables in RAM</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For estimating a batch of distances (4-bit PQ)</a:t>
            </a:r>
          </a:p>
          <a:p>
            <a:pPr marL="742950" lvl="1" indent="-285750">
              <a:buFont typeface="Wingdings" panose="05000000000000000000" pitchFamily="2" charset="2"/>
              <a:buChar char="Ø"/>
            </a:pPr>
            <a:r>
              <a:rPr lang="en-US" altLang="zh-CN" sz="1400" b="1" i="1" u="sng" dirty="0">
                <a:latin typeface="Calibri" panose="020F0502020204030204" pitchFamily="34" charset="0"/>
                <a:ea typeface="Microsoft YaHei" panose="020B0503020204020204" pitchFamily="34" charset="-122"/>
                <a:cs typeface="Calibri" panose="020F0502020204030204" pitchFamily="34" charset="0"/>
              </a:rPr>
              <a:t>By default, RaBitQ uses ~D bits of quantization codes and the baselines use 2D bits of quantization codes.</a:t>
            </a:r>
          </a:p>
          <a:p>
            <a:pPr marL="742950" lvl="1" indent="-285750">
              <a:buFont typeface="Wingdings" panose="05000000000000000000" pitchFamily="2" charset="2"/>
              <a:buChar char="Ø"/>
            </a:pPr>
            <a:r>
              <a:rPr lang="en-US" altLang="zh-CN" sz="1400" b="1" i="1" u="sng" dirty="0">
                <a:latin typeface="Calibri" panose="020F0502020204030204" pitchFamily="34" charset="0"/>
                <a:ea typeface="Microsoft YaHei" panose="020B0503020204020204" pitchFamily="34" charset="-122"/>
                <a:cs typeface="Calibri" panose="020F0502020204030204" pitchFamily="34" charset="0"/>
              </a:rPr>
              <a:t>RaBitQ produces consistently better accuracy than PQ and OPQ.</a:t>
            </a:r>
          </a:p>
          <a:p>
            <a:pPr marL="742950" lvl="1"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Stability</a:t>
            </a:r>
          </a:p>
          <a:p>
            <a:pPr marL="742950" lvl="1" indent="-285750">
              <a:buFont typeface="Wingdings" panose="05000000000000000000" pitchFamily="2" charset="2"/>
              <a:buChar char="Ø"/>
            </a:pPr>
            <a:r>
              <a:rPr lang="en-US" altLang="zh-CN" sz="1400" b="1" i="1" u="sng" dirty="0">
                <a:latin typeface="Calibri" panose="020F0502020204030204" pitchFamily="34" charset="0"/>
                <a:ea typeface="Microsoft YaHei" panose="020B0503020204020204" pitchFamily="34" charset="-122"/>
                <a:cs typeface="Calibri" panose="020F0502020204030204" pitchFamily="34" charset="0"/>
              </a:rPr>
              <a:t>RaBitQ produces stable performance even on the datasets where the baselines fail disastrously.</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p:txBody>
      </p:sp>
      <p:sp>
        <p:nvSpPr>
          <p:cNvPr id="7" name="Title 1">
            <a:extLst>
              <a:ext uri="{FF2B5EF4-FFF2-40B4-BE49-F238E27FC236}">
                <a16:creationId xmlns:a16="http://schemas.microsoft.com/office/drawing/2014/main" id="{0AF24033-FEEA-09AB-BCAE-EF24274665C2}"/>
              </a:ext>
            </a:extLst>
          </p:cNvPr>
          <p:cNvSpPr txBox="1">
            <a:spLocks/>
          </p:cNvSpPr>
          <p:nvPr/>
        </p:nvSpPr>
        <p:spPr>
          <a:xfrm>
            <a:off x="920221" y="504960"/>
            <a:ext cx="9677825" cy="73050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K" sz="4000" dirty="0">
                <a:solidFill>
                  <a:schemeClr val="accent5">
                    <a:lumMod val="75000"/>
                  </a:schemeClr>
                </a:solidFill>
              </a:rPr>
              <a:t>Results for Time-Accuracy Trade-off (Distance)</a:t>
            </a:r>
            <a:endParaRPr lang="zh-HK" altLang="en-US" sz="4000" dirty="0">
              <a:solidFill>
                <a:schemeClr val="accent5">
                  <a:lumMod val="75000"/>
                </a:schemeClr>
              </a:solidFill>
            </a:endParaRPr>
          </a:p>
        </p:txBody>
      </p:sp>
    </p:spTree>
    <p:custDataLst>
      <p:tags r:id="rId1"/>
    </p:custDataLst>
    <p:extLst>
      <p:ext uri="{BB962C8B-B14F-4D97-AF65-F5344CB8AC3E}">
        <p14:creationId xmlns:p14="http://schemas.microsoft.com/office/powerpoint/2010/main" val="224494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F6FF521-3947-456B-18C2-68F98E707BE6}"/>
              </a:ext>
            </a:extLst>
          </p:cNvPr>
          <p:cNvSpPr>
            <a:spLocks noGrp="1"/>
          </p:cNvSpPr>
          <p:nvPr>
            <p:ph type="title"/>
          </p:nvPr>
        </p:nvSpPr>
        <p:spPr>
          <a:xfrm>
            <a:off x="838200" y="382820"/>
            <a:ext cx="8800475" cy="730507"/>
          </a:xfrm>
        </p:spPr>
        <p:txBody>
          <a:bodyPr>
            <a:normAutofit/>
          </a:bodyPr>
          <a:lstStyle/>
          <a:p>
            <a:r>
              <a:rPr lang="en-US" altLang="zh-HK" sz="4000" b="0" dirty="0">
                <a:solidFill>
                  <a:schemeClr val="accent5">
                    <a:lumMod val="75000"/>
                  </a:schemeClr>
                </a:solidFill>
              </a:rPr>
              <a:t>Results for Time-Accuracy Trade-off (ANN)</a:t>
            </a:r>
            <a:endParaRPr lang="en-US" b="0" dirty="0"/>
          </a:p>
        </p:txBody>
      </p:sp>
      <p:pic>
        <p:nvPicPr>
          <p:cNvPr id="5" name="Picture 4">
            <a:extLst>
              <a:ext uri="{FF2B5EF4-FFF2-40B4-BE49-F238E27FC236}">
                <a16:creationId xmlns:a16="http://schemas.microsoft.com/office/drawing/2014/main" id="{1C72692A-8098-765E-8D38-BE337065151A}"/>
              </a:ext>
            </a:extLst>
          </p:cNvPr>
          <p:cNvPicPr>
            <a:picLocks noChangeAspect="1"/>
          </p:cNvPicPr>
          <p:nvPr/>
        </p:nvPicPr>
        <p:blipFill>
          <a:blip r:embed="rId3"/>
          <a:stretch>
            <a:fillRect/>
          </a:stretch>
        </p:blipFill>
        <p:spPr>
          <a:xfrm>
            <a:off x="1418815" y="1178012"/>
            <a:ext cx="9354369" cy="5199929"/>
          </a:xfrm>
          <a:prstGeom prst="rect">
            <a:avLst/>
          </a:prstGeom>
        </p:spPr>
      </p:pic>
      <p:sp>
        <p:nvSpPr>
          <p:cNvPr id="8" name="Rectangle 7">
            <a:extLst>
              <a:ext uri="{FF2B5EF4-FFF2-40B4-BE49-F238E27FC236}">
                <a16:creationId xmlns:a16="http://schemas.microsoft.com/office/drawing/2014/main" id="{EF8CBDC9-9F92-EA14-E7BD-2DF00D901B04}"/>
              </a:ext>
            </a:extLst>
          </p:cNvPr>
          <p:cNvSpPr/>
          <p:nvPr/>
        </p:nvSpPr>
        <p:spPr>
          <a:xfrm>
            <a:off x="1396237" y="6112160"/>
            <a:ext cx="767643" cy="298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9385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F708-922C-3E1D-AA2F-8F66426FA7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E1FC2FF-0553-69E6-193E-7F8E3451BFF2}"/>
                  </a:ext>
                </a:extLst>
              </p:cNvPr>
              <p:cNvSpPr>
                <a:spLocks noGrp="1"/>
              </p:cNvSpPr>
              <p:nvPr>
                <p:ph idx="1"/>
              </p:nvPr>
            </p:nvSpPr>
            <p:spPr>
              <a:xfrm>
                <a:off x="838200" y="1178012"/>
                <a:ext cx="10515600" cy="1496842"/>
              </a:xfrm>
            </p:spPr>
            <p:txBody>
              <a:bodyPr>
                <a:normAutofit/>
              </a:bodyPr>
              <a:lstStyle/>
              <a:p>
                <a:r>
                  <a:rPr lang="en-US" sz="2400" dirty="0"/>
                  <a:t>We collect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7</m:t>
                        </m:r>
                      </m:sup>
                    </m:sSup>
                  </m:oMath>
                </a14:m>
                <a:r>
                  <a:rPr lang="en-US" sz="2400" dirty="0"/>
                  <a:t> pairs of the estimated squared distances and the true squared distances between the query and data vectors.</a:t>
                </a:r>
              </a:p>
              <a:p>
                <a:r>
                  <a:rPr lang="en-US" sz="2400" dirty="0"/>
                  <a:t>The results show that RaBitQ is unbiased and OPQ is biased.</a:t>
                </a:r>
              </a:p>
            </p:txBody>
          </p:sp>
        </mc:Choice>
        <mc:Fallback xmlns="">
          <p:sp>
            <p:nvSpPr>
              <p:cNvPr id="4" name="Content Placeholder 3">
                <a:extLst>
                  <a:ext uri="{FF2B5EF4-FFF2-40B4-BE49-F238E27FC236}">
                    <a16:creationId xmlns:a16="http://schemas.microsoft.com/office/drawing/2014/main" id="{3E1FC2FF-0553-69E6-193E-7F8E3451BFF2}"/>
                  </a:ext>
                </a:extLst>
              </p:cNvPr>
              <p:cNvSpPr>
                <a:spLocks noGrp="1" noRot="1" noChangeAspect="1" noMove="1" noResize="1" noEditPoints="1" noAdjustHandles="1" noChangeArrowheads="1" noChangeShapeType="1" noTextEdit="1"/>
              </p:cNvSpPr>
              <p:nvPr>
                <p:ph idx="1"/>
              </p:nvPr>
            </p:nvSpPr>
            <p:spPr>
              <a:xfrm>
                <a:off x="838200" y="1178012"/>
                <a:ext cx="10515600" cy="1496842"/>
              </a:xfrm>
              <a:blipFill>
                <a:blip r:embed="rId4"/>
                <a:stretch>
                  <a:fillRect l="-844" t="-5042"/>
                </a:stretch>
              </a:blipFill>
            </p:spPr>
            <p:txBody>
              <a:bodyPr/>
              <a:lstStyle/>
              <a:p>
                <a:r>
                  <a:rPr lang="en-US">
                    <a:noFill/>
                  </a:rPr>
                  <a:t> </a:t>
                </a:r>
              </a:p>
            </p:txBody>
          </p:sp>
        </mc:Fallback>
      </mc:AlternateContent>
      <p:pic>
        <p:nvPicPr>
          <p:cNvPr id="3" name="Picture 2" descr="A graph of a slope and gist&#10;&#10;Description automatically generated with medium confidence">
            <a:extLst>
              <a:ext uri="{FF2B5EF4-FFF2-40B4-BE49-F238E27FC236}">
                <a16:creationId xmlns:a16="http://schemas.microsoft.com/office/drawing/2014/main" id="{6EB96B15-C350-3AA4-50FB-5939268238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8400" y="2674854"/>
            <a:ext cx="7315200" cy="3657600"/>
          </a:xfrm>
          <a:prstGeom prst="rect">
            <a:avLst/>
          </a:prstGeom>
        </p:spPr>
      </p:pic>
      <p:sp>
        <p:nvSpPr>
          <p:cNvPr id="5" name="Title 1">
            <a:extLst>
              <a:ext uri="{FF2B5EF4-FFF2-40B4-BE49-F238E27FC236}">
                <a16:creationId xmlns:a16="http://schemas.microsoft.com/office/drawing/2014/main" id="{612D8540-C9ED-6909-34D7-CA2CE1DD37D6}"/>
              </a:ext>
            </a:extLst>
          </p:cNvPr>
          <p:cNvSpPr txBox="1">
            <a:spLocks/>
          </p:cNvSpPr>
          <p:nvPr/>
        </p:nvSpPr>
        <p:spPr>
          <a:xfrm>
            <a:off x="838200" y="470984"/>
            <a:ext cx="10515600" cy="73050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K" sz="4000" dirty="0">
                <a:solidFill>
                  <a:schemeClr val="accent5">
                    <a:lumMod val="75000"/>
                  </a:schemeClr>
                </a:solidFill>
              </a:rPr>
              <a:t>Results for Unbiasedness</a:t>
            </a:r>
            <a:endParaRPr lang="zh-HK" altLang="en-US" sz="4000" dirty="0">
              <a:solidFill>
                <a:schemeClr val="accent5">
                  <a:lumMod val="75000"/>
                </a:schemeClr>
              </a:solidFill>
            </a:endParaRPr>
          </a:p>
        </p:txBody>
      </p:sp>
    </p:spTree>
    <p:custDataLst>
      <p:tags r:id="rId1"/>
    </p:custDataLst>
    <p:extLst>
      <p:ext uri="{BB962C8B-B14F-4D97-AF65-F5344CB8AC3E}">
        <p14:creationId xmlns:p14="http://schemas.microsoft.com/office/powerpoint/2010/main" val="1728213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842C091C-9708-E407-2D82-39671C286E3E}"/>
              </a:ext>
            </a:extLst>
          </p:cNvPr>
          <p:cNvGraphicFramePr>
            <a:graphicFrameLocks noGrp="1"/>
          </p:cNvGraphicFramePr>
          <p:nvPr>
            <p:ph idx="1"/>
            <p:extLst>
              <p:ext uri="{D42A27DB-BD31-4B8C-83A1-F6EECF244321}">
                <p14:modId xmlns:p14="http://schemas.microsoft.com/office/powerpoint/2010/main" val="2024201846"/>
              </p:ext>
            </p:extLst>
          </p:nvPr>
        </p:nvGraphicFramePr>
        <p:xfrm>
          <a:off x="838200" y="1478280"/>
          <a:ext cx="10515597" cy="39014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698718886"/>
                    </a:ext>
                  </a:extLst>
                </a:gridCol>
                <a:gridCol w="3505199">
                  <a:extLst>
                    <a:ext uri="{9D8B030D-6E8A-4147-A177-3AD203B41FA5}">
                      <a16:colId xmlns:a16="http://schemas.microsoft.com/office/drawing/2014/main" val="3077884160"/>
                    </a:ext>
                  </a:extLst>
                </a:gridCol>
                <a:gridCol w="3505199">
                  <a:extLst>
                    <a:ext uri="{9D8B030D-6E8A-4147-A177-3AD203B41FA5}">
                      <a16:colId xmlns:a16="http://schemas.microsoft.com/office/drawing/2014/main" val="2755472796"/>
                    </a:ext>
                  </a:extLst>
                </a:gridCol>
              </a:tblGrid>
              <a:tr h="370840">
                <a:tc>
                  <a:txBody>
                    <a:bodyPr/>
                    <a:lstStyle/>
                    <a:p>
                      <a:pPr algn="l"/>
                      <a:endParaRPr lang="en-US" sz="2000" b="1" dirty="0"/>
                    </a:p>
                  </a:txBody>
                  <a:tcPr/>
                </a:tc>
                <a:tc>
                  <a:txBody>
                    <a:bodyPr/>
                    <a:lstStyle/>
                    <a:p>
                      <a:pPr algn="ctr"/>
                      <a:r>
                        <a:rPr lang="en-US" sz="2000" dirty="0" err="1"/>
                        <a:t>RaBitQ</a:t>
                      </a:r>
                      <a:r>
                        <a:rPr lang="en-US" sz="2000" dirty="0"/>
                        <a:t> (new)</a:t>
                      </a:r>
                    </a:p>
                  </a:txBody>
                  <a:tcPr/>
                </a:tc>
                <a:tc>
                  <a:txBody>
                    <a:bodyPr/>
                    <a:lstStyle/>
                    <a:p>
                      <a:pPr algn="ctr"/>
                      <a:r>
                        <a:rPr lang="en-US" sz="2000" dirty="0"/>
                        <a:t>PQ and its variants</a:t>
                      </a:r>
                    </a:p>
                  </a:txBody>
                  <a:tcPr/>
                </a:tc>
                <a:extLst>
                  <a:ext uri="{0D108BD9-81ED-4DB2-BD59-A6C34878D82A}">
                    <a16:rowId xmlns:a16="http://schemas.microsoft.com/office/drawing/2014/main" val="3151721807"/>
                  </a:ext>
                </a:extLst>
              </a:tr>
              <a:tr h="370840">
                <a:tc>
                  <a:txBody>
                    <a:bodyPr/>
                    <a:lstStyle/>
                    <a:p>
                      <a:pPr algn="l"/>
                      <a:r>
                        <a:rPr lang="en-US" sz="2000" b="1" dirty="0"/>
                        <a:t>Codebook</a:t>
                      </a:r>
                    </a:p>
                  </a:txBody>
                  <a:tcPr/>
                </a:tc>
                <a:tc>
                  <a:txBody>
                    <a:bodyPr/>
                    <a:lstStyle/>
                    <a:p>
                      <a:pPr algn="l"/>
                      <a:r>
                        <a:rPr lang="en-US" sz="2000" dirty="0"/>
                        <a:t>Randomly transformed bi-valued vectors.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Cartesian product of sub-codebooks.</a:t>
                      </a:r>
                    </a:p>
                  </a:txBody>
                  <a:tcPr/>
                </a:tc>
                <a:extLst>
                  <a:ext uri="{0D108BD9-81ED-4DB2-BD59-A6C34878D82A}">
                    <a16:rowId xmlns:a16="http://schemas.microsoft.com/office/drawing/2014/main" val="2844648443"/>
                  </a:ext>
                </a:extLst>
              </a:tr>
              <a:tr h="370840">
                <a:tc>
                  <a:txBody>
                    <a:bodyPr/>
                    <a:lstStyle/>
                    <a:p>
                      <a:pPr algn="l"/>
                      <a:r>
                        <a:rPr lang="en-US" sz="2000" b="1" dirty="0"/>
                        <a:t>Quantization Code</a:t>
                      </a:r>
                    </a:p>
                  </a:txBody>
                  <a:tcPr/>
                </a:tc>
                <a:tc>
                  <a:txBody>
                    <a:bodyPr/>
                    <a:lstStyle/>
                    <a:p>
                      <a:pPr algn="l"/>
                      <a:r>
                        <a:rPr lang="en-US" sz="2000" dirty="0"/>
                        <a:t>A length-D bit string.</a:t>
                      </a:r>
                    </a:p>
                  </a:txBody>
                  <a:tcPr/>
                </a:tc>
                <a:tc>
                  <a:txBody>
                    <a:bodyPr/>
                    <a:lstStyle/>
                    <a:p>
                      <a:pPr algn="l"/>
                      <a:r>
                        <a:rPr lang="en-US" sz="2000" dirty="0"/>
                        <a:t>A sequence of 4-bit/8-bit unsigned integers.</a:t>
                      </a:r>
                    </a:p>
                  </a:txBody>
                  <a:tcPr/>
                </a:tc>
                <a:extLst>
                  <a:ext uri="{0D108BD9-81ED-4DB2-BD59-A6C34878D82A}">
                    <a16:rowId xmlns:a16="http://schemas.microsoft.com/office/drawing/2014/main" val="1495996392"/>
                  </a:ext>
                </a:extLst>
              </a:tr>
              <a:tr h="370840">
                <a:tc>
                  <a:txBody>
                    <a:bodyPr/>
                    <a:lstStyle/>
                    <a:p>
                      <a:pPr algn="l"/>
                      <a:r>
                        <a:rPr lang="en-US" sz="2000" b="1" dirty="0">
                          <a:solidFill>
                            <a:srgbClr val="0000FF"/>
                          </a:solidFill>
                        </a:rPr>
                        <a:t>Distance Estimator</a:t>
                      </a:r>
                    </a:p>
                  </a:txBody>
                  <a:tcPr/>
                </a:tc>
                <a:tc>
                  <a:txBody>
                    <a:bodyPr/>
                    <a:lstStyle/>
                    <a:p>
                      <a:pPr algn="l"/>
                      <a:r>
                        <a:rPr lang="en-US" sz="2000" dirty="0">
                          <a:solidFill>
                            <a:srgbClr val="0000FF"/>
                          </a:solidFill>
                        </a:rPr>
                        <a:t>Unbiased and provides an asymptotically optimal error bound.</a:t>
                      </a:r>
                    </a:p>
                  </a:txBody>
                  <a:tcPr/>
                </a:tc>
                <a:tc>
                  <a:txBody>
                    <a:bodyPr/>
                    <a:lstStyle/>
                    <a:p>
                      <a:pPr algn="l"/>
                      <a:r>
                        <a:rPr lang="en-US" sz="2000" dirty="0">
                          <a:solidFill>
                            <a:srgbClr val="0000FF"/>
                          </a:solidFill>
                        </a:rPr>
                        <a:t>Biased and provide no error bound.</a:t>
                      </a:r>
                    </a:p>
                    <a:p>
                      <a:pPr algn="l"/>
                      <a:endParaRPr lang="en-US" sz="2000" dirty="0">
                        <a:solidFill>
                          <a:srgbClr val="0000FF"/>
                        </a:solidFill>
                      </a:endParaRPr>
                    </a:p>
                  </a:txBody>
                  <a:tcPr/>
                </a:tc>
                <a:extLst>
                  <a:ext uri="{0D108BD9-81ED-4DB2-BD59-A6C34878D82A}">
                    <a16:rowId xmlns:a16="http://schemas.microsoft.com/office/drawing/2014/main" val="920039483"/>
                  </a:ext>
                </a:extLst>
              </a:tr>
              <a:tr h="370840">
                <a:tc>
                  <a:txBody>
                    <a:bodyPr/>
                    <a:lstStyle/>
                    <a:p>
                      <a:pPr algn="l"/>
                      <a:r>
                        <a:rPr lang="en-US" sz="2000" b="1" dirty="0">
                          <a:solidFill>
                            <a:srgbClr val="0000FF"/>
                          </a:solidFill>
                        </a:rPr>
                        <a:t>Implementation (single)</a:t>
                      </a:r>
                    </a:p>
                  </a:txBody>
                  <a:tcPr/>
                </a:tc>
                <a:tc>
                  <a:txBody>
                    <a:bodyPr/>
                    <a:lstStyle/>
                    <a:p>
                      <a:pPr algn="l"/>
                      <a:r>
                        <a:rPr lang="en-US" sz="2000" dirty="0">
                          <a:solidFill>
                            <a:srgbClr val="0000FF"/>
                          </a:solidFill>
                        </a:rPr>
                        <a:t>Bitwise operations. </a:t>
                      </a:r>
                      <a:r>
                        <a:rPr lang="en-US" sz="2000" dirty="0">
                          <a:solidFill>
                            <a:srgbClr val="0000FF"/>
                          </a:solidFill>
                          <a:sym typeface="Wingdings" panose="05000000000000000000" pitchFamily="2" charset="2"/>
                        </a:rPr>
                        <a:t></a:t>
                      </a:r>
                      <a:endParaRPr lang="en-US" sz="2000" dirty="0">
                        <a:solidFill>
                          <a:srgbClr val="0000FF"/>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00FF"/>
                          </a:solidFill>
                        </a:rPr>
                        <a:t>Looking up tables in RAM. </a:t>
                      </a:r>
                      <a:r>
                        <a:rPr lang="en-US" sz="2000" dirty="0">
                          <a:solidFill>
                            <a:srgbClr val="0000FF"/>
                          </a:solidFill>
                          <a:sym typeface="Wingdings" panose="05000000000000000000" pitchFamily="2" charset="2"/>
                        </a:rPr>
                        <a:t></a:t>
                      </a:r>
                      <a:endParaRPr lang="en-US" sz="2000" dirty="0">
                        <a:solidFill>
                          <a:srgbClr val="0000FF"/>
                        </a:solidFill>
                      </a:endParaRPr>
                    </a:p>
                  </a:txBody>
                  <a:tcPr/>
                </a:tc>
                <a:extLst>
                  <a:ext uri="{0D108BD9-81ED-4DB2-BD59-A6C34878D82A}">
                    <a16:rowId xmlns:a16="http://schemas.microsoft.com/office/drawing/2014/main" val="1082867632"/>
                  </a:ext>
                </a:extLst>
              </a:tr>
              <a:tr h="370840">
                <a:tc>
                  <a:txBody>
                    <a:bodyPr/>
                    <a:lstStyle/>
                    <a:p>
                      <a:pPr algn="l"/>
                      <a:r>
                        <a:rPr lang="en-US" sz="2000" b="1" dirty="0">
                          <a:solidFill>
                            <a:srgbClr val="0000FF"/>
                          </a:solidFill>
                        </a:rPr>
                        <a:t>Implementation (batch)</a:t>
                      </a:r>
                    </a:p>
                  </a:txBody>
                  <a:tcPr/>
                </a:tc>
                <a:tc>
                  <a:txBody>
                    <a:bodyPr/>
                    <a:lstStyle/>
                    <a:p>
                      <a:pPr algn="l"/>
                      <a:r>
                        <a:rPr lang="en-US" sz="2000" dirty="0">
                          <a:solidFill>
                            <a:srgbClr val="0000FF"/>
                          </a:solidFill>
                        </a:rPr>
                        <a:t>Fast SIMD-based operations.</a:t>
                      </a:r>
                      <a:r>
                        <a:rPr lang="en-US" sz="2000" dirty="0">
                          <a:solidFill>
                            <a:srgbClr val="0000FF"/>
                          </a:solidFill>
                          <a:sym typeface="Wingdings" panose="05000000000000000000" pitchFamily="2" charset="2"/>
                        </a:rPr>
                        <a:t> </a:t>
                      </a:r>
                      <a:endParaRPr lang="en-US" sz="2000" dirty="0">
                        <a:solidFill>
                          <a:srgbClr val="0000FF"/>
                        </a:solidFill>
                      </a:endParaRPr>
                    </a:p>
                  </a:txBody>
                  <a:tcPr/>
                </a:tc>
                <a:tc>
                  <a:txBody>
                    <a:bodyPr/>
                    <a:lstStyle/>
                    <a:p>
                      <a:pPr algn="l"/>
                      <a:r>
                        <a:rPr lang="en-US" sz="2000" dirty="0">
                          <a:solidFill>
                            <a:srgbClr val="0000FF"/>
                          </a:solidFill>
                        </a:rPr>
                        <a:t>Fast SIMD-based operations.</a:t>
                      </a:r>
                      <a:r>
                        <a:rPr lang="en-US" sz="2000" dirty="0">
                          <a:solidFill>
                            <a:srgbClr val="0000FF"/>
                          </a:solidFill>
                          <a:sym typeface="Wingdings" panose="05000000000000000000" pitchFamily="2" charset="2"/>
                        </a:rPr>
                        <a:t> </a:t>
                      </a:r>
                      <a:endParaRPr lang="en-US" sz="2000" dirty="0">
                        <a:solidFill>
                          <a:srgbClr val="0000FF"/>
                        </a:solidFill>
                      </a:endParaRPr>
                    </a:p>
                  </a:txBody>
                  <a:tcPr/>
                </a:tc>
                <a:extLst>
                  <a:ext uri="{0D108BD9-81ED-4DB2-BD59-A6C34878D82A}">
                    <a16:rowId xmlns:a16="http://schemas.microsoft.com/office/drawing/2014/main" val="1650328948"/>
                  </a:ext>
                </a:extLst>
              </a:tr>
            </a:tbl>
          </a:graphicData>
        </a:graphic>
      </p:graphicFrame>
      <p:sp>
        <p:nvSpPr>
          <p:cNvPr id="5" name="Title 4">
            <a:extLst>
              <a:ext uri="{FF2B5EF4-FFF2-40B4-BE49-F238E27FC236}">
                <a16:creationId xmlns:a16="http://schemas.microsoft.com/office/drawing/2014/main" id="{91A62118-77A4-9F54-F2A9-996E2C5E667E}"/>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4136209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95F82F-0E71-FF3E-7C97-AAF89C2A2CFB}"/>
              </a:ext>
            </a:extLst>
          </p:cNvPr>
          <p:cNvSpPr>
            <a:spLocks noGrp="1"/>
          </p:cNvSpPr>
          <p:nvPr>
            <p:ph idx="1"/>
          </p:nvPr>
        </p:nvSpPr>
        <p:spPr>
          <a:xfrm>
            <a:off x="838200" y="1621515"/>
            <a:ext cx="10515600" cy="3614970"/>
          </a:xfrm>
        </p:spPr>
        <p:txBody>
          <a:bodyPr>
            <a:normAutofit/>
          </a:bodyPr>
          <a:lstStyle/>
          <a:p>
            <a:endParaRPr lang="en-SG" dirty="0"/>
          </a:p>
          <a:p>
            <a:r>
              <a:rPr lang="en-US" altLang="zh-CN" dirty="0"/>
              <a:t>ANN with </a:t>
            </a:r>
            <a:r>
              <a:rPr lang="en-SG" dirty="0"/>
              <a:t>Efficient and Reliable Distance Comparisons (SIGMOD’23)</a:t>
            </a:r>
          </a:p>
          <a:p>
            <a:endParaRPr lang="en-US" altLang="zh-CN" dirty="0"/>
          </a:p>
          <a:p>
            <a:r>
              <a:rPr lang="en-US" altLang="zh-CN" dirty="0"/>
              <a:t>ANN with </a:t>
            </a:r>
            <a:r>
              <a:rPr lang="en-SG" dirty="0"/>
              <a:t>Efficient and Reliable Distance Estimation (SIGMOD’2</a:t>
            </a:r>
            <a:r>
              <a:rPr lang="en-US" altLang="zh-CN" dirty="0"/>
              <a:t>4</a:t>
            </a:r>
            <a:r>
              <a:rPr lang="en-SG" dirty="0"/>
              <a:t>)</a:t>
            </a:r>
          </a:p>
          <a:p>
            <a:endParaRPr lang="en-SG" dirty="0"/>
          </a:p>
          <a:p>
            <a:r>
              <a:rPr lang="en-SG" b="1" dirty="0">
                <a:solidFill>
                  <a:srgbClr val="0000FF"/>
                </a:solidFill>
              </a:rPr>
              <a:t>Practical and Asymptotically Optimal Quantization (Preprint)</a:t>
            </a:r>
          </a:p>
        </p:txBody>
      </p:sp>
      <p:sp>
        <p:nvSpPr>
          <p:cNvPr id="5" name="Title 4">
            <a:extLst>
              <a:ext uri="{FF2B5EF4-FFF2-40B4-BE49-F238E27FC236}">
                <a16:creationId xmlns:a16="http://schemas.microsoft.com/office/drawing/2014/main" id="{9223E659-FE86-7077-301A-AEEF81266172}"/>
              </a:ext>
            </a:extLst>
          </p:cNvPr>
          <p:cNvSpPr>
            <a:spLocks noGrp="1"/>
          </p:cNvSpPr>
          <p:nvPr>
            <p:ph type="title"/>
          </p:nvPr>
        </p:nvSpPr>
        <p:spPr/>
        <p:txBody>
          <a:bodyPr/>
          <a:lstStyle/>
          <a:p>
            <a:r>
              <a:rPr lang="en-US" altLang="zh-CN" dirty="0"/>
              <a:t>Outline</a:t>
            </a:r>
            <a:endParaRPr lang="en-SG" dirty="0"/>
          </a:p>
        </p:txBody>
      </p:sp>
    </p:spTree>
    <p:extLst>
      <p:ext uri="{BB962C8B-B14F-4D97-AF65-F5344CB8AC3E}">
        <p14:creationId xmlns:p14="http://schemas.microsoft.com/office/powerpoint/2010/main" val="2063365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lstStyle/>
          <a:p>
            <a:r>
              <a:rPr lang="en-US" altLang="zh-HK" dirty="0"/>
              <a:t>Limitation of RaBitQ</a:t>
            </a:r>
            <a:endParaRPr lang="zh-HK" altLang="en-US"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33</a:t>
            </a:fld>
            <a:endParaRPr lang="en-US"/>
          </a:p>
        </p:txBody>
      </p:sp>
      <p:sp>
        <p:nvSpPr>
          <p:cNvPr id="10" name="文本占位符 44">
            <a:extLst>
              <a:ext uri="{FF2B5EF4-FFF2-40B4-BE49-F238E27FC236}">
                <a16:creationId xmlns:a16="http://schemas.microsoft.com/office/drawing/2014/main" id="{2E87BF06-D9ED-C1E6-52AB-96949C36558B}"/>
              </a:ext>
            </a:extLst>
          </p:cNvPr>
          <p:cNvSpPr txBox="1">
            <a:spLocks/>
          </p:cNvSpPr>
          <p:nvPr/>
        </p:nvSpPr>
        <p:spPr>
          <a:xfrm>
            <a:off x="677510" y="1924950"/>
            <a:ext cx="10836965" cy="3514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RaBitQ only supports to compress vectors with a large compression rate (32x). </a:t>
            </a:r>
          </a:p>
          <a:p>
            <a:pPr marL="285750" indent="-285750">
              <a:buFont typeface="Wingdings" panose="05000000000000000000" pitchFamily="2" charset="2"/>
              <a:buChar char="Ø"/>
            </a:pPr>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However, aggressive compression with 32x compression rate only produces poor recall without re-ranking (e.g., cannot stably exceed 80%).</a:t>
            </a:r>
          </a:p>
          <a:p>
            <a:pPr marL="285750" indent="-285750">
              <a:buFont typeface="Wingdings" panose="05000000000000000000" pitchFamily="2" charset="2"/>
              <a:buChar char="Ø"/>
            </a:pPr>
            <a:endParaRPr lang="en-US" altLang="zh-CN" sz="24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To produce reasonable recall without re-ranking, it is necessary to compress the vectors moderately.</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If re-ranking is applied, an algorithm must store the raw vectors in RAM or access them on disks. The former fails to reduce memory consumption. The latter non-trivially decreases the efficiency.</a:t>
            </a:r>
          </a:p>
          <a:p>
            <a:pPr marL="914400" lvl="2" indent="0">
              <a:buNone/>
            </a:pP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p:txBody>
      </p:sp>
      <p:sp>
        <p:nvSpPr>
          <p:cNvPr id="7" name="TextBox 6">
            <a:extLst>
              <a:ext uri="{FF2B5EF4-FFF2-40B4-BE49-F238E27FC236}">
                <a16:creationId xmlns:a16="http://schemas.microsoft.com/office/drawing/2014/main" id="{13F48A94-111B-965E-3346-818877222504}"/>
              </a:ext>
            </a:extLst>
          </p:cNvPr>
          <p:cNvSpPr txBox="1"/>
          <p:nvPr/>
        </p:nvSpPr>
        <p:spPr>
          <a:xfrm>
            <a:off x="330731" y="5700109"/>
            <a:ext cx="11530521" cy="461665"/>
          </a:xfrm>
          <a:prstGeom prst="rect">
            <a:avLst/>
          </a:prstGeom>
          <a:noFill/>
        </p:spPr>
        <p:txBody>
          <a:bodyPr wrap="square" rtlCol="0">
            <a:spAutoFit/>
          </a:bodyPr>
          <a:lstStyle/>
          <a:p>
            <a:pPr algn="ctr"/>
            <a:r>
              <a:rPr lang="en-US" sz="2400" dirty="0">
                <a:solidFill>
                  <a:srgbClr val="FF0000"/>
                </a:solidFill>
              </a:rPr>
              <a:t>How to support moderate compression rates and keep promising performance?</a:t>
            </a:r>
          </a:p>
        </p:txBody>
      </p:sp>
    </p:spTree>
    <p:custDataLst>
      <p:tags r:id="rId1"/>
    </p:custDataLst>
    <p:extLst>
      <p:ext uri="{BB962C8B-B14F-4D97-AF65-F5344CB8AC3E}">
        <p14:creationId xmlns:p14="http://schemas.microsoft.com/office/powerpoint/2010/main" val="1268047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lstStyle/>
          <a:p>
            <a:r>
              <a:rPr lang="en-US" altLang="zh-HK" dirty="0"/>
              <a:t>Naïve Extension: Padding</a:t>
            </a:r>
            <a:endParaRPr lang="zh-HK" altLang="en-US"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34</a:t>
            </a:fld>
            <a:endParaRPr lang="en-US"/>
          </a:p>
        </p:txBody>
      </p:sp>
      <p:pic>
        <p:nvPicPr>
          <p:cNvPr id="3" name="Picture 2" descr="A math equations with black text&#10;&#10;Description automatically generated with medium confidence">
            <a:extLst>
              <a:ext uri="{FF2B5EF4-FFF2-40B4-BE49-F238E27FC236}">
                <a16:creationId xmlns:a16="http://schemas.microsoft.com/office/drawing/2014/main" id="{7FC4536F-238A-3CE1-7432-F37F4F97A2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3469" y="1308366"/>
            <a:ext cx="6445060" cy="381579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7A908E5-AF5C-F6F6-4EF6-528F1809360F}"/>
                  </a:ext>
                </a:extLst>
              </p:cNvPr>
              <p:cNvSpPr txBox="1"/>
              <p:nvPr/>
            </p:nvSpPr>
            <p:spPr>
              <a:xfrm>
                <a:off x="330738" y="5274735"/>
                <a:ext cx="11530521" cy="1030410"/>
              </a:xfrm>
              <a:prstGeom prst="rect">
                <a:avLst/>
              </a:prstGeom>
              <a:noFill/>
            </p:spPr>
            <p:txBody>
              <a:bodyPr wrap="square" rtlCol="0">
                <a:spAutoFit/>
              </a:bodyPr>
              <a:lstStyle/>
              <a:p>
                <a:pPr algn="ctr"/>
                <a:r>
                  <a:rPr lang="en-US" sz="2400" dirty="0">
                    <a:solidFill>
                      <a:srgbClr val="FF0000"/>
                    </a:solidFill>
                  </a:rPr>
                  <a:t>The error decays slowly with respect to the used number of bits.</a:t>
                </a:r>
              </a:p>
              <a:p>
                <a:pPr algn="ctr"/>
                <a:r>
                  <a:rPr lang="en-US" sz="2400" dirty="0">
                    <a:solidFill>
                      <a:srgbClr val="FF0000"/>
                    </a:solidFill>
                  </a:rPr>
                  <a:t>Example: </a:t>
                </a:r>
                <a14:m>
                  <m:oMath xmlns:m="http://schemas.openxmlformats.org/officeDocument/2006/math">
                    <m:r>
                      <a:rPr lang="en-US" sz="2400" b="0" i="1" smtClean="0">
                        <a:solidFill>
                          <a:srgbClr val="FF0000"/>
                        </a:solidFill>
                        <a:latin typeface="Cambria Math" panose="02040503050406030204" pitchFamily="18" charset="0"/>
                      </a:rPr>
                      <m:t>32</m:t>
                    </m:r>
                    <m:r>
                      <a:rPr lang="en-US" sz="2400" b="0" i="1" smtClean="0">
                        <a:solidFill>
                          <a:srgbClr val="FF0000"/>
                        </a:solidFill>
                        <a:latin typeface="Cambria Math" panose="02040503050406030204" pitchFamily="18" charset="0"/>
                      </a:rPr>
                      <m:t>𝐷</m:t>
                    </m:r>
                  </m:oMath>
                </a14:m>
                <a:r>
                  <a:rPr lang="en-US" sz="2400" dirty="0">
                    <a:solidFill>
                      <a:srgbClr val="FF0000"/>
                    </a:solidFill>
                  </a:rPr>
                  <a:t> bits only guarantee the error of </a:t>
                </a:r>
                <a14:m>
                  <m:oMath xmlns:m="http://schemas.openxmlformats.org/officeDocument/2006/math">
                    <m:r>
                      <m:rPr>
                        <m:sty m:val="p"/>
                      </m:rPr>
                      <a:rPr lang="en-US" sz="2400" b="0" i="0" smtClean="0">
                        <a:solidFill>
                          <a:srgbClr val="FF0000"/>
                        </a:solidFill>
                        <a:latin typeface="Cambria Math" panose="02040503050406030204" pitchFamily="18" charset="0"/>
                      </a:rPr>
                      <m:t>O</m:t>
                    </m:r>
                    <m:d>
                      <m:dPr>
                        <m:ctrlPr>
                          <a:rPr lang="en-US" sz="2400" b="0" i="1" smtClean="0">
                            <a:solidFill>
                              <a:srgbClr val="FF0000"/>
                            </a:solidFill>
                            <a:latin typeface="Cambria Math" panose="02040503050406030204" pitchFamily="18" charset="0"/>
                          </a:rPr>
                        </m:ctrlPr>
                      </m:dPr>
                      <m:e>
                        <m:f>
                          <m:fPr>
                            <m:ctrlPr>
                              <a:rPr lang="en-US" sz="2400" b="0" i="1" smtClean="0">
                                <a:solidFill>
                                  <a:srgbClr val="FF0000"/>
                                </a:solidFill>
                                <a:latin typeface="Cambria Math" panose="02040503050406030204" pitchFamily="18" charset="0"/>
                              </a:rPr>
                            </m:ctrlPr>
                          </m:fPr>
                          <m:num>
                            <m:r>
                              <a:rPr lang="en-US" sz="2400" b="0" i="0" smtClean="0">
                                <a:solidFill>
                                  <a:srgbClr val="FF0000"/>
                                </a:solidFill>
                                <a:latin typeface="Cambria Math" panose="02040503050406030204" pitchFamily="18" charset="0"/>
                              </a:rPr>
                              <m:t>1</m:t>
                            </m:r>
                          </m:num>
                          <m:den>
                            <m:rad>
                              <m:radPr>
                                <m:degHide m:val="on"/>
                                <m:ctrlPr>
                                  <a:rPr lang="en-US" sz="2400" b="0" i="1" smtClean="0">
                                    <a:solidFill>
                                      <a:srgbClr val="FF0000"/>
                                    </a:solidFill>
                                    <a:latin typeface="Cambria Math" panose="02040503050406030204" pitchFamily="18" charset="0"/>
                                  </a:rPr>
                                </m:ctrlPr>
                              </m:radPr>
                              <m:deg/>
                              <m:e>
                                <m:r>
                                  <a:rPr lang="en-US" sz="2400" i="1">
                                    <a:solidFill>
                                      <a:srgbClr val="FF0000"/>
                                    </a:solidFill>
                                    <a:latin typeface="Cambria Math" panose="02040503050406030204" pitchFamily="18" charset="0"/>
                                  </a:rPr>
                                  <m:t>32</m:t>
                                </m:r>
                                <m:r>
                                  <a:rPr lang="en-US" sz="2400" i="1">
                                    <a:solidFill>
                                      <a:srgbClr val="FF0000"/>
                                    </a:solidFill>
                                    <a:latin typeface="Cambria Math" panose="02040503050406030204" pitchFamily="18" charset="0"/>
                                  </a:rPr>
                                  <m:t>𝐷</m:t>
                                </m:r>
                              </m:e>
                            </m:rad>
                          </m:den>
                        </m:f>
                      </m:e>
                    </m:d>
                  </m:oMath>
                </a14:m>
                <a:r>
                  <a:rPr lang="en-US" sz="2400" dirty="0">
                    <a:solidFill>
                      <a:srgbClr val="FF0000"/>
                    </a:solidFill>
                  </a:rPr>
                  <a:t>.</a:t>
                </a:r>
              </a:p>
            </p:txBody>
          </p:sp>
        </mc:Choice>
        <mc:Fallback xmlns="">
          <p:sp>
            <p:nvSpPr>
              <p:cNvPr id="5" name="TextBox 4">
                <a:extLst>
                  <a:ext uri="{FF2B5EF4-FFF2-40B4-BE49-F238E27FC236}">
                    <a16:creationId xmlns:a16="http://schemas.microsoft.com/office/drawing/2014/main" id="{47A908E5-AF5C-F6F6-4EF6-528F1809360F}"/>
                  </a:ext>
                </a:extLst>
              </p:cNvPr>
              <p:cNvSpPr txBox="1">
                <a:spLocks noRot="1" noChangeAspect="1" noMove="1" noResize="1" noEditPoints="1" noAdjustHandles="1" noChangeArrowheads="1" noChangeShapeType="1" noTextEdit="1"/>
              </p:cNvSpPr>
              <p:nvPr/>
            </p:nvSpPr>
            <p:spPr>
              <a:xfrm>
                <a:off x="330738" y="5274735"/>
                <a:ext cx="11530521" cy="1030410"/>
              </a:xfrm>
              <a:prstGeom prst="rect">
                <a:avLst/>
              </a:prstGeom>
              <a:blipFill>
                <a:blip r:embed="rId5"/>
                <a:stretch>
                  <a:fillRect t="-4878" b="-2439"/>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66317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rmAutofit/>
          </a:bodyPr>
          <a:lstStyle/>
          <a:p>
            <a:r>
              <a:rPr lang="en-US" altLang="zh-HK" dirty="0"/>
              <a:t>Advanced Extension: New Codebook</a:t>
            </a:r>
            <a:endParaRPr lang="zh-HK" altLang="en-US"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35</a:t>
            </a:fld>
            <a:endParaRPr lang="en-US"/>
          </a:p>
        </p:txBody>
      </p:sp>
      <mc:AlternateContent xmlns:mc="http://schemas.openxmlformats.org/markup-compatibility/2006" xmlns:a14="http://schemas.microsoft.com/office/drawing/2010/main">
        <mc:Choice Requires="a14">
          <p:sp>
            <p:nvSpPr>
              <p:cNvPr id="10" name="文本占位符 44">
                <a:extLst>
                  <a:ext uri="{FF2B5EF4-FFF2-40B4-BE49-F238E27FC236}">
                    <a16:creationId xmlns:a16="http://schemas.microsoft.com/office/drawing/2014/main" id="{2E87BF06-D9ED-C1E6-52AB-96949C36558B}"/>
                  </a:ext>
                </a:extLst>
              </p:cNvPr>
              <p:cNvSpPr txBox="1">
                <a:spLocks/>
              </p:cNvSpPr>
              <p:nvPr/>
            </p:nvSpPr>
            <p:spPr>
              <a:xfrm>
                <a:off x="677508" y="1628067"/>
                <a:ext cx="10836965" cy="30080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The naïve extension ignores that the vectors can be hosted in </a:t>
                </a:r>
                <a14:m>
                  <m:oMath xmlns:m="http://schemas.openxmlformats.org/officeDocument/2006/math">
                    <m:r>
                      <a:rPr lang="en-US" altLang="zh-CN" sz="2400" b="0" i="1" smtClean="0">
                        <a:latin typeface="Cambria Math" panose="02040503050406030204" pitchFamily="18" charset="0"/>
                        <a:ea typeface="Microsoft YaHei" panose="020B0503020204020204" pitchFamily="34" charset="-122"/>
                        <a:cs typeface="Calibri" panose="020F0502020204030204" pitchFamily="34" charset="0"/>
                      </a:rPr>
                      <m:t>𝐷</m:t>
                    </m:r>
                  </m:oMath>
                </a14:m>
                <a:r>
                  <a:rPr lang="en-US" altLang="zh-CN" sz="2400" dirty="0">
                    <a:latin typeface="Calibri" panose="020F0502020204030204" pitchFamily="34" charset="0"/>
                    <a:ea typeface="Microsoft YaHei" panose="020B0503020204020204" pitchFamily="34" charset="-122"/>
                    <a:cs typeface="Calibri" panose="020F0502020204030204" pitchFamily="34" charset="0"/>
                  </a:rPr>
                  <a:t> dimensional space.</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It instead hosts the vectors in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𝐷</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dimensional space for further processing. </a:t>
                </a:r>
              </a:p>
              <a:p>
                <a:pPr marL="742950" lvl="1"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To overcome this limitation, the idea is to construct a new codebook with </a:t>
                </a:r>
                <a14:m>
                  <m:oMath xmlns:m="http://schemas.openxmlformats.org/officeDocument/2006/math">
                    <m:sSup>
                      <m:sSupPr>
                        <m:ctrlP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ctrlPr>
                      </m:sSupPr>
                      <m:e>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2</m:t>
                        </m:r>
                      </m:e>
                      <m:sup>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m:t>
                        </m:r>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𝐷</m:t>
                        </m:r>
                      </m:sup>
                    </m:sSup>
                  </m:oMath>
                </a14:m>
                <a:r>
                  <a:rPr lang="en-US" altLang="zh-CN" sz="2200" dirty="0">
                    <a:latin typeface="Calibri" panose="020F0502020204030204" pitchFamily="34" charset="0"/>
                    <a:ea typeface="Microsoft YaHei" panose="020B0503020204020204" pitchFamily="34" charset="-122"/>
                    <a:cs typeface="Calibri" panose="020F0502020204030204" pitchFamily="34" charset="0"/>
                  </a:rPr>
                  <a:t> vectors in the </a:t>
                </a:r>
                <a14:m>
                  <m:oMath xmlns:m="http://schemas.openxmlformats.org/officeDocument/2006/math">
                    <m:r>
                      <a:rPr lang="en-US" altLang="zh-CN" sz="2200" b="0" i="1" smtClean="0">
                        <a:latin typeface="Cambria Math" panose="02040503050406030204" pitchFamily="18" charset="0"/>
                        <a:ea typeface="Microsoft YaHei" panose="020B0503020204020204" pitchFamily="34" charset="-122"/>
                        <a:cs typeface="Calibri" panose="020F0502020204030204" pitchFamily="34" charset="0"/>
                      </a:rPr>
                      <m:t>𝐷</m:t>
                    </m:r>
                  </m:oMath>
                </a14:m>
                <a:r>
                  <a:rPr lang="en-US" altLang="zh-CN" sz="2200" dirty="0">
                    <a:latin typeface="Calibri" panose="020F0502020204030204" pitchFamily="34" charset="0"/>
                    <a:ea typeface="Microsoft YaHei" panose="020B0503020204020204" pitchFamily="34" charset="-122"/>
                    <a:cs typeface="Calibri" panose="020F0502020204030204" pitchFamily="34" charset="0"/>
                  </a:rPr>
                  <a:t>-dimensional space.</a:t>
                </a: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(Challenge 1) Keeping the Guarantees</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The guarantee holds on condition that the codebook is formed of randomly rotated unit vectors.</a:t>
                </a: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(Challenge 2) Supporting Efficient Computation</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It would be desirable if the inner product/distance can be computed without decompressing the vectors.</a:t>
                </a: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10" name="文本占位符 44">
                <a:extLst>
                  <a:ext uri="{FF2B5EF4-FFF2-40B4-BE49-F238E27FC236}">
                    <a16:creationId xmlns:a16="http://schemas.microsoft.com/office/drawing/2014/main" id="{2E87BF06-D9ED-C1E6-52AB-96949C36558B}"/>
                  </a:ext>
                </a:extLst>
              </p:cNvPr>
              <p:cNvSpPr txBox="1">
                <a:spLocks noRot="1" noChangeAspect="1" noMove="1" noResize="1" noEditPoints="1" noAdjustHandles="1" noChangeArrowheads="1" noChangeShapeType="1" noTextEdit="1"/>
              </p:cNvSpPr>
              <p:nvPr/>
            </p:nvSpPr>
            <p:spPr>
              <a:xfrm>
                <a:off x="677508" y="1628067"/>
                <a:ext cx="10836965" cy="3008099"/>
              </a:xfrm>
              <a:prstGeom prst="rect">
                <a:avLst/>
              </a:prstGeom>
              <a:blipFill>
                <a:blip r:embed="rId4"/>
                <a:stretch>
                  <a:fillRect l="-703" t="-2521" b="-2563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77037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rmAutofit/>
          </a:bodyPr>
          <a:lstStyle/>
          <a:p>
            <a:r>
              <a:rPr lang="en-US" altLang="zh-HK" dirty="0"/>
              <a:t>New Codebook: Normalizing Uniform Grids</a:t>
            </a:r>
            <a:endParaRPr lang="zh-HK" altLang="en-US"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36</a:t>
            </a:fld>
            <a:endParaRPr lang="en-US"/>
          </a:p>
        </p:txBody>
      </p:sp>
      <p:pic>
        <p:nvPicPr>
          <p:cNvPr id="3" name="Picture 2">
            <a:extLst>
              <a:ext uri="{FF2B5EF4-FFF2-40B4-BE49-F238E27FC236}">
                <a16:creationId xmlns:a16="http://schemas.microsoft.com/office/drawing/2014/main" id="{A577E957-2AEF-64C0-08FC-4C3DF31076A0}"/>
              </a:ext>
            </a:extLst>
          </p:cNvPr>
          <p:cNvPicPr>
            <a:picLocks noChangeAspect="1"/>
          </p:cNvPicPr>
          <p:nvPr/>
        </p:nvPicPr>
        <p:blipFill>
          <a:blip r:embed="rId4"/>
          <a:stretch>
            <a:fillRect/>
          </a:stretch>
        </p:blipFill>
        <p:spPr>
          <a:xfrm>
            <a:off x="5723884" y="1095632"/>
            <a:ext cx="6006797" cy="2948791"/>
          </a:xfrm>
          <a:prstGeom prst="rect">
            <a:avLst/>
          </a:prstGeom>
          <a:ln>
            <a:solidFill>
              <a:schemeClr val="tx1"/>
            </a:solidFill>
          </a:ln>
        </p:spPr>
      </p:pic>
      <p:pic>
        <p:nvPicPr>
          <p:cNvPr id="5" name="Picture 4">
            <a:extLst>
              <a:ext uri="{FF2B5EF4-FFF2-40B4-BE49-F238E27FC236}">
                <a16:creationId xmlns:a16="http://schemas.microsoft.com/office/drawing/2014/main" id="{3CBE9024-1C50-E44C-6185-7A9C97EAF64F}"/>
              </a:ext>
            </a:extLst>
          </p:cNvPr>
          <p:cNvPicPr>
            <a:picLocks noChangeAspect="1"/>
          </p:cNvPicPr>
          <p:nvPr/>
        </p:nvPicPr>
        <p:blipFill>
          <a:blip r:embed="rId5"/>
          <a:stretch>
            <a:fillRect/>
          </a:stretch>
        </p:blipFill>
        <p:spPr>
          <a:xfrm>
            <a:off x="461319" y="1786084"/>
            <a:ext cx="4955965" cy="1567887"/>
          </a:xfrm>
          <a:prstGeom prst="rect">
            <a:avLst/>
          </a:prstGeom>
          <a:ln>
            <a:noFill/>
          </a:ln>
        </p:spPr>
      </p:pic>
      <p:sp>
        <p:nvSpPr>
          <p:cNvPr id="6" name="文本占位符 44">
            <a:extLst>
              <a:ext uri="{FF2B5EF4-FFF2-40B4-BE49-F238E27FC236}">
                <a16:creationId xmlns:a16="http://schemas.microsoft.com/office/drawing/2014/main" id="{075A5675-FE21-139E-CD65-7DC297F45BB4}"/>
              </a:ext>
            </a:extLst>
          </p:cNvPr>
          <p:cNvSpPr txBox="1">
            <a:spLocks/>
          </p:cNvSpPr>
          <p:nvPr/>
        </p:nvSpPr>
        <p:spPr>
          <a:xfrm>
            <a:off x="677517" y="4823274"/>
            <a:ext cx="10836965" cy="30080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(Challenge 1) Keeping the Guarantees </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The guarantee holds on condition that the codebook is formed of randomly rotated unit vectors.</a:t>
            </a: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(Challenge 2) Supporting Efficient Computation</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It would be desirable if the inner product/distance can be computed without decompressing the vectors.</a:t>
            </a: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p:txBody>
      </p:sp>
      <p:pic>
        <p:nvPicPr>
          <p:cNvPr id="8" name="Graphic 7" descr="Smiling face outline with solid fill">
            <a:extLst>
              <a:ext uri="{FF2B5EF4-FFF2-40B4-BE49-F238E27FC236}">
                <a16:creationId xmlns:a16="http://schemas.microsoft.com/office/drawing/2014/main" id="{2A8E7856-EAC7-0646-1BE6-3F69178577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17284" y="4801681"/>
            <a:ext cx="457200" cy="457200"/>
          </a:xfrm>
          <a:prstGeom prst="rect">
            <a:avLst/>
          </a:prstGeom>
        </p:spPr>
      </p:pic>
      <p:sp>
        <p:nvSpPr>
          <p:cNvPr id="9" name="TextBox 8">
            <a:extLst>
              <a:ext uri="{FF2B5EF4-FFF2-40B4-BE49-F238E27FC236}">
                <a16:creationId xmlns:a16="http://schemas.microsoft.com/office/drawing/2014/main" id="{74506AC6-AE76-2C62-70EA-E03F7B6FABA4}"/>
              </a:ext>
            </a:extLst>
          </p:cNvPr>
          <p:cNvSpPr txBox="1"/>
          <p:nvPr/>
        </p:nvSpPr>
        <p:spPr>
          <a:xfrm>
            <a:off x="1976825" y="4170071"/>
            <a:ext cx="1924951" cy="369332"/>
          </a:xfrm>
          <a:prstGeom prst="rect">
            <a:avLst/>
          </a:prstGeom>
          <a:noFill/>
        </p:spPr>
        <p:txBody>
          <a:bodyPr wrap="none" rtlCol="0">
            <a:spAutoFit/>
          </a:bodyPr>
          <a:lstStyle/>
          <a:p>
            <a:r>
              <a:rPr lang="en-US" b="1" dirty="0"/>
              <a:t>Formal Expression</a:t>
            </a:r>
          </a:p>
        </p:txBody>
      </p:sp>
      <p:sp>
        <p:nvSpPr>
          <p:cNvPr id="11" name="TextBox 10">
            <a:extLst>
              <a:ext uri="{FF2B5EF4-FFF2-40B4-BE49-F238E27FC236}">
                <a16:creationId xmlns:a16="http://schemas.microsoft.com/office/drawing/2014/main" id="{702573AC-7075-D2D5-510D-39E3334B0B07}"/>
              </a:ext>
            </a:extLst>
          </p:cNvPr>
          <p:cNvSpPr txBox="1"/>
          <p:nvPr/>
        </p:nvSpPr>
        <p:spPr>
          <a:xfrm>
            <a:off x="8229581" y="4152617"/>
            <a:ext cx="995401" cy="369332"/>
          </a:xfrm>
          <a:prstGeom prst="rect">
            <a:avLst/>
          </a:prstGeom>
          <a:noFill/>
        </p:spPr>
        <p:txBody>
          <a:bodyPr wrap="none" rtlCol="0">
            <a:spAutoFit/>
          </a:bodyPr>
          <a:lstStyle/>
          <a:p>
            <a:r>
              <a:rPr lang="en-US" b="1" dirty="0"/>
              <a:t>Example</a:t>
            </a:r>
          </a:p>
        </p:txBody>
      </p:sp>
      <p:pic>
        <p:nvPicPr>
          <p:cNvPr id="12" name="Graphic 11" descr="Smiling face outline with solid fill">
            <a:extLst>
              <a:ext uri="{FF2B5EF4-FFF2-40B4-BE49-F238E27FC236}">
                <a16:creationId xmlns:a16="http://schemas.microsoft.com/office/drawing/2014/main" id="{38F73C6F-3ABE-3C20-7E64-95526D0649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37785" y="5533768"/>
            <a:ext cx="457200" cy="457200"/>
          </a:xfrm>
          <a:prstGeom prst="rect">
            <a:avLst/>
          </a:prstGeom>
        </p:spPr>
      </p:pic>
    </p:spTree>
    <p:custDataLst>
      <p:tags r:id="rId1"/>
    </p:custDataLst>
    <p:extLst>
      <p:ext uri="{BB962C8B-B14F-4D97-AF65-F5344CB8AC3E}">
        <p14:creationId xmlns:p14="http://schemas.microsoft.com/office/powerpoint/2010/main" val="41902290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Challenges in Computing the Quantization Codes</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37</a:t>
            </a:fld>
            <a:endParaRPr lang="en-US"/>
          </a:p>
        </p:txBody>
      </p:sp>
      <p:sp>
        <p:nvSpPr>
          <p:cNvPr id="6" name="文本占位符 44">
            <a:extLst>
              <a:ext uri="{FF2B5EF4-FFF2-40B4-BE49-F238E27FC236}">
                <a16:creationId xmlns:a16="http://schemas.microsoft.com/office/drawing/2014/main" id="{075A5675-FE21-139E-CD65-7DC297F45BB4}"/>
              </a:ext>
            </a:extLst>
          </p:cNvPr>
          <p:cNvSpPr txBox="1">
            <a:spLocks/>
          </p:cNvSpPr>
          <p:nvPr/>
        </p:nvSpPr>
        <p:spPr>
          <a:xfrm>
            <a:off x="838200" y="1577682"/>
            <a:ext cx="10836965" cy="730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RaBitQ can find the nearest vector in the codebook by reversely rotating the data vectors.</a:t>
            </a: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2200" dirty="0">
                <a:latin typeface="Calibri" panose="020F0502020204030204" pitchFamily="34" charset="0"/>
                <a:ea typeface="Microsoft YaHei" panose="020B0503020204020204" pitchFamily="34" charset="-122"/>
                <a:cs typeface="Calibri" panose="020F0502020204030204" pitchFamily="34" charset="0"/>
              </a:rPr>
              <a:t>In the extended RaBitQ, it is not as easy as the original RaBitQ.</a:t>
            </a:r>
          </a:p>
          <a:p>
            <a:pPr marL="742950" lvl="1"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It somewhat entails to enumerate the vectors in the codebook to find the quantized data vector. </a:t>
            </a: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endParaRPr lang="en-US" altLang="zh-CN" sz="2200" dirty="0">
              <a:latin typeface="Calibri" panose="020F0502020204030204" pitchFamily="34" charset="0"/>
              <a:ea typeface="Microsoft YaHei" panose="020B0503020204020204" pitchFamily="34" charset="-122"/>
              <a:cs typeface="Calibri" panose="020F0502020204030204" pitchFamily="34" charset="0"/>
            </a:endParaRPr>
          </a:p>
        </p:txBody>
      </p:sp>
      <p:pic>
        <p:nvPicPr>
          <p:cNvPr id="10" name="Picture 9">
            <a:extLst>
              <a:ext uri="{FF2B5EF4-FFF2-40B4-BE49-F238E27FC236}">
                <a16:creationId xmlns:a16="http://schemas.microsoft.com/office/drawing/2014/main" id="{BD4934C8-4D02-706E-D4BA-31332F033237}"/>
              </a:ext>
            </a:extLst>
          </p:cNvPr>
          <p:cNvPicPr>
            <a:picLocks noChangeAspect="1"/>
          </p:cNvPicPr>
          <p:nvPr/>
        </p:nvPicPr>
        <p:blipFill>
          <a:blip r:embed="rId4"/>
          <a:stretch>
            <a:fillRect/>
          </a:stretch>
        </p:blipFill>
        <p:spPr>
          <a:xfrm>
            <a:off x="2974260" y="3429000"/>
            <a:ext cx="6243480" cy="17590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ED05EE-B3BC-195C-FF9C-95CBE5722B81}"/>
                  </a:ext>
                </a:extLst>
              </p:cNvPr>
              <p:cNvSpPr txBox="1"/>
              <p:nvPr/>
            </p:nvSpPr>
            <p:spPr>
              <a:xfrm>
                <a:off x="491421" y="5529379"/>
                <a:ext cx="11530521" cy="475451"/>
              </a:xfrm>
              <a:prstGeom prst="rect">
                <a:avLst/>
              </a:prstGeom>
              <a:noFill/>
            </p:spPr>
            <p:txBody>
              <a:bodyPr wrap="square" rtlCol="0">
                <a:spAutoFit/>
              </a:bodyPr>
              <a:lstStyle/>
              <a:p>
                <a:pPr algn="ctr"/>
                <a:r>
                  <a:rPr lang="en-US" sz="2400" dirty="0">
                    <a:solidFill>
                      <a:srgbClr val="FF0000"/>
                    </a:solidFill>
                  </a:rPr>
                  <a:t>The new codebook contains </a:t>
                </a:r>
                <a14:m>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2</m:t>
                        </m:r>
                      </m:e>
                      <m:sup>
                        <m:r>
                          <a:rPr lang="en-US" sz="2400" b="0" i="1" smtClean="0">
                            <a:solidFill>
                              <a:srgbClr val="FF0000"/>
                            </a:solidFill>
                            <a:latin typeface="Cambria Math" panose="02040503050406030204" pitchFamily="18" charset="0"/>
                          </a:rPr>
                          <m:t>𝐵</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𝐷</m:t>
                        </m:r>
                      </m:sup>
                    </m:sSup>
                  </m:oMath>
                </a14:m>
                <a:r>
                  <a:rPr lang="en-US" sz="2400" dirty="0">
                    <a:solidFill>
                      <a:srgbClr val="FF0000"/>
                    </a:solidFill>
                  </a:rPr>
                  <a:t> vectors, causing the enumeration to be exhaustive.</a:t>
                </a:r>
              </a:p>
            </p:txBody>
          </p:sp>
        </mc:Choice>
        <mc:Fallback xmlns="">
          <p:sp>
            <p:nvSpPr>
              <p:cNvPr id="15" name="TextBox 14">
                <a:extLst>
                  <a:ext uri="{FF2B5EF4-FFF2-40B4-BE49-F238E27FC236}">
                    <a16:creationId xmlns:a16="http://schemas.microsoft.com/office/drawing/2014/main" id="{8EED05EE-B3BC-195C-FF9C-95CBE5722B81}"/>
                  </a:ext>
                </a:extLst>
              </p:cNvPr>
              <p:cNvSpPr txBox="1">
                <a:spLocks noRot="1" noChangeAspect="1" noMove="1" noResize="1" noEditPoints="1" noAdjustHandles="1" noChangeArrowheads="1" noChangeShapeType="1" noTextEdit="1"/>
              </p:cNvSpPr>
              <p:nvPr/>
            </p:nvSpPr>
            <p:spPr>
              <a:xfrm>
                <a:off x="491421" y="5529379"/>
                <a:ext cx="11530521" cy="475451"/>
              </a:xfrm>
              <a:prstGeom prst="rect">
                <a:avLst/>
              </a:prstGeom>
              <a:blipFill>
                <a:blip r:embed="rId5"/>
                <a:stretch>
                  <a:fillRect t="-7895" b="-26316"/>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583407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Pruning the Enumeration</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38</a:t>
            </a:fld>
            <a:endParaRPr lang="en-US"/>
          </a:p>
        </p:txBody>
      </p:sp>
      <p:pic>
        <p:nvPicPr>
          <p:cNvPr id="3" name="Picture 2">
            <a:extLst>
              <a:ext uri="{FF2B5EF4-FFF2-40B4-BE49-F238E27FC236}">
                <a16:creationId xmlns:a16="http://schemas.microsoft.com/office/drawing/2014/main" id="{164624D3-A45A-A85A-28A9-AB3B15E0A80F}"/>
              </a:ext>
            </a:extLst>
          </p:cNvPr>
          <p:cNvPicPr>
            <a:picLocks noChangeAspect="1"/>
          </p:cNvPicPr>
          <p:nvPr/>
        </p:nvPicPr>
        <p:blipFill>
          <a:blip r:embed="rId4"/>
          <a:stretch>
            <a:fillRect/>
          </a:stretch>
        </p:blipFill>
        <p:spPr>
          <a:xfrm>
            <a:off x="812076" y="1159561"/>
            <a:ext cx="8105514" cy="1075221"/>
          </a:xfrm>
          <a:prstGeom prst="rect">
            <a:avLst/>
          </a:prstGeom>
        </p:spPr>
      </p:pic>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8827E75D-95C7-3D03-AB6E-80513C89C8C7}"/>
                  </a:ext>
                </a:extLst>
              </p:cNvPr>
              <p:cNvSpPr txBox="1">
                <a:spLocks/>
              </p:cNvSpPr>
              <p:nvPr/>
            </p:nvSpPr>
            <p:spPr>
              <a:xfrm>
                <a:off x="812076" y="3029220"/>
                <a:ext cx="10836965" cy="730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800" dirty="0">
                    <a:effectLst/>
                    <a:latin typeface="Calibri" panose="020F0502020204030204" pitchFamily="34" charset="0"/>
                    <a:cs typeface="Calibri" panose="020F0502020204030204" pitchFamily="34" charset="0"/>
                  </a:rPr>
                  <a:t>Note that</a:t>
                </a:r>
                <a:r>
                  <a:rPr lang="en-SG" sz="1800" b="1" dirty="0">
                    <a:effectLst/>
                    <a:latin typeface="Calibri" panose="020F0502020204030204" pitchFamily="34" charset="0"/>
                    <a:cs typeface="Calibri" panose="020F0502020204030204" pitchFamily="34" charset="0"/>
                  </a:rPr>
                  <a:t> </a:t>
                </a:r>
                <a14:m>
                  <m:oMath xmlns:m="http://schemas.openxmlformats.org/officeDocument/2006/math">
                    <m:r>
                      <a:rPr lang="en-SG" sz="1800" b="1" i="0" smtClean="0">
                        <a:effectLst/>
                        <a:latin typeface="Cambria Math" panose="02040503050406030204" pitchFamily="18" charset="0"/>
                        <a:ea typeface="Cambria Math" panose="02040503050406030204" pitchFamily="18" charset="0"/>
                      </a:rPr>
                      <m:t>𝓖</m:t>
                    </m:r>
                  </m:oMath>
                </a14:m>
                <a:r>
                  <a:rPr lang="en-SG" sz="1800" b="1" dirty="0">
                    <a:effectLst/>
                    <a:latin typeface="Calibri" panose="020F0502020204030204" pitchFamily="34" charset="0"/>
                    <a:cs typeface="Calibri" panose="020F0502020204030204" pitchFamily="34" charset="0"/>
                  </a:rPr>
                  <a:t> </a:t>
                </a:r>
                <a:r>
                  <a:rPr lang="en-SG" sz="1800" dirty="0">
                    <a:effectLst/>
                    <a:latin typeface="Calibri" panose="020F0502020204030204" pitchFamily="34" charset="0"/>
                    <a:cs typeface="Calibri" panose="020F0502020204030204" pitchFamily="34" charset="0"/>
                  </a:rPr>
                  <a:t>is a set of vectors on uniform grids, the nearest</a:t>
                </a:r>
                <a:r>
                  <a:rPr lang="en-SG" sz="1800" dirty="0">
                    <a:latin typeface="Calibri" panose="020F0502020204030204" pitchFamily="34" charset="0"/>
                    <a:cs typeface="Calibri" panose="020F0502020204030204" pitchFamily="34" charset="0"/>
                  </a:rPr>
                  <a:t> </a:t>
                </a:r>
                <a:r>
                  <a:rPr lang="en-SG" sz="1800" dirty="0">
                    <a:effectLst/>
                    <a:latin typeface="Calibri" panose="020F0502020204030204" pitchFamily="34" charset="0"/>
                    <a:cs typeface="Calibri" panose="020F0502020204030204" pitchFamily="34" charset="0"/>
                  </a:rPr>
                  <a:t>vector of </a:t>
                </a:r>
                <a14:m>
                  <m:oMath xmlns:m="http://schemas.openxmlformats.org/officeDocument/2006/math">
                    <m:r>
                      <a:rPr lang="en-US" sz="1800" i="1">
                        <a:latin typeface="Cambria Math" panose="02040503050406030204" pitchFamily="18" charset="0"/>
                      </a:rPr>
                      <m:t>𝑡</m:t>
                    </m:r>
                    <m:r>
                      <a:rPr lang="en-US" sz="1800" i="0">
                        <a:latin typeface="Cambria Math" panose="02040503050406030204" pitchFamily="18" charset="0"/>
                      </a:rPr>
                      <m:t>⋅</m:t>
                    </m:r>
                    <m:r>
                      <a:rPr lang="en-US" sz="1800" b="1" i="0" smtClean="0">
                        <a:latin typeface="Cambria Math" panose="02040503050406030204" pitchFamily="18" charset="0"/>
                      </a:rPr>
                      <m:t>𝐨</m:t>
                    </m:r>
                    <m:r>
                      <a:rPr lang="en-US" sz="1800" b="0" i="0" smtClean="0">
                        <a:latin typeface="Cambria Math" panose="02040503050406030204" pitchFamily="18" charset="0"/>
                      </a:rPr>
                      <m:t>′</m:t>
                    </m:r>
                  </m:oMath>
                </a14:m>
                <a:r>
                  <a:rPr lang="en-SG" sz="1800" dirty="0">
                    <a:effectLst/>
                    <a:latin typeface="Calibri" panose="020F0502020204030204" pitchFamily="34" charset="0"/>
                    <a:cs typeface="Calibri" panose="020F0502020204030204" pitchFamily="34" charset="0"/>
                  </a:rPr>
                  <a:t> can be easily computed by rounding.</a:t>
                </a:r>
              </a:p>
              <a:p>
                <a:pPr marL="0" indent="0">
                  <a:buNone/>
                </a:pPr>
                <a:endParaRPr lang="en-SG" sz="1800" dirty="0">
                  <a:effectLst/>
                  <a:latin typeface="Calibri" panose="020F0502020204030204" pitchFamily="34" charset="0"/>
                  <a:cs typeface="Calibri" panose="020F0502020204030204" pitchFamily="34" charset="0"/>
                </a:endParaRPr>
              </a:p>
              <a:p>
                <a:r>
                  <a:rPr lang="en-SG" sz="1800" dirty="0">
                    <a:effectLst/>
                    <a:latin typeface="Calibri" panose="020F0502020204030204" pitchFamily="34" charset="0"/>
                    <a:cs typeface="Calibri" panose="020F0502020204030204" pitchFamily="34" charset="0"/>
                  </a:rPr>
                  <a:t>If we “enumerate every re-scaling factor </a:t>
                </a:r>
                <a14:m>
                  <m:oMath xmlns:m="http://schemas.openxmlformats.org/officeDocument/2006/math">
                    <m:r>
                      <a:rPr lang="en-US" sz="1800" b="0" i="1" dirty="0" smtClean="0">
                        <a:effectLst/>
                        <a:latin typeface="Cambria Math" panose="02040503050406030204" pitchFamily="18" charset="0"/>
                        <a:cs typeface="Calibri" panose="020F0502020204030204" pitchFamily="34" charset="0"/>
                      </a:rPr>
                      <m:t>𝑡</m:t>
                    </m:r>
                  </m:oMath>
                </a14:m>
                <a:r>
                  <a:rPr lang="en-SG" sz="1800" dirty="0">
                    <a:effectLst/>
                    <a:latin typeface="Calibri" panose="020F0502020204030204" pitchFamily="34" charset="0"/>
                    <a:cs typeface="Calibri" panose="020F0502020204030204" pitchFamily="34" charset="0"/>
                  </a:rPr>
                  <a:t>” and collect all</a:t>
                </a:r>
                <a:r>
                  <a:rPr lang="en-SG" sz="1800" dirty="0">
                    <a:latin typeface="Calibri" panose="020F0502020204030204" pitchFamily="34" charset="0"/>
                    <a:cs typeface="Calibri" panose="020F0502020204030204" pitchFamily="34" charset="0"/>
                  </a:rPr>
                  <a:t> </a:t>
                </a:r>
                <a:r>
                  <a:rPr lang="en-SG" sz="1800" dirty="0">
                    <a:effectLst/>
                    <a:latin typeface="Calibri" panose="020F0502020204030204" pitchFamily="34" charset="0"/>
                    <a:cs typeface="Calibri" panose="020F0502020204030204" pitchFamily="34" charset="0"/>
                  </a:rPr>
                  <a:t>the vectors produced by rounding </a:t>
                </a:r>
                <a14:m>
                  <m:oMath xmlns:m="http://schemas.openxmlformats.org/officeDocument/2006/math">
                    <m:r>
                      <a:rPr lang="en-US" sz="1800" i="1">
                        <a:latin typeface="Cambria Math" panose="02040503050406030204" pitchFamily="18" charset="0"/>
                      </a:rPr>
                      <m:t>𝑡</m:t>
                    </m:r>
                    <m:r>
                      <a:rPr lang="en-US" sz="1800">
                        <a:latin typeface="Cambria Math" panose="02040503050406030204" pitchFamily="18" charset="0"/>
                      </a:rPr>
                      <m:t>⋅</m:t>
                    </m:r>
                    <m:r>
                      <a:rPr lang="en-US" sz="1800" b="1">
                        <a:latin typeface="Cambria Math" panose="02040503050406030204" pitchFamily="18" charset="0"/>
                      </a:rPr>
                      <m:t>𝐨</m:t>
                    </m:r>
                    <m:r>
                      <a:rPr lang="en-US" sz="1800">
                        <a:latin typeface="Cambria Math" panose="02040503050406030204" pitchFamily="18" charset="0"/>
                      </a:rPr>
                      <m:t>′</m:t>
                    </m:r>
                  </m:oMath>
                </a14:m>
                <a:r>
                  <a:rPr lang="en-SG" sz="1800" dirty="0">
                    <a:effectLst/>
                    <a:latin typeface="Calibri" panose="020F0502020204030204" pitchFamily="34" charset="0"/>
                    <a:cs typeface="Calibri" panose="020F0502020204030204" pitchFamily="34" charset="0"/>
                  </a:rPr>
                  <a:t>, then the target vector </a:t>
                </a:r>
                <a14:m>
                  <m:oMath xmlns:m="http://schemas.openxmlformats.org/officeDocument/2006/math">
                    <m:acc>
                      <m:accPr>
                        <m:chr m:val="̅"/>
                        <m:ctrlPr>
                          <a:rPr lang="en-US" sz="1800" b="0" i="1" smtClean="0">
                            <a:effectLst/>
                            <a:latin typeface="Cambria Math" panose="02040503050406030204" pitchFamily="18" charset="0"/>
                            <a:cs typeface="Calibri" panose="020F0502020204030204" pitchFamily="34" charset="0"/>
                          </a:rPr>
                        </m:ctrlPr>
                      </m:accPr>
                      <m:e>
                        <m:r>
                          <a:rPr lang="en-US" sz="1800" b="1" i="0" smtClean="0">
                            <a:effectLst/>
                            <a:latin typeface="Cambria Math" panose="02040503050406030204" pitchFamily="18" charset="0"/>
                            <a:cs typeface="Calibri" panose="020F0502020204030204" pitchFamily="34" charset="0"/>
                          </a:rPr>
                          <m:t>𝐲</m:t>
                        </m:r>
                      </m:e>
                    </m:acc>
                  </m:oMath>
                </a14:m>
                <a:r>
                  <a:rPr lang="en-SG" sz="1800" dirty="0">
                    <a:latin typeface="Calibri" panose="020F0502020204030204" pitchFamily="34" charset="0"/>
                    <a:cs typeface="Calibri" panose="020F0502020204030204" pitchFamily="34" charset="0"/>
                  </a:rPr>
                  <a:t> </a:t>
                </a:r>
                <a:r>
                  <a:rPr lang="en-SG" sz="1800" dirty="0">
                    <a:effectLst/>
                    <a:latin typeface="Calibri" panose="020F0502020204030204" pitchFamily="34" charset="0"/>
                    <a:cs typeface="Calibri" panose="020F0502020204030204" pitchFamily="34" charset="0"/>
                  </a:rPr>
                  <a:t>must be included in the vectors that are collected in the process.</a:t>
                </a:r>
              </a:p>
              <a:p>
                <a:endParaRPr lang="en-SG" sz="1800" dirty="0">
                  <a:latin typeface="Calibri" panose="020F0502020204030204" pitchFamily="34" charset="0"/>
                  <a:cs typeface="Calibri" panose="020F0502020204030204" pitchFamily="34" charset="0"/>
                </a:endParaRPr>
              </a:p>
              <a:p>
                <a:r>
                  <a:rPr lang="en-SG" sz="1800" dirty="0">
                    <a:effectLst/>
                    <a:latin typeface="Calibri" panose="020F0502020204030204" pitchFamily="34" charset="0"/>
                    <a:cs typeface="Calibri" panose="020F0502020204030204" pitchFamily="34" charset="0"/>
                  </a:rPr>
                  <a:t>In practice, we do not need to enumerate every real value </a:t>
                </a:r>
                <a14:m>
                  <m:oMath xmlns:m="http://schemas.openxmlformats.org/officeDocument/2006/math">
                    <m:r>
                      <a:rPr lang="en-SG" sz="1800" i="1" dirty="0" smtClean="0">
                        <a:effectLst/>
                        <a:latin typeface="Cambria Math" panose="02040503050406030204" pitchFamily="18" charset="0"/>
                        <a:cs typeface="Calibri" panose="020F0502020204030204" pitchFamily="34" charset="0"/>
                      </a:rPr>
                      <m:t>𝑡</m:t>
                    </m:r>
                    <m:r>
                      <a:rPr lang="en-SG" sz="1800" i="1" dirty="0" smtClean="0">
                        <a:effectLst/>
                        <a:latin typeface="Cambria Math" panose="02040503050406030204" pitchFamily="18" charset="0"/>
                        <a:cs typeface="Calibri" panose="020F0502020204030204" pitchFamily="34" charset="0"/>
                      </a:rPr>
                      <m:t> &gt; 0</m:t>
                    </m:r>
                  </m:oMath>
                </a14:m>
                <a:r>
                  <a:rPr lang="en-SG" sz="1800" dirty="0">
                    <a:effectLst/>
                    <a:latin typeface="Calibri" panose="020F0502020204030204" pitchFamily="34" charset="0"/>
                    <a:cs typeface="Calibri" panose="020F0502020204030204" pitchFamily="34" charset="0"/>
                  </a:rPr>
                  <a:t> because when two re-scaling factors are extremely close to each other, they would produce exactly the same vector after rounding. </a:t>
                </a:r>
              </a:p>
              <a:p>
                <a:pPr lvl="1"/>
                <a:r>
                  <a:rPr lang="en-SG" sz="1400" dirty="0">
                    <a:effectLst/>
                    <a:latin typeface="Calibri" panose="020F0502020204030204" pitchFamily="34" charset="0"/>
                    <a:cs typeface="Calibri" panose="020F0502020204030204" pitchFamily="34" charset="0"/>
                  </a:rPr>
                  <a:t>Thus, we only need to enumerate the critical values of </a:t>
                </a:r>
                <a14:m>
                  <m:oMath xmlns:m="http://schemas.openxmlformats.org/officeDocument/2006/math">
                    <m:r>
                      <a:rPr lang="en-US" sz="1400" b="0" i="1" smtClean="0">
                        <a:effectLst/>
                        <a:latin typeface="Cambria Math" panose="02040503050406030204" pitchFamily="18" charset="0"/>
                        <a:cs typeface="Calibri" panose="020F0502020204030204" pitchFamily="34" charset="0"/>
                      </a:rPr>
                      <m:t>𝑡</m:t>
                    </m:r>
                  </m:oMath>
                </a14:m>
                <a:r>
                  <a:rPr lang="en-SG" sz="1400" dirty="0">
                    <a:effectLst/>
                    <a:latin typeface="Calibri" panose="020F0502020204030204" pitchFamily="34" charset="0"/>
                    <a:cs typeface="Calibri" panose="020F0502020204030204" pitchFamily="34" charset="0"/>
                  </a:rPr>
                  <a:t> which changes the results of rounding.</a:t>
                </a:r>
              </a:p>
              <a:p>
                <a:pPr lvl="1"/>
                <a:endParaRPr lang="en-SG" sz="1400" dirty="0">
                  <a:latin typeface="Calibri" panose="020F0502020204030204" pitchFamily="34" charset="0"/>
                  <a:cs typeface="Calibri" panose="020F0502020204030204" pitchFamily="34" charset="0"/>
                </a:endParaRPr>
              </a:p>
              <a:p>
                <a:r>
                  <a:rPr lang="en-SG" sz="1800" dirty="0">
                    <a:effectLst/>
                    <a:latin typeface="Calibri" panose="020F0502020204030204" pitchFamily="34" charset="0"/>
                    <a:cs typeface="Calibri" panose="020F0502020204030204" pitchFamily="34" charset="0"/>
                  </a:rPr>
                  <a:t>There are </a:t>
                </a:r>
                <a14:m>
                  <m:oMath xmlns:m="http://schemas.openxmlformats.org/officeDocument/2006/math">
                    <m:sSup>
                      <m:sSupPr>
                        <m:ctrlPr>
                          <a:rPr lang="en-US" sz="1800" b="0" i="1" smtClean="0">
                            <a:effectLst/>
                            <a:latin typeface="Cambria Math" panose="02040503050406030204" pitchFamily="18" charset="0"/>
                            <a:cs typeface="Calibri" panose="020F0502020204030204" pitchFamily="34" charset="0"/>
                          </a:rPr>
                        </m:ctrlPr>
                      </m:sSupPr>
                      <m:e>
                        <m:r>
                          <a:rPr lang="en-US" sz="1800" b="0" i="1" smtClean="0">
                            <a:effectLst/>
                            <a:latin typeface="Cambria Math" panose="02040503050406030204" pitchFamily="18" charset="0"/>
                            <a:cs typeface="Calibri" panose="020F0502020204030204" pitchFamily="34" charset="0"/>
                          </a:rPr>
                          <m:t>2</m:t>
                        </m:r>
                      </m:e>
                      <m:sup>
                        <m:r>
                          <a:rPr lang="en-US" sz="1800" b="0" i="1" smtClean="0">
                            <a:effectLst/>
                            <a:latin typeface="Cambria Math" panose="02040503050406030204" pitchFamily="18" charset="0"/>
                            <a:cs typeface="Calibri" panose="020F0502020204030204" pitchFamily="34" charset="0"/>
                          </a:rPr>
                          <m:t>𝐵</m:t>
                        </m:r>
                        <m:r>
                          <a:rPr lang="en-US" sz="1800" b="0" i="1" smtClean="0">
                            <a:effectLst/>
                            <a:latin typeface="Cambria Math" panose="02040503050406030204" pitchFamily="18" charset="0"/>
                            <a:cs typeface="Calibri" panose="020F0502020204030204" pitchFamily="34" charset="0"/>
                          </a:rPr>
                          <m:t>−1</m:t>
                        </m:r>
                      </m:sup>
                    </m:sSup>
                    <m:r>
                      <a:rPr lang="en-US" sz="1800" b="0" i="1" smtClean="0">
                        <a:effectLst/>
                        <a:latin typeface="Cambria Math" panose="02040503050406030204" pitchFamily="18" charset="0"/>
                        <a:cs typeface="Calibri" panose="020F0502020204030204" pitchFamily="34" charset="0"/>
                      </a:rPr>
                      <m:t>×</m:t>
                    </m:r>
                    <m:r>
                      <a:rPr lang="en-US" sz="1800" b="0" i="1" smtClean="0">
                        <a:effectLst/>
                        <a:latin typeface="Cambria Math" panose="02040503050406030204" pitchFamily="18" charset="0"/>
                        <a:cs typeface="Calibri" panose="020F0502020204030204" pitchFamily="34" charset="0"/>
                      </a:rPr>
                      <m:t>𝐷</m:t>
                    </m:r>
                  </m:oMath>
                </a14:m>
                <a:r>
                  <a:rPr lang="en-SG" sz="1800" dirty="0">
                    <a:effectLst/>
                    <a:latin typeface="Calibri" panose="020F0502020204030204" pitchFamily="34" charset="0"/>
                    <a:cs typeface="Calibri" panose="020F0502020204030204" pitchFamily="34" charset="0"/>
                  </a:rPr>
                  <a:t> critical values in total. Thus, the time complexity would be </a:t>
                </a:r>
                <a14:m>
                  <m:oMath xmlns:m="http://schemas.openxmlformats.org/officeDocument/2006/math">
                    <m:r>
                      <a:rPr lang="en-US" sz="1800" b="0" i="1" smtClean="0">
                        <a:effectLst/>
                        <a:latin typeface="Cambria Math" panose="02040503050406030204" pitchFamily="18" charset="0"/>
                        <a:cs typeface="Calibri" panose="020F0502020204030204" pitchFamily="34" charset="0"/>
                      </a:rPr>
                      <m:t>𝑂</m:t>
                    </m:r>
                    <m:r>
                      <a:rPr lang="en-US" sz="1800" b="0" i="1" smtClean="0">
                        <a:effectLst/>
                        <a:latin typeface="Cambria Math" panose="02040503050406030204" pitchFamily="18" charset="0"/>
                        <a:cs typeface="Calibri" panose="020F0502020204030204" pitchFamily="34" charset="0"/>
                      </a:rPr>
                      <m:t>(</m:t>
                    </m:r>
                    <m:sSup>
                      <m:sSupPr>
                        <m:ctrlPr>
                          <a:rPr lang="en-US" sz="1800" b="0" i="1" smtClean="0">
                            <a:effectLst/>
                            <a:latin typeface="Cambria Math" panose="02040503050406030204" pitchFamily="18" charset="0"/>
                            <a:cs typeface="Calibri" panose="020F0502020204030204" pitchFamily="34" charset="0"/>
                          </a:rPr>
                        </m:ctrlPr>
                      </m:sSupPr>
                      <m:e>
                        <m:r>
                          <a:rPr lang="en-US" sz="1800" b="0" i="1" smtClean="0">
                            <a:effectLst/>
                            <a:latin typeface="Cambria Math" panose="02040503050406030204" pitchFamily="18" charset="0"/>
                            <a:cs typeface="Calibri" panose="020F0502020204030204" pitchFamily="34" charset="0"/>
                          </a:rPr>
                          <m:t>2</m:t>
                        </m:r>
                      </m:e>
                      <m:sup>
                        <m:r>
                          <a:rPr lang="en-US" sz="1800" b="0" i="1" smtClean="0">
                            <a:effectLst/>
                            <a:latin typeface="Cambria Math" panose="02040503050406030204" pitchFamily="18" charset="0"/>
                            <a:cs typeface="Calibri" panose="020F0502020204030204" pitchFamily="34" charset="0"/>
                          </a:rPr>
                          <m:t>𝐵</m:t>
                        </m:r>
                      </m:sup>
                    </m:sSup>
                    <m:r>
                      <a:rPr lang="en-US" sz="1800" b="0" i="1" smtClean="0">
                        <a:effectLst/>
                        <a:latin typeface="Cambria Math" panose="02040503050406030204" pitchFamily="18" charset="0"/>
                        <a:cs typeface="Calibri" panose="020F0502020204030204" pitchFamily="34" charset="0"/>
                      </a:rPr>
                      <m:t>⋅</m:t>
                    </m:r>
                    <m:r>
                      <a:rPr lang="en-US" sz="1800" b="0" i="1" smtClean="0">
                        <a:effectLst/>
                        <a:latin typeface="Cambria Math" panose="02040503050406030204" pitchFamily="18" charset="0"/>
                        <a:cs typeface="Calibri" panose="020F0502020204030204" pitchFamily="34" charset="0"/>
                      </a:rPr>
                      <m:t>𝐷</m:t>
                    </m:r>
                    <m:func>
                      <m:funcPr>
                        <m:ctrlPr>
                          <a:rPr lang="en-US" sz="1800" b="0" i="1" smtClean="0">
                            <a:effectLst/>
                            <a:latin typeface="Cambria Math" panose="02040503050406030204" pitchFamily="18" charset="0"/>
                            <a:cs typeface="Calibri" panose="020F0502020204030204" pitchFamily="34" charset="0"/>
                          </a:rPr>
                        </m:ctrlPr>
                      </m:funcPr>
                      <m:fName>
                        <m:r>
                          <m:rPr>
                            <m:sty m:val="p"/>
                          </m:rPr>
                          <a:rPr lang="en-US" sz="1800" b="0" i="0" smtClean="0">
                            <a:effectLst/>
                            <a:latin typeface="Cambria Math" panose="02040503050406030204" pitchFamily="18" charset="0"/>
                            <a:cs typeface="Calibri" panose="020F0502020204030204" pitchFamily="34" charset="0"/>
                          </a:rPr>
                          <m:t>log</m:t>
                        </m:r>
                      </m:fName>
                      <m:e>
                        <m:r>
                          <a:rPr lang="en-US" sz="1800" b="0" i="1" smtClean="0">
                            <a:effectLst/>
                            <a:latin typeface="Cambria Math" panose="02040503050406030204" pitchFamily="18" charset="0"/>
                            <a:cs typeface="Calibri" panose="020F0502020204030204" pitchFamily="34" charset="0"/>
                          </a:rPr>
                          <m:t>𝐷</m:t>
                        </m:r>
                      </m:e>
                    </m:func>
                    <m:r>
                      <a:rPr lang="en-US" sz="1800" b="0" i="1" smtClean="0">
                        <a:effectLst/>
                        <a:latin typeface="Cambria Math" panose="02040503050406030204" pitchFamily="18" charset="0"/>
                        <a:cs typeface="Calibri" panose="020F0502020204030204" pitchFamily="34" charset="0"/>
                      </a:rPr>
                      <m:t>)</m:t>
                    </m:r>
                  </m:oMath>
                </a14:m>
                <a:r>
                  <a:rPr lang="en-SG" sz="1800" dirty="0">
                    <a:effectLst/>
                    <a:latin typeface="Calibri" panose="020F0502020204030204" pitchFamily="34" charset="0"/>
                    <a:cs typeface="Calibri" panose="020F0502020204030204" pitchFamily="34" charset="0"/>
                  </a:rPr>
                  <a:t>.</a:t>
                </a:r>
              </a:p>
              <a:p>
                <a:endParaRPr lang="en-SG" sz="1800" dirty="0">
                  <a:effectLst/>
                  <a:latin typeface="Calibri" panose="020F0502020204030204" pitchFamily="34" charset="0"/>
                  <a:cs typeface="Calibri" panose="020F0502020204030204" pitchFamily="34" charset="0"/>
                </a:endParaRPr>
              </a:p>
            </p:txBody>
          </p:sp>
        </mc:Choice>
        <mc:Fallback xmlns="">
          <p:sp>
            <p:nvSpPr>
              <p:cNvPr id="5" name="文本占位符 44">
                <a:extLst>
                  <a:ext uri="{FF2B5EF4-FFF2-40B4-BE49-F238E27FC236}">
                    <a16:creationId xmlns:a16="http://schemas.microsoft.com/office/drawing/2014/main" id="{8827E75D-95C7-3D03-AB6E-80513C89C8C7}"/>
                  </a:ext>
                </a:extLst>
              </p:cNvPr>
              <p:cNvSpPr txBox="1">
                <a:spLocks noRot="1" noChangeAspect="1" noMove="1" noResize="1" noEditPoints="1" noAdjustHandles="1" noChangeArrowheads="1" noChangeShapeType="1" noTextEdit="1"/>
              </p:cNvSpPr>
              <p:nvPr/>
            </p:nvSpPr>
            <p:spPr>
              <a:xfrm>
                <a:off x="812076" y="3029220"/>
                <a:ext cx="10836965" cy="730507"/>
              </a:xfrm>
              <a:prstGeom prst="rect">
                <a:avLst/>
              </a:prstGeom>
              <a:blipFill>
                <a:blip r:embed="rId5"/>
                <a:stretch>
                  <a:fillRect l="-351" t="-6780" b="-344068"/>
                </a:stretch>
              </a:blipFill>
            </p:spPr>
            <p:txBody>
              <a:bodyPr/>
              <a:lstStyle/>
              <a:p>
                <a:r>
                  <a:rPr lang="en-US">
                    <a:noFill/>
                  </a:rPr>
                  <a:t> </a:t>
                </a:r>
              </a:p>
            </p:txBody>
          </p:sp>
        </mc:Fallback>
      </mc:AlternateContent>
      <p:pic>
        <p:nvPicPr>
          <p:cNvPr id="8" name="Picture 7" descr="A diagram of a line with a circle and a point&#10;&#10;Description automatically generated">
            <a:extLst>
              <a:ext uri="{FF2B5EF4-FFF2-40B4-BE49-F238E27FC236}">
                <a16:creationId xmlns:a16="http://schemas.microsoft.com/office/drawing/2014/main" id="{25FEC31D-0B76-6CA4-09B8-22A48E0A30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17590" y="512904"/>
            <a:ext cx="2436210" cy="2368537"/>
          </a:xfrm>
          <a:prstGeom prst="rect">
            <a:avLst/>
          </a:prstGeom>
        </p:spPr>
      </p:pic>
    </p:spTree>
    <p:custDataLst>
      <p:tags r:id="rId1"/>
    </p:custDataLst>
    <p:extLst>
      <p:ext uri="{BB962C8B-B14F-4D97-AF65-F5344CB8AC3E}">
        <p14:creationId xmlns:p14="http://schemas.microsoft.com/office/powerpoint/2010/main" val="1318157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Computing the Estimator</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39</a:t>
            </a:fld>
            <a:endParaRPr lang="en-US"/>
          </a:p>
        </p:txBody>
      </p:sp>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8827E75D-95C7-3D03-AB6E-80513C89C8C7}"/>
                  </a:ext>
                </a:extLst>
              </p:cNvPr>
              <p:cNvSpPr txBox="1">
                <a:spLocks/>
              </p:cNvSpPr>
              <p:nvPr/>
            </p:nvSpPr>
            <p:spPr>
              <a:xfrm>
                <a:off x="677517" y="3943619"/>
                <a:ext cx="10836965" cy="730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n-US" sz="1800" b="0" i="1" smtClean="0">
                            <a:effectLst/>
                            <a:latin typeface="Cambria Math" panose="02040503050406030204" pitchFamily="18" charset="0"/>
                            <a:cs typeface="Calibri" panose="020F0502020204030204" pitchFamily="34" charset="0"/>
                          </a:rPr>
                        </m:ctrlPr>
                      </m:sSubPr>
                      <m:e>
                        <m:acc>
                          <m:accPr>
                            <m:chr m:val="̅"/>
                            <m:ctrlPr>
                              <a:rPr lang="en-US" sz="1800" b="1" i="1" smtClean="0">
                                <a:effectLst/>
                                <a:latin typeface="Cambria Math" panose="02040503050406030204" pitchFamily="18" charset="0"/>
                                <a:cs typeface="Calibri" panose="020F0502020204030204" pitchFamily="34" charset="0"/>
                              </a:rPr>
                            </m:ctrlPr>
                          </m:accPr>
                          <m:e>
                            <m:r>
                              <a:rPr lang="en-US" sz="1800" b="1" i="0" smtClean="0">
                                <a:effectLst/>
                                <a:latin typeface="Cambria Math" panose="02040503050406030204" pitchFamily="18" charset="0"/>
                                <a:cs typeface="Calibri" panose="020F0502020204030204" pitchFamily="34" charset="0"/>
                              </a:rPr>
                              <m:t>𝐲</m:t>
                            </m:r>
                          </m:e>
                        </m:acc>
                      </m:e>
                      <m:sub>
                        <m:r>
                          <a:rPr lang="en-US" sz="1800" b="0" i="1" smtClean="0">
                            <a:effectLst/>
                            <a:latin typeface="Cambria Math" panose="02040503050406030204" pitchFamily="18" charset="0"/>
                            <a:cs typeface="Calibri" panose="020F0502020204030204" pitchFamily="34" charset="0"/>
                          </a:rPr>
                          <m:t>𝑢</m:t>
                        </m:r>
                      </m:sub>
                    </m:sSub>
                  </m:oMath>
                </a14:m>
                <a:r>
                  <a:rPr lang="en-SG" sz="1800" dirty="0">
                    <a:effectLst/>
                    <a:latin typeface="Calibri" panose="020F0502020204030204" pitchFamily="34" charset="0"/>
                    <a:cs typeface="Calibri" panose="020F0502020204030204" pitchFamily="34" charset="0"/>
                  </a:rPr>
                  <a:t> is a vector of </a:t>
                </a:r>
                <a14:m>
                  <m:oMath xmlns:m="http://schemas.openxmlformats.org/officeDocument/2006/math">
                    <m:r>
                      <a:rPr lang="en-US" sz="1800" b="0" i="1" smtClean="0">
                        <a:effectLst/>
                        <a:latin typeface="Cambria Math" panose="02040503050406030204" pitchFamily="18" charset="0"/>
                        <a:cs typeface="Calibri" panose="020F0502020204030204" pitchFamily="34" charset="0"/>
                      </a:rPr>
                      <m:t>𝐵</m:t>
                    </m:r>
                  </m:oMath>
                </a14:m>
                <a:r>
                  <a:rPr lang="en-SG" sz="1800" dirty="0">
                    <a:effectLst/>
                    <a:latin typeface="Calibri" panose="020F0502020204030204" pitchFamily="34" charset="0"/>
                    <a:cs typeface="Calibri" panose="020F0502020204030204" pitchFamily="34" charset="0"/>
                  </a:rPr>
                  <a:t>-bit unsigned integers</a:t>
                </a:r>
              </a:p>
              <a:p>
                <a14:m>
                  <m:oMath xmlns:m="http://schemas.openxmlformats.org/officeDocument/2006/math">
                    <m:r>
                      <a:rPr lang="en-US" sz="1800" b="1" i="0" smtClean="0">
                        <a:effectLst/>
                        <a:latin typeface="Cambria Math" panose="02040503050406030204" pitchFamily="18" charset="0"/>
                        <a:cs typeface="Calibri" panose="020F0502020204030204" pitchFamily="34" charset="0"/>
                      </a:rPr>
                      <m:t>𝐪</m:t>
                    </m:r>
                    <m:r>
                      <a:rPr lang="en-US" sz="1800" b="0" i="1" smtClean="0">
                        <a:effectLst/>
                        <a:latin typeface="Cambria Math" panose="02040503050406030204" pitchFamily="18" charset="0"/>
                        <a:cs typeface="Calibri" panose="020F0502020204030204" pitchFamily="34" charset="0"/>
                      </a:rPr>
                      <m:t>′</m:t>
                    </m:r>
                  </m:oMath>
                </a14:m>
                <a:r>
                  <a:rPr lang="en-SG" sz="1800" dirty="0">
                    <a:effectLst/>
                    <a:latin typeface="Calibri" panose="020F0502020204030204" pitchFamily="34" charset="0"/>
                    <a:cs typeface="Calibri" panose="020F0502020204030204" pitchFamily="34" charset="0"/>
                  </a:rPr>
                  <a:t> is a vector of floating-point numbers</a:t>
                </a:r>
              </a:p>
              <a:p>
                <a:r>
                  <a:rPr lang="en-SG" sz="1800" dirty="0">
                    <a:latin typeface="Calibri" panose="020F0502020204030204" pitchFamily="34" charset="0"/>
                    <a:cs typeface="Calibri" panose="020F0502020204030204" pitchFamily="34" charset="0"/>
                  </a:rPr>
                  <a:t>Existing implementations can be adopted for support this.</a:t>
                </a:r>
                <a:endParaRPr lang="en-SG" sz="1800" dirty="0">
                  <a:effectLst/>
                  <a:latin typeface="Calibri" panose="020F0502020204030204" pitchFamily="34" charset="0"/>
                  <a:cs typeface="Calibri" panose="020F0502020204030204" pitchFamily="34" charset="0"/>
                </a:endParaRPr>
              </a:p>
            </p:txBody>
          </p:sp>
        </mc:Choice>
        <mc:Fallback xmlns="">
          <p:sp>
            <p:nvSpPr>
              <p:cNvPr id="5" name="文本占位符 44">
                <a:extLst>
                  <a:ext uri="{FF2B5EF4-FFF2-40B4-BE49-F238E27FC236}">
                    <a16:creationId xmlns:a16="http://schemas.microsoft.com/office/drawing/2014/main" id="{8827E75D-95C7-3D03-AB6E-80513C89C8C7}"/>
                  </a:ext>
                </a:extLst>
              </p:cNvPr>
              <p:cNvSpPr txBox="1">
                <a:spLocks noRot="1" noChangeAspect="1" noMove="1" noResize="1" noEditPoints="1" noAdjustHandles="1" noChangeArrowheads="1" noChangeShapeType="1" noTextEdit="1"/>
              </p:cNvSpPr>
              <p:nvPr/>
            </p:nvSpPr>
            <p:spPr>
              <a:xfrm>
                <a:off x="677517" y="3943619"/>
                <a:ext cx="10836965" cy="730507"/>
              </a:xfrm>
              <a:prstGeom prst="rect">
                <a:avLst/>
              </a:prstGeom>
              <a:blipFill>
                <a:blip r:embed="rId4"/>
                <a:stretch>
                  <a:fillRect l="-351" t="-6780" b="-6101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403154F-A272-8563-7194-7A3D53715632}"/>
              </a:ext>
            </a:extLst>
          </p:cNvPr>
          <p:cNvPicPr>
            <a:picLocks noChangeAspect="1"/>
          </p:cNvPicPr>
          <p:nvPr/>
        </p:nvPicPr>
        <p:blipFill>
          <a:blip r:embed="rId5"/>
          <a:stretch>
            <a:fillRect/>
          </a:stretch>
        </p:blipFill>
        <p:spPr>
          <a:xfrm>
            <a:off x="3321874" y="1655086"/>
            <a:ext cx="5548250" cy="1729078"/>
          </a:xfrm>
          <a:prstGeom prst="rect">
            <a:avLst/>
          </a:prstGeom>
        </p:spPr>
      </p:pic>
    </p:spTree>
    <p:custDataLst>
      <p:tags r:id="rId1"/>
    </p:custDataLst>
    <p:extLst>
      <p:ext uri="{BB962C8B-B14F-4D97-AF65-F5344CB8AC3E}">
        <p14:creationId xmlns:p14="http://schemas.microsoft.com/office/powerpoint/2010/main" val="1418327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Analysis of Space-Accuracy Trade-off</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40</a:t>
            </a:fld>
            <a:endParaRPr lang="en-US"/>
          </a:p>
        </p:txBody>
      </p:sp>
      <p:pic>
        <p:nvPicPr>
          <p:cNvPr id="3" name="Picture 2">
            <a:extLst>
              <a:ext uri="{FF2B5EF4-FFF2-40B4-BE49-F238E27FC236}">
                <a16:creationId xmlns:a16="http://schemas.microsoft.com/office/drawing/2014/main" id="{3B20C26C-5827-F543-8554-97BE6EBEBBD7}"/>
              </a:ext>
            </a:extLst>
          </p:cNvPr>
          <p:cNvPicPr>
            <a:picLocks noChangeAspect="1"/>
          </p:cNvPicPr>
          <p:nvPr/>
        </p:nvPicPr>
        <p:blipFill>
          <a:blip r:embed="rId4"/>
          <a:stretch>
            <a:fillRect/>
          </a:stretch>
        </p:blipFill>
        <p:spPr>
          <a:xfrm>
            <a:off x="1373010" y="1589550"/>
            <a:ext cx="9445980" cy="1646547"/>
          </a:xfrm>
          <a:prstGeom prst="rect">
            <a:avLst/>
          </a:prstGeom>
        </p:spPr>
      </p:pic>
      <p:pic>
        <p:nvPicPr>
          <p:cNvPr id="7" name="Picture 6">
            <a:extLst>
              <a:ext uri="{FF2B5EF4-FFF2-40B4-BE49-F238E27FC236}">
                <a16:creationId xmlns:a16="http://schemas.microsoft.com/office/drawing/2014/main" id="{23BFA0EF-09AA-CF3B-E29D-84B51C2CE0AC}"/>
              </a:ext>
            </a:extLst>
          </p:cNvPr>
          <p:cNvPicPr>
            <a:picLocks noChangeAspect="1"/>
          </p:cNvPicPr>
          <p:nvPr/>
        </p:nvPicPr>
        <p:blipFill>
          <a:blip r:embed="rId5"/>
          <a:stretch>
            <a:fillRect/>
          </a:stretch>
        </p:blipFill>
        <p:spPr>
          <a:xfrm>
            <a:off x="1339985" y="3621904"/>
            <a:ext cx="9479005" cy="1448618"/>
          </a:xfrm>
          <a:prstGeom prst="rect">
            <a:avLst/>
          </a:prstGeom>
        </p:spPr>
      </p:pic>
      <p:sp>
        <p:nvSpPr>
          <p:cNvPr id="8" name="TextBox 7">
            <a:extLst>
              <a:ext uri="{FF2B5EF4-FFF2-40B4-BE49-F238E27FC236}">
                <a16:creationId xmlns:a16="http://schemas.microsoft.com/office/drawing/2014/main" id="{EB6CC9DA-1ACC-2F83-4070-16F9D63BF641}"/>
              </a:ext>
            </a:extLst>
          </p:cNvPr>
          <p:cNvSpPr txBox="1"/>
          <p:nvPr/>
        </p:nvSpPr>
        <p:spPr>
          <a:xfrm>
            <a:off x="491421" y="5529379"/>
            <a:ext cx="11530521" cy="830997"/>
          </a:xfrm>
          <a:prstGeom prst="rect">
            <a:avLst/>
          </a:prstGeom>
          <a:noFill/>
        </p:spPr>
        <p:txBody>
          <a:bodyPr wrap="square" rtlCol="0">
            <a:spAutoFit/>
          </a:bodyPr>
          <a:lstStyle/>
          <a:p>
            <a:pPr algn="ctr"/>
            <a:r>
              <a:rPr lang="en-US" sz="2400" dirty="0">
                <a:solidFill>
                  <a:srgbClr val="FF0000"/>
                </a:solidFill>
              </a:rPr>
              <a:t>The theoretical guarantee is asymptotically optimal. To our knowledge, our method is also the first practical algorithm which achieves the optimality.</a:t>
            </a:r>
          </a:p>
        </p:txBody>
      </p:sp>
    </p:spTree>
    <p:custDataLst>
      <p:tags r:id="rId1"/>
    </p:custDataLst>
    <p:extLst>
      <p:ext uri="{BB962C8B-B14F-4D97-AF65-F5344CB8AC3E}">
        <p14:creationId xmlns:p14="http://schemas.microsoft.com/office/powerpoint/2010/main" val="27413093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Distance Comparison with Extended RaBitQ</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41</a:t>
            </a:fld>
            <a:endParaRPr lang="en-US"/>
          </a:p>
        </p:txBody>
      </p:sp>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8827E75D-95C7-3D03-AB6E-80513C89C8C7}"/>
                  </a:ext>
                </a:extLst>
              </p:cNvPr>
              <p:cNvSpPr txBox="1">
                <a:spLocks/>
              </p:cNvSpPr>
              <p:nvPr/>
            </p:nvSpPr>
            <p:spPr>
              <a:xfrm>
                <a:off x="677517" y="3883759"/>
                <a:ext cx="10836965" cy="7305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n-US" sz="1800" b="0" i="1" smtClean="0">
                            <a:effectLst/>
                            <a:latin typeface="Cambria Math" panose="02040503050406030204" pitchFamily="18" charset="0"/>
                            <a:cs typeface="Calibri" panose="020F0502020204030204" pitchFamily="34" charset="0"/>
                          </a:rPr>
                        </m:ctrlPr>
                      </m:sSubPr>
                      <m:e>
                        <m:acc>
                          <m:accPr>
                            <m:chr m:val="̅"/>
                            <m:ctrlPr>
                              <a:rPr lang="en-US" sz="1800" b="1" i="1" smtClean="0">
                                <a:effectLst/>
                                <a:latin typeface="Cambria Math" panose="02040503050406030204" pitchFamily="18" charset="0"/>
                                <a:cs typeface="Calibri" panose="020F0502020204030204" pitchFamily="34" charset="0"/>
                              </a:rPr>
                            </m:ctrlPr>
                          </m:accPr>
                          <m:e>
                            <m:r>
                              <a:rPr lang="en-US" sz="1800" b="1" i="0" smtClean="0">
                                <a:effectLst/>
                                <a:latin typeface="Cambria Math" panose="02040503050406030204" pitchFamily="18" charset="0"/>
                                <a:cs typeface="Calibri" panose="020F0502020204030204" pitchFamily="34" charset="0"/>
                              </a:rPr>
                              <m:t>𝐲</m:t>
                            </m:r>
                          </m:e>
                        </m:acc>
                      </m:e>
                      <m:sub>
                        <m:r>
                          <a:rPr lang="en-US" sz="1800" b="0" i="1" smtClean="0">
                            <a:effectLst/>
                            <a:latin typeface="Cambria Math" panose="02040503050406030204" pitchFamily="18" charset="0"/>
                            <a:cs typeface="Calibri" panose="020F0502020204030204" pitchFamily="34" charset="0"/>
                          </a:rPr>
                          <m:t>𝑢</m:t>
                        </m:r>
                      </m:sub>
                    </m:sSub>
                  </m:oMath>
                </a14:m>
                <a:r>
                  <a:rPr lang="en-SG" sz="1800" dirty="0">
                    <a:effectLst/>
                    <a:latin typeface="Calibri" panose="020F0502020204030204" pitchFamily="34" charset="0"/>
                    <a:cs typeface="Calibri" panose="020F0502020204030204" pitchFamily="34" charset="0"/>
                  </a:rPr>
                  <a:t> is a </a:t>
                </a:r>
                <a14:m>
                  <m:oMath xmlns:m="http://schemas.openxmlformats.org/officeDocument/2006/math">
                    <m:r>
                      <a:rPr lang="en-US" sz="1800" b="0" i="1" smtClean="0">
                        <a:effectLst/>
                        <a:latin typeface="Cambria Math" panose="02040503050406030204" pitchFamily="18" charset="0"/>
                        <a:cs typeface="Calibri" panose="020F0502020204030204" pitchFamily="34" charset="0"/>
                      </a:rPr>
                      <m:t>𝐷</m:t>
                    </m:r>
                  </m:oMath>
                </a14:m>
                <a:r>
                  <a:rPr lang="en-SG" sz="1800" dirty="0">
                    <a:effectLst/>
                    <a:latin typeface="Calibri" panose="020F0502020204030204" pitchFamily="34" charset="0"/>
                    <a:cs typeface="Calibri" panose="020F0502020204030204" pitchFamily="34" charset="0"/>
                  </a:rPr>
                  <a:t>-dimensional vector of </a:t>
                </a:r>
                <a14:m>
                  <m:oMath xmlns:m="http://schemas.openxmlformats.org/officeDocument/2006/math">
                    <m:r>
                      <a:rPr lang="en-US" sz="1800" b="0" i="1" smtClean="0">
                        <a:effectLst/>
                        <a:latin typeface="Cambria Math" panose="02040503050406030204" pitchFamily="18" charset="0"/>
                        <a:cs typeface="Calibri" panose="020F0502020204030204" pitchFamily="34" charset="0"/>
                      </a:rPr>
                      <m:t>𝐵</m:t>
                    </m:r>
                  </m:oMath>
                </a14:m>
                <a:r>
                  <a:rPr lang="en-SG" sz="1800" dirty="0">
                    <a:effectLst/>
                    <a:latin typeface="Calibri" panose="020F0502020204030204" pitchFamily="34" charset="0"/>
                    <a:cs typeface="Calibri" panose="020F0502020204030204" pitchFamily="34" charset="0"/>
                  </a:rPr>
                  <a:t>-bit unsigned integers</a:t>
                </a:r>
              </a:p>
              <a:p>
                <a:pPr lvl="1"/>
                <a:r>
                  <a:rPr lang="en-SG" sz="1400" dirty="0">
                    <a:latin typeface="Calibri" panose="020F0502020204030204" pitchFamily="34" charset="0"/>
                    <a:cs typeface="Calibri" panose="020F0502020204030204" pitchFamily="34" charset="0"/>
                  </a:rPr>
                  <a:t>The concatenation of the most significant bit in each dimension exactly equals to the quantization code of the original RaBitQ.</a:t>
                </a:r>
              </a:p>
              <a:p>
                <a:pPr lvl="1"/>
                <a:endParaRPr lang="en-SG" sz="1400" dirty="0">
                  <a:effectLst/>
                  <a:latin typeface="Calibri" panose="020F0502020204030204" pitchFamily="34" charset="0"/>
                  <a:cs typeface="Calibri" panose="020F0502020204030204" pitchFamily="34" charset="0"/>
                </a:endParaRPr>
              </a:p>
              <a:p>
                <a:r>
                  <a:rPr lang="en-SG" sz="1800" dirty="0">
                    <a:latin typeface="Calibri" panose="020F0502020204030204" pitchFamily="34" charset="0"/>
                    <a:cs typeface="Calibri" panose="020F0502020204030204" pitchFamily="34" charset="0"/>
                  </a:rPr>
                  <a:t>We consider adaptively conducting distance comparison with the extended RaBitQ </a:t>
                </a:r>
              </a:p>
              <a:p>
                <a:pPr lvl="1"/>
                <a:r>
                  <a:rPr lang="en-SG" sz="1400" dirty="0">
                    <a:effectLst/>
                    <a:latin typeface="Calibri" panose="020F0502020204030204" pitchFamily="34" charset="0"/>
                    <a:cs typeface="Calibri" panose="020F0502020204030204" pitchFamily="34" charset="0"/>
                  </a:rPr>
                  <a:t>Compute an estimated distance based on the first bits of the quantization code.</a:t>
                </a:r>
              </a:p>
              <a:p>
                <a:pPr lvl="1"/>
                <a:r>
                  <a:rPr lang="en-SG" sz="1400" dirty="0">
                    <a:latin typeface="Calibri" panose="020F0502020204030204" pitchFamily="34" charset="0"/>
                    <a:cs typeface="Calibri" panose="020F0502020204030204" pitchFamily="34" charset="0"/>
                  </a:rPr>
                  <a:t>If its lower bound is larger than the distance of the NN, then we incrementally estimate a distance based on full bits. </a:t>
                </a:r>
                <a:endParaRPr lang="en-SG" sz="1400" dirty="0">
                  <a:effectLst/>
                  <a:latin typeface="Calibri" panose="020F0502020204030204" pitchFamily="34" charset="0"/>
                  <a:cs typeface="Calibri" panose="020F0502020204030204" pitchFamily="34" charset="0"/>
                </a:endParaRPr>
              </a:p>
            </p:txBody>
          </p:sp>
        </mc:Choice>
        <mc:Fallback xmlns="">
          <p:sp>
            <p:nvSpPr>
              <p:cNvPr id="5" name="文本占位符 44">
                <a:extLst>
                  <a:ext uri="{FF2B5EF4-FFF2-40B4-BE49-F238E27FC236}">
                    <a16:creationId xmlns:a16="http://schemas.microsoft.com/office/drawing/2014/main" id="{8827E75D-95C7-3D03-AB6E-80513C89C8C7}"/>
                  </a:ext>
                </a:extLst>
              </p:cNvPr>
              <p:cNvSpPr txBox="1">
                <a:spLocks noRot="1" noChangeAspect="1" noMove="1" noResize="1" noEditPoints="1" noAdjustHandles="1" noChangeArrowheads="1" noChangeShapeType="1" noTextEdit="1"/>
              </p:cNvSpPr>
              <p:nvPr/>
            </p:nvSpPr>
            <p:spPr>
              <a:xfrm>
                <a:off x="677517" y="3883759"/>
                <a:ext cx="10836965" cy="730507"/>
              </a:xfrm>
              <a:prstGeom prst="rect">
                <a:avLst/>
              </a:prstGeom>
              <a:blipFill>
                <a:blip r:embed="rId4"/>
                <a:stretch>
                  <a:fillRect l="-351" t="-6780" b="-14406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32134AF-9F46-ADCB-3D26-32F9BCE8A0FA}"/>
              </a:ext>
            </a:extLst>
          </p:cNvPr>
          <p:cNvPicPr>
            <a:picLocks noChangeAspect="1"/>
          </p:cNvPicPr>
          <p:nvPr/>
        </p:nvPicPr>
        <p:blipFill>
          <a:blip r:embed="rId5"/>
          <a:stretch>
            <a:fillRect/>
          </a:stretch>
        </p:blipFill>
        <p:spPr>
          <a:xfrm>
            <a:off x="402951" y="1665514"/>
            <a:ext cx="5366711" cy="1675394"/>
          </a:xfrm>
          <a:prstGeom prst="rect">
            <a:avLst/>
          </a:prstGeom>
        </p:spPr>
      </p:pic>
      <p:pic>
        <p:nvPicPr>
          <p:cNvPr id="7" name="Picture 6">
            <a:extLst>
              <a:ext uri="{FF2B5EF4-FFF2-40B4-BE49-F238E27FC236}">
                <a16:creationId xmlns:a16="http://schemas.microsoft.com/office/drawing/2014/main" id="{6CE059CE-D716-9A16-7455-0D28CAF8C184}"/>
              </a:ext>
            </a:extLst>
          </p:cNvPr>
          <p:cNvPicPr>
            <a:picLocks noChangeAspect="1"/>
          </p:cNvPicPr>
          <p:nvPr/>
        </p:nvPicPr>
        <p:blipFill>
          <a:blip r:embed="rId6"/>
          <a:stretch>
            <a:fillRect/>
          </a:stretch>
        </p:blipFill>
        <p:spPr>
          <a:xfrm>
            <a:off x="5980622" y="1780007"/>
            <a:ext cx="5750059" cy="1446407"/>
          </a:xfrm>
          <a:prstGeom prst="rect">
            <a:avLst/>
          </a:prstGeom>
        </p:spPr>
      </p:pic>
    </p:spTree>
    <p:custDataLst>
      <p:tags r:id="rId1"/>
    </p:custDataLst>
    <p:extLst>
      <p:ext uri="{BB962C8B-B14F-4D97-AF65-F5344CB8AC3E}">
        <p14:creationId xmlns:p14="http://schemas.microsoft.com/office/powerpoint/2010/main" val="2166516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Space-Accuracy Trade-Off for Distance Estimation</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42</a:t>
            </a:fld>
            <a:endParaRPr lang="en-US"/>
          </a:p>
        </p:txBody>
      </p:sp>
      <p:pic>
        <p:nvPicPr>
          <p:cNvPr id="6" name="Picture 5">
            <a:extLst>
              <a:ext uri="{FF2B5EF4-FFF2-40B4-BE49-F238E27FC236}">
                <a16:creationId xmlns:a16="http://schemas.microsoft.com/office/drawing/2014/main" id="{C6726132-8D5C-1600-6416-02F0900D676F}"/>
              </a:ext>
            </a:extLst>
          </p:cNvPr>
          <p:cNvPicPr>
            <a:picLocks noChangeAspect="1"/>
          </p:cNvPicPr>
          <p:nvPr/>
        </p:nvPicPr>
        <p:blipFill>
          <a:blip r:embed="rId4"/>
          <a:stretch>
            <a:fillRect/>
          </a:stretch>
        </p:blipFill>
        <p:spPr>
          <a:xfrm>
            <a:off x="233516" y="1154453"/>
            <a:ext cx="6558116" cy="5172871"/>
          </a:xfrm>
          <a:prstGeom prst="rect">
            <a:avLst/>
          </a:prstGeom>
        </p:spPr>
      </p:pic>
      <mc:AlternateContent xmlns:mc="http://schemas.openxmlformats.org/markup-compatibility/2006" xmlns:a14="http://schemas.microsoft.com/office/drawing/2010/main">
        <mc:Choice Requires="a14">
          <p:sp>
            <p:nvSpPr>
              <p:cNvPr id="8" name="文本占位符 44">
                <a:extLst>
                  <a:ext uri="{FF2B5EF4-FFF2-40B4-BE49-F238E27FC236}">
                    <a16:creationId xmlns:a16="http://schemas.microsoft.com/office/drawing/2014/main" id="{7A634CFE-371A-AE72-FAA7-D24A7DBF3608}"/>
                  </a:ext>
                </a:extLst>
              </p:cNvPr>
              <p:cNvSpPr txBox="1">
                <a:spLocks/>
              </p:cNvSpPr>
              <p:nvPr/>
            </p:nvSpPr>
            <p:spPr>
              <a:xfrm>
                <a:off x="7065172" y="1735683"/>
                <a:ext cx="4893312" cy="1693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Methods</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Ours: RaBitQ (</a:t>
                </a:r>
                <a:r>
                  <a:rPr lang="en-US" altLang="zh-CN" sz="14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4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Baseline: PQ, OPQ, SQ, LVQ, RaBitQ (pad)</a:t>
                </a:r>
              </a:p>
              <a:p>
                <a:pPr marL="742950" lvl="1"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RaBitQ(</a:t>
                </a:r>
                <a:r>
                  <a:rPr lang="en-US" altLang="zh-CN" sz="18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a:t>
                </a:r>
                <a:r>
                  <a:rPr lang="en-US" altLang="zh-CN" sz="1800" dirty="0" err="1">
                    <a:latin typeface="Calibri" panose="020F0502020204030204" pitchFamily="34" charset="0"/>
                    <a:ea typeface="Microsoft YaHei" panose="020B0503020204020204" pitchFamily="34" charset="-122"/>
                    <a:cs typeface="Calibri" panose="020F0502020204030204" pitchFamily="34" charset="0"/>
                  </a:rPr>
                  <a:t>v.s</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SQ and LVQ</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significantly more accurate when </a:t>
                </a:r>
                <a14:m>
                  <m:oMath xmlns:m="http://schemas.openxmlformats.org/officeDocument/2006/math">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≤4</m:t>
                    </m:r>
                  </m:oMath>
                </a14:m>
                <a:endParaRPr lang="en-US" altLang="zh-CN" sz="14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The errors of SQ and LVQ are larger than RaBitQ(</a:t>
                </a:r>
                <a:r>
                  <a:rPr lang="en-US" altLang="zh-CN" sz="14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400" dirty="0">
                    <a:latin typeface="Calibri" panose="020F0502020204030204" pitchFamily="34" charset="0"/>
                    <a:ea typeface="Microsoft YaHei" panose="020B0503020204020204" pitchFamily="34" charset="-122"/>
                    <a:cs typeface="Calibri" panose="020F0502020204030204" pitchFamily="34" charset="0"/>
                  </a:rPr>
                  <a:t>) by 1.3x-3.1x when </a:t>
                </a:r>
                <a14:m>
                  <m:oMath xmlns:m="http://schemas.openxmlformats.org/officeDocument/2006/math">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&gt;4</m:t>
                    </m:r>
                  </m:oMath>
                </a14:m>
                <a:r>
                  <a:rPr lang="en-US" altLang="zh-CN" sz="14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endParaRPr lang="en-US" altLang="zh-CN" sz="14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PQ, OPQ, RaBitQ (pad)</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Competitive only when </a:t>
                </a:r>
                <a14:m>
                  <m:oMath xmlns:m="http://schemas.openxmlformats.org/officeDocument/2006/math">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=1,2</m:t>
                    </m:r>
                  </m:oMath>
                </a14:m>
                <a:r>
                  <a:rPr lang="en-US" altLang="zh-CN" sz="1400" dirty="0">
                    <a:latin typeface="Calibri" panose="020F0502020204030204" pitchFamily="34" charset="0"/>
                    <a:ea typeface="Microsoft YaHei" panose="020B0503020204020204" pitchFamily="34" charset="-122"/>
                    <a:cs typeface="Calibri" panose="020F0502020204030204" pitchFamily="34" charset="0"/>
                  </a:rPr>
                  <a:t>. </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PQ fails to outperform the classical SQ when </a:t>
                </a:r>
                <a14:m>
                  <m:oMath xmlns:m="http://schemas.openxmlformats.org/officeDocument/2006/math">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400" b="0" i="1" smtClean="0">
                        <a:latin typeface="Cambria Math" panose="02040503050406030204" pitchFamily="18" charset="0"/>
                        <a:ea typeface="Microsoft YaHei" panose="020B0503020204020204" pitchFamily="34" charset="-122"/>
                        <a:cs typeface="Calibri" panose="020F0502020204030204" pitchFamily="34" charset="0"/>
                      </a:rPr>
                      <m:t>≥4</m:t>
                    </m:r>
                  </m:oMath>
                </a14:m>
                <a:r>
                  <a:rPr lang="en-US" altLang="zh-CN" sz="1400" dirty="0">
                    <a:latin typeface="Calibri" panose="020F0502020204030204" pitchFamily="34" charset="0"/>
                    <a:ea typeface="Microsoft YaHei" panose="020B0503020204020204" pitchFamily="34" charset="-122"/>
                    <a:cs typeface="Calibri" panose="020F0502020204030204" pitchFamily="34" charset="0"/>
                  </a:rPr>
                  <a:t> in accuracy. Its efficiency is significantly worse than SQ. Thus, PQ is hardly effective in compressing vectors with a moderate compression rate (for reducing memory consumption without re-ranking).</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RaBitQ (pad)’s error also decays slowly.</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p:txBody>
          </p:sp>
        </mc:Choice>
        <mc:Fallback xmlns="">
          <p:sp>
            <p:nvSpPr>
              <p:cNvPr id="8" name="文本占位符 44">
                <a:extLst>
                  <a:ext uri="{FF2B5EF4-FFF2-40B4-BE49-F238E27FC236}">
                    <a16:creationId xmlns:a16="http://schemas.microsoft.com/office/drawing/2014/main" id="{7A634CFE-371A-AE72-FAA7-D24A7DBF3608}"/>
                  </a:ext>
                </a:extLst>
              </p:cNvPr>
              <p:cNvSpPr txBox="1">
                <a:spLocks noRot="1" noChangeAspect="1" noMove="1" noResize="1" noEditPoints="1" noAdjustHandles="1" noChangeArrowheads="1" noChangeShapeType="1" noTextEdit="1"/>
              </p:cNvSpPr>
              <p:nvPr/>
            </p:nvSpPr>
            <p:spPr>
              <a:xfrm>
                <a:off x="7065172" y="1735683"/>
                <a:ext cx="4893312" cy="1693317"/>
              </a:xfrm>
              <a:prstGeom prst="rect">
                <a:avLst/>
              </a:prstGeom>
              <a:blipFill>
                <a:blip r:embed="rId5"/>
                <a:stretch>
                  <a:fillRect l="-777" t="-2963" b="-162222"/>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647397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Space-Accuracy Trade-Off for ANN</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43</a:t>
            </a:fld>
            <a:endParaRPr lang="en-US"/>
          </a:p>
        </p:txBody>
      </p:sp>
      <p:pic>
        <p:nvPicPr>
          <p:cNvPr id="3" name="Picture 2">
            <a:extLst>
              <a:ext uri="{FF2B5EF4-FFF2-40B4-BE49-F238E27FC236}">
                <a16:creationId xmlns:a16="http://schemas.microsoft.com/office/drawing/2014/main" id="{65C242C9-A7FA-7FA5-DEF2-D29433E84B8A}"/>
              </a:ext>
            </a:extLst>
          </p:cNvPr>
          <p:cNvPicPr>
            <a:picLocks noChangeAspect="1"/>
          </p:cNvPicPr>
          <p:nvPr/>
        </p:nvPicPr>
        <p:blipFill>
          <a:blip r:embed="rId4"/>
          <a:stretch>
            <a:fillRect/>
          </a:stretch>
        </p:blipFill>
        <p:spPr>
          <a:xfrm>
            <a:off x="0" y="1295947"/>
            <a:ext cx="7168100" cy="4266105"/>
          </a:xfrm>
          <a:prstGeom prst="rect">
            <a:avLst/>
          </a:prstGeom>
        </p:spPr>
      </p:pic>
      <mc:AlternateContent xmlns:mc="http://schemas.openxmlformats.org/markup-compatibility/2006" xmlns:a14="http://schemas.microsoft.com/office/drawing/2010/main">
        <mc:Choice Requires="a14">
          <p:sp>
            <p:nvSpPr>
              <p:cNvPr id="5" name="文本占位符 44">
                <a:extLst>
                  <a:ext uri="{FF2B5EF4-FFF2-40B4-BE49-F238E27FC236}">
                    <a16:creationId xmlns:a16="http://schemas.microsoft.com/office/drawing/2014/main" id="{D53D6DD0-0193-3ADF-F785-F136E84238EA}"/>
                  </a:ext>
                </a:extLst>
              </p:cNvPr>
              <p:cNvSpPr txBox="1">
                <a:spLocks/>
              </p:cNvSpPr>
              <p:nvPr/>
            </p:nvSpPr>
            <p:spPr>
              <a:xfrm>
                <a:off x="7048983" y="1206034"/>
                <a:ext cx="5143017" cy="44459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Methods</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Ours: RaBitQ (</a:t>
                </a:r>
                <a:r>
                  <a:rPr lang="en-US" altLang="zh-CN" sz="14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400" dirty="0">
                    <a:latin typeface="Calibri" panose="020F0502020204030204" pitchFamily="34" charset="0"/>
                    <a:ea typeface="Microsoft YaHei" panose="020B0503020204020204" pitchFamily="34" charset="-122"/>
                    <a:cs typeface="Calibri" panose="020F0502020204030204" pitchFamily="34" charset="0"/>
                  </a:rPr>
                  <a:t>)</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Baseline: LVQ</a:t>
                </a:r>
              </a:p>
              <a:p>
                <a:pPr marL="285750"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Space-Accuracy Trade-Off</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RaBitQ (</a:t>
                </a:r>
                <a:r>
                  <a:rPr lang="en-US" altLang="zh-CN" sz="14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400" dirty="0">
                    <a:latin typeface="Calibri" panose="020F0502020204030204" pitchFamily="34" charset="0"/>
                    <a:ea typeface="Microsoft YaHei" panose="020B0503020204020204" pitchFamily="34" charset="-122"/>
                    <a:cs typeface="Calibri" panose="020F0502020204030204" pitchFamily="34" charset="0"/>
                  </a:rPr>
                  <a:t>) produces higher recall with the same number of bits.</a:t>
                </a:r>
              </a:p>
              <a:p>
                <a:pPr marL="742950" lvl="1" indent="-285750">
                  <a:buFont typeface="Wingdings" panose="05000000000000000000" pitchFamily="2" charset="2"/>
                  <a:buChar char="Ø"/>
                </a:pPr>
                <a:r>
                  <a:rPr lang="en-US" altLang="zh-CN" sz="1400" dirty="0">
                    <a:latin typeface="Calibri" panose="020F0502020204030204" pitchFamily="34" charset="0"/>
                    <a:ea typeface="Microsoft YaHei" panose="020B0503020204020204" pitchFamily="34" charset="-122"/>
                    <a:cs typeface="Calibri" panose="020F0502020204030204" pitchFamily="34" charset="0"/>
                  </a:rPr>
                  <a:t>RaBitQ (</a:t>
                </a:r>
                <a:r>
                  <a:rPr lang="en-US" altLang="zh-CN" sz="14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400" dirty="0">
                    <a:latin typeface="Calibri" panose="020F0502020204030204" pitchFamily="34" charset="0"/>
                    <a:ea typeface="Microsoft YaHei" panose="020B0503020204020204" pitchFamily="34" charset="-122"/>
                    <a:cs typeface="Calibri" panose="020F0502020204030204" pitchFamily="34" charset="0"/>
                  </a:rPr>
                  <a:t>) is significantly more efficient than LVQ due to its adaptive distance comparison strategy. </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RaBitQ (</a:t>
                </a:r>
                <a:r>
                  <a:rPr lang="en-US" altLang="zh-CN" sz="1800" dirty="0" err="1">
                    <a:latin typeface="Calibri" panose="020F0502020204030204" pitchFamily="34" charset="0"/>
                    <a:ea typeface="Microsoft YaHei" panose="020B0503020204020204" pitchFamily="34" charset="-122"/>
                    <a:cs typeface="Calibri" panose="020F0502020204030204" pitchFamily="34" charset="0"/>
                  </a:rPr>
                  <a:t>ext</a:t>
                </a:r>
                <a:r>
                  <a:rPr lang="en-US" altLang="zh-CN" sz="1800" dirty="0">
                    <a:latin typeface="Calibri" panose="020F0502020204030204" pitchFamily="34" charset="0"/>
                    <a:ea typeface="Microsoft YaHei" panose="020B0503020204020204" pitchFamily="34" charset="-122"/>
                    <a:cs typeface="Calibri" panose="020F0502020204030204" pitchFamily="34" charset="0"/>
                  </a:rPr>
                  <a:t>) stably produces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&gt;90%, &gt;95%</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and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&gt;99%</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recall with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=4, 5</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and 7.</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Datasets from OpenAI are robust to quantization: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𝐵</m:t>
                    </m:r>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=3</m:t>
                    </m:r>
                  </m:oMath>
                </a14:m>
                <a:r>
                  <a:rPr lang="en-US" altLang="zh-CN" sz="1800" i="1" dirty="0">
                    <a:latin typeface="Calibri" panose="020F0502020204030204" pitchFamily="34" charset="0"/>
                    <a:ea typeface="Microsoft YaHei" panose="020B0503020204020204" pitchFamily="34" charset="-122"/>
                    <a:cs typeface="Calibri" panose="020F0502020204030204" pitchFamily="34" charset="0"/>
                  </a:rPr>
                  <a:t> </a:t>
                </a:r>
                <a:r>
                  <a:rPr lang="en-US" altLang="zh-CN" sz="1800" dirty="0">
                    <a:latin typeface="Calibri" panose="020F0502020204030204" pitchFamily="34" charset="0"/>
                    <a:ea typeface="Microsoft YaHei" panose="020B0503020204020204" pitchFamily="34" charset="-122"/>
                    <a:cs typeface="Calibri" panose="020F0502020204030204" pitchFamily="34" charset="0"/>
                  </a:rPr>
                  <a:t>suffices to produce </a:t>
                </a:r>
                <a14:m>
                  <m:oMath xmlns:m="http://schemas.openxmlformats.org/officeDocument/2006/math">
                    <m:r>
                      <a:rPr lang="en-US" altLang="zh-CN" sz="1800" b="0" i="1" smtClean="0">
                        <a:latin typeface="Cambria Math" panose="02040503050406030204" pitchFamily="18" charset="0"/>
                        <a:ea typeface="Microsoft YaHei" panose="020B0503020204020204" pitchFamily="34" charset="-122"/>
                        <a:cs typeface="Calibri" panose="020F0502020204030204" pitchFamily="34" charset="0"/>
                      </a:rPr>
                      <m:t>&gt;95%</m:t>
                    </m:r>
                  </m:oMath>
                </a14:m>
                <a:r>
                  <a:rPr lang="en-US" altLang="zh-CN" sz="1800" dirty="0">
                    <a:latin typeface="Calibri" panose="020F0502020204030204" pitchFamily="34" charset="0"/>
                    <a:ea typeface="Microsoft YaHei" panose="020B0503020204020204" pitchFamily="34" charset="-122"/>
                    <a:cs typeface="Calibri" panose="020F0502020204030204" pitchFamily="34" charset="0"/>
                  </a:rPr>
                  <a:t> recall.</a:t>
                </a:r>
              </a:p>
            </p:txBody>
          </p:sp>
        </mc:Choice>
        <mc:Fallback xmlns="">
          <p:sp>
            <p:nvSpPr>
              <p:cNvPr id="5" name="文本占位符 44">
                <a:extLst>
                  <a:ext uri="{FF2B5EF4-FFF2-40B4-BE49-F238E27FC236}">
                    <a16:creationId xmlns:a16="http://schemas.microsoft.com/office/drawing/2014/main" id="{D53D6DD0-0193-3ADF-F785-F136E84238EA}"/>
                  </a:ext>
                </a:extLst>
              </p:cNvPr>
              <p:cNvSpPr txBox="1">
                <a:spLocks noRot="1" noChangeAspect="1" noMove="1" noResize="1" noEditPoints="1" noAdjustHandles="1" noChangeArrowheads="1" noChangeShapeType="1" noTextEdit="1"/>
              </p:cNvSpPr>
              <p:nvPr/>
            </p:nvSpPr>
            <p:spPr>
              <a:xfrm>
                <a:off x="7048983" y="1206034"/>
                <a:ext cx="5143017" cy="4445930"/>
              </a:xfrm>
              <a:prstGeom prst="rect">
                <a:avLst/>
              </a:prstGeom>
              <a:blipFill>
                <a:blip r:embed="rId5"/>
                <a:stretch>
                  <a:fillRect l="-737" t="-1429" r="-49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26685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Quantization Time during Indexing</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44</a:t>
            </a:fld>
            <a:endParaRPr lang="en-US"/>
          </a:p>
        </p:txBody>
      </p:sp>
      <p:pic>
        <p:nvPicPr>
          <p:cNvPr id="6" name="Picture 5">
            <a:extLst>
              <a:ext uri="{FF2B5EF4-FFF2-40B4-BE49-F238E27FC236}">
                <a16:creationId xmlns:a16="http://schemas.microsoft.com/office/drawing/2014/main" id="{84720F6D-81C2-4B04-8308-0FB8C26918AE}"/>
              </a:ext>
            </a:extLst>
          </p:cNvPr>
          <p:cNvPicPr>
            <a:picLocks noChangeAspect="1"/>
          </p:cNvPicPr>
          <p:nvPr/>
        </p:nvPicPr>
        <p:blipFill>
          <a:blip r:embed="rId4"/>
          <a:stretch>
            <a:fillRect/>
          </a:stretch>
        </p:blipFill>
        <p:spPr>
          <a:xfrm>
            <a:off x="1998168" y="2183580"/>
            <a:ext cx="8195664" cy="2490839"/>
          </a:xfrm>
          <a:prstGeom prst="rect">
            <a:avLst/>
          </a:prstGeom>
        </p:spPr>
      </p:pic>
    </p:spTree>
    <p:custDataLst>
      <p:tags r:id="rId1"/>
    </p:custDataLst>
    <p:extLst>
      <p:ext uri="{BB962C8B-B14F-4D97-AF65-F5344CB8AC3E}">
        <p14:creationId xmlns:p14="http://schemas.microsoft.com/office/powerpoint/2010/main" val="781666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Scalability</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45</a:t>
            </a:fld>
            <a:endParaRPr lang="en-US"/>
          </a:p>
        </p:txBody>
      </p:sp>
      <p:sp>
        <p:nvSpPr>
          <p:cNvPr id="5" name="文本占位符 44">
            <a:extLst>
              <a:ext uri="{FF2B5EF4-FFF2-40B4-BE49-F238E27FC236}">
                <a16:creationId xmlns:a16="http://schemas.microsoft.com/office/drawing/2014/main" id="{D53D6DD0-0193-3ADF-F785-F136E84238EA}"/>
              </a:ext>
            </a:extLst>
          </p:cNvPr>
          <p:cNvSpPr txBox="1">
            <a:spLocks/>
          </p:cNvSpPr>
          <p:nvPr/>
        </p:nvSpPr>
        <p:spPr>
          <a:xfrm>
            <a:off x="838200" y="1095632"/>
            <a:ext cx="10515600" cy="449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latin typeface="Calibri" panose="020F0502020204030204" pitchFamily="34" charset="0"/>
                <a:ea typeface="Microsoft YaHei" panose="020B0503020204020204" pitchFamily="34" charset="-122"/>
                <a:cs typeface="Calibri" panose="020F0502020204030204" pitchFamily="34" charset="0"/>
              </a:rPr>
              <a:t>MSMARCO has ~100M 1,024-dimensional vectors.</a:t>
            </a:r>
            <a:endParaRPr lang="en-US" altLang="zh-CN" sz="1400" dirty="0">
              <a:latin typeface="Calibri" panose="020F0502020204030204" pitchFamily="34" charset="0"/>
              <a:ea typeface="Microsoft YaHei" panose="020B0503020204020204" pitchFamily="34" charset="-122"/>
              <a:cs typeface="Calibri" panose="020F0502020204030204" pitchFamily="34" charset="0"/>
            </a:endParaRPr>
          </a:p>
        </p:txBody>
      </p:sp>
      <p:pic>
        <p:nvPicPr>
          <p:cNvPr id="6" name="Picture 5">
            <a:extLst>
              <a:ext uri="{FF2B5EF4-FFF2-40B4-BE49-F238E27FC236}">
                <a16:creationId xmlns:a16="http://schemas.microsoft.com/office/drawing/2014/main" id="{162ECFF6-F0A5-555A-3114-4FB1FCF89B96}"/>
              </a:ext>
            </a:extLst>
          </p:cNvPr>
          <p:cNvPicPr>
            <a:picLocks noChangeAspect="1"/>
          </p:cNvPicPr>
          <p:nvPr/>
        </p:nvPicPr>
        <p:blipFill>
          <a:blip r:embed="rId4"/>
          <a:stretch>
            <a:fillRect/>
          </a:stretch>
        </p:blipFill>
        <p:spPr>
          <a:xfrm>
            <a:off x="2812166" y="1441451"/>
            <a:ext cx="6567668" cy="2852348"/>
          </a:xfrm>
          <a:prstGeom prst="rect">
            <a:avLst/>
          </a:prstGeom>
        </p:spPr>
      </p:pic>
      <p:pic>
        <p:nvPicPr>
          <p:cNvPr id="7" name="Picture 6">
            <a:extLst>
              <a:ext uri="{FF2B5EF4-FFF2-40B4-BE49-F238E27FC236}">
                <a16:creationId xmlns:a16="http://schemas.microsoft.com/office/drawing/2014/main" id="{7924FCA0-7FB4-35B8-D21E-4E5C068B0936}"/>
              </a:ext>
            </a:extLst>
          </p:cNvPr>
          <p:cNvPicPr>
            <a:picLocks noChangeAspect="1"/>
          </p:cNvPicPr>
          <p:nvPr/>
        </p:nvPicPr>
        <p:blipFill>
          <a:blip r:embed="rId5"/>
          <a:stretch>
            <a:fillRect/>
          </a:stretch>
        </p:blipFill>
        <p:spPr>
          <a:xfrm>
            <a:off x="2209800" y="4293799"/>
            <a:ext cx="7772400" cy="1817061"/>
          </a:xfrm>
          <a:prstGeom prst="rect">
            <a:avLst/>
          </a:prstGeom>
        </p:spPr>
      </p:pic>
      <p:sp>
        <p:nvSpPr>
          <p:cNvPr id="8" name="TextBox 7">
            <a:extLst>
              <a:ext uri="{FF2B5EF4-FFF2-40B4-BE49-F238E27FC236}">
                <a16:creationId xmlns:a16="http://schemas.microsoft.com/office/drawing/2014/main" id="{F655CB52-17DE-E820-BDD0-902EB085BB17}"/>
              </a:ext>
            </a:extLst>
          </p:cNvPr>
          <p:cNvSpPr txBox="1"/>
          <p:nvPr/>
        </p:nvSpPr>
        <p:spPr>
          <a:xfrm>
            <a:off x="2575998" y="6110860"/>
            <a:ext cx="7155420" cy="369332"/>
          </a:xfrm>
          <a:prstGeom prst="rect">
            <a:avLst/>
          </a:prstGeom>
          <a:noFill/>
        </p:spPr>
        <p:txBody>
          <a:bodyPr wrap="none" rtlCol="0">
            <a:spAutoFit/>
          </a:bodyPr>
          <a:lstStyle/>
          <a:p>
            <a:r>
              <a:rPr lang="en-US" dirty="0">
                <a:solidFill>
                  <a:srgbClr val="FF0000"/>
                </a:solidFill>
              </a:rPr>
              <a:t>Every bit matters when the dataset is large, and the dimensionality is high.</a:t>
            </a:r>
          </a:p>
        </p:txBody>
      </p:sp>
      <p:sp>
        <p:nvSpPr>
          <p:cNvPr id="3" name="Rectangle 2">
            <a:extLst>
              <a:ext uri="{FF2B5EF4-FFF2-40B4-BE49-F238E27FC236}">
                <a16:creationId xmlns:a16="http://schemas.microsoft.com/office/drawing/2014/main" id="{847B538E-AE3D-3EF9-5347-EA0E0EA01004}"/>
              </a:ext>
            </a:extLst>
          </p:cNvPr>
          <p:cNvSpPr/>
          <p:nvPr/>
        </p:nvSpPr>
        <p:spPr>
          <a:xfrm>
            <a:off x="5116011" y="5831818"/>
            <a:ext cx="1296364" cy="1967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23941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Unbiasedness</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46</a:t>
            </a:fld>
            <a:endParaRPr lang="en-US"/>
          </a:p>
        </p:txBody>
      </p:sp>
      <p:pic>
        <p:nvPicPr>
          <p:cNvPr id="3" name="Picture 2">
            <a:extLst>
              <a:ext uri="{FF2B5EF4-FFF2-40B4-BE49-F238E27FC236}">
                <a16:creationId xmlns:a16="http://schemas.microsoft.com/office/drawing/2014/main" id="{DAA101DE-DE89-C457-76AE-9CA26FFEB6FF}"/>
              </a:ext>
            </a:extLst>
          </p:cNvPr>
          <p:cNvPicPr>
            <a:picLocks noChangeAspect="1"/>
          </p:cNvPicPr>
          <p:nvPr/>
        </p:nvPicPr>
        <p:blipFill>
          <a:blip r:embed="rId4"/>
          <a:stretch>
            <a:fillRect/>
          </a:stretch>
        </p:blipFill>
        <p:spPr>
          <a:xfrm>
            <a:off x="2129913" y="1411166"/>
            <a:ext cx="7932174" cy="4035667"/>
          </a:xfrm>
          <a:prstGeom prst="rect">
            <a:avLst/>
          </a:prstGeom>
        </p:spPr>
      </p:pic>
    </p:spTree>
    <p:custDataLst>
      <p:tags r:id="rId1"/>
    </p:custDataLst>
    <p:extLst>
      <p:ext uri="{BB962C8B-B14F-4D97-AF65-F5344CB8AC3E}">
        <p14:creationId xmlns:p14="http://schemas.microsoft.com/office/powerpoint/2010/main" val="2713839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Empirical Formula</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47</a:t>
            </a:fld>
            <a:endParaRPr lang="en-US"/>
          </a:p>
        </p:txBody>
      </p:sp>
      <p:pic>
        <p:nvPicPr>
          <p:cNvPr id="5" name="Picture 4">
            <a:extLst>
              <a:ext uri="{FF2B5EF4-FFF2-40B4-BE49-F238E27FC236}">
                <a16:creationId xmlns:a16="http://schemas.microsoft.com/office/drawing/2014/main" id="{11DC8949-4851-D430-5578-EF0EE8D1957E}"/>
              </a:ext>
            </a:extLst>
          </p:cNvPr>
          <p:cNvPicPr>
            <a:picLocks noChangeAspect="1"/>
          </p:cNvPicPr>
          <p:nvPr/>
        </p:nvPicPr>
        <p:blipFill>
          <a:blip r:embed="rId4"/>
          <a:stretch>
            <a:fillRect/>
          </a:stretch>
        </p:blipFill>
        <p:spPr>
          <a:xfrm>
            <a:off x="1356497" y="1095632"/>
            <a:ext cx="9479005" cy="1448618"/>
          </a:xfrm>
          <a:prstGeom prst="rect">
            <a:avLst/>
          </a:prstGeom>
        </p:spPr>
      </p:pic>
      <p:pic>
        <p:nvPicPr>
          <p:cNvPr id="6" name="Picture 5">
            <a:extLst>
              <a:ext uri="{FF2B5EF4-FFF2-40B4-BE49-F238E27FC236}">
                <a16:creationId xmlns:a16="http://schemas.microsoft.com/office/drawing/2014/main" id="{0D6C5D08-4F73-8295-5DAF-8B5BCE63AE50}"/>
              </a:ext>
            </a:extLst>
          </p:cNvPr>
          <p:cNvPicPr>
            <a:picLocks noChangeAspect="1"/>
          </p:cNvPicPr>
          <p:nvPr/>
        </p:nvPicPr>
        <p:blipFill>
          <a:blip r:embed="rId5"/>
          <a:stretch>
            <a:fillRect/>
          </a:stretch>
        </p:blipFill>
        <p:spPr>
          <a:xfrm>
            <a:off x="2675602" y="2755078"/>
            <a:ext cx="6840793" cy="3406696"/>
          </a:xfrm>
          <a:prstGeom prst="rect">
            <a:avLst/>
          </a:prstGeom>
        </p:spPr>
      </p:pic>
    </p:spTree>
    <p:custDataLst>
      <p:tags r:id="rId1"/>
    </p:custDataLst>
    <p:extLst>
      <p:ext uri="{BB962C8B-B14F-4D97-AF65-F5344CB8AC3E}">
        <p14:creationId xmlns:p14="http://schemas.microsoft.com/office/powerpoint/2010/main" val="1316493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69E6-4DC3-3524-FF2C-48723F62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B5DA1-A9BF-6DFD-1BFE-1CD2E1D9E5EC}"/>
              </a:ext>
            </a:extLst>
          </p:cNvPr>
          <p:cNvSpPr>
            <a:spLocks noGrp="1"/>
          </p:cNvSpPr>
          <p:nvPr>
            <p:ph type="title"/>
          </p:nvPr>
        </p:nvSpPr>
        <p:spPr/>
        <p:txBody>
          <a:bodyPr>
            <a:noAutofit/>
          </a:bodyPr>
          <a:lstStyle/>
          <a:p>
            <a:r>
              <a:rPr lang="en-US" altLang="zh-HK" sz="3600" dirty="0"/>
              <a:t>Summary &amp; Discussion</a:t>
            </a:r>
            <a:endParaRPr lang="zh-HK" altLang="en-US" sz="3600" dirty="0"/>
          </a:p>
        </p:txBody>
      </p:sp>
      <p:sp>
        <p:nvSpPr>
          <p:cNvPr id="4" name="Slide Number Placeholder 3">
            <a:extLst>
              <a:ext uri="{FF2B5EF4-FFF2-40B4-BE49-F238E27FC236}">
                <a16:creationId xmlns:a16="http://schemas.microsoft.com/office/drawing/2014/main" id="{9398BED1-67F9-89B1-0232-F3DEDEB4D165}"/>
              </a:ext>
            </a:extLst>
          </p:cNvPr>
          <p:cNvSpPr>
            <a:spLocks noGrp="1"/>
          </p:cNvSpPr>
          <p:nvPr>
            <p:ph type="sldNum" sz="quarter" idx="12"/>
          </p:nvPr>
        </p:nvSpPr>
        <p:spPr>
          <a:xfrm>
            <a:off x="11730681" y="6161774"/>
            <a:ext cx="461318" cy="331101"/>
          </a:xfrm>
        </p:spPr>
        <p:txBody>
          <a:bodyPr/>
          <a:lstStyle/>
          <a:p>
            <a:fld id="{F19F6F11-1192-41BB-B490-DF53A7E38BB8}" type="slidenum">
              <a:rPr lang="en-US" smtClean="0"/>
              <a:t>48</a:t>
            </a:fld>
            <a:endParaRPr lang="en-US"/>
          </a:p>
        </p:txBody>
      </p:sp>
      <p:sp>
        <p:nvSpPr>
          <p:cNvPr id="3" name="文本占位符 44">
            <a:extLst>
              <a:ext uri="{FF2B5EF4-FFF2-40B4-BE49-F238E27FC236}">
                <a16:creationId xmlns:a16="http://schemas.microsoft.com/office/drawing/2014/main" id="{A293E1A7-9EBD-D162-9233-FFB35D131DF3}"/>
              </a:ext>
            </a:extLst>
          </p:cNvPr>
          <p:cNvSpPr txBox="1">
            <a:spLocks/>
          </p:cNvSpPr>
          <p:nvPr/>
        </p:nvSpPr>
        <p:spPr>
          <a:xfrm>
            <a:off x="838200" y="1352225"/>
            <a:ext cx="10515600" cy="1693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Methods: a quantization algorithm which extends RaBitQ</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It supports efficient implementations of inner product and Euclidean distances.</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It has superior accuracy at a wide range of compression rates (3x-32x).</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It achieves the asymptotical optimal in terms of the space-accuracy trade-off for estimating inner product of unit vectors.</a:t>
            </a:r>
          </a:p>
          <a:p>
            <a:pPr marL="285750" indent="-285750">
              <a:buFont typeface="Wingdings" panose="05000000000000000000" pitchFamily="2" charset="2"/>
              <a:buChar char="Ø"/>
            </a:pPr>
            <a:endParaRPr lang="en-US" altLang="zh-CN" sz="1800" dirty="0">
              <a:latin typeface="Calibri" panose="020F0502020204030204" pitchFamily="34" charset="0"/>
              <a:ea typeface="Microsoft YaHei" panose="020B0503020204020204" pitchFamily="34" charset="-122"/>
              <a:cs typeface="Calibri" panose="020F0502020204030204" pitchFamily="34" charset="0"/>
            </a:endParaRPr>
          </a:p>
        </p:txBody>
      </p:sp>
      <p:sp>
        <p:nvSpPr>
          <p:cNvPr id="7" name="文本占位符 44">
            <a:extLst>
              <a:ext uri="{FF2B5EF4-FFF2-40B4-BE49-F238E27FC236}">
                <a16:creationId xmlns:a16="http://schemas.microsoft.com/office/drawing/2014/main" id="{6C4DA9FC-D3B2-2659-F930-473D7FE8F6A7}"/>
              </a:ext>
            </a:extLst>
          </p:cNvPr>
          <p:cNvSpPr txBox="1">
            <a:spLocks/>
          </p:cNvSpPr>
          <p:nvPr/>
        </p:nvSpPr>
        <p:spPr>
          <a:xfrm>
            <a:off x="838200" y="3679722"/>
            <a:ext cx="10515600" cy="1693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2400" dirty="0">
                <a:latin typeface="Calibri" panose="020F0502020204030204" pitchFamily="34" charset="0"/>
                <a:ea typeface="Microsoft YaHei" panose="020B0503020204020204" pitchFamily="34" charset="-122"/>
                <a:cs typeface="Calibri" panose="020F0502020204030204" pitchFamily="34" charset="0"/>
              </a:rPr>
              <a:t>Possibly Applications &amp; Research Directions</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Various application scenarios in vector search (e.g., disk, cloud). </a:t>
            </a:r>
          </a:p>
          <a:p>
            <a:pPr marL="1200150" lvl="2" indent="-285750">
              <a:buFont typeface="Wingdings" panose="05000000000000000000" pitchFamily="2" charset="2"/>
              <a:buChar char="Ø"/>
            </a:pPr>
            <a:r>
              <a:rPr lang="en-US" altLang="zh-CN" sz="1600" dirty="0">
                <a:latin typeface="Calibri" panose="020F0502020204030204" pitchFamily="34" charset="0"/>
                <a:ea typeface="Microsoft YaHei" panose="020B0503020204020204" pitchFamily="34" charset="-122"/>
                <a:cs typeface="Calibri" panose="020F0502020204030204" pitchFamily="34" charset="0"/>
              </a:rPr>
              <a:t>In its nature, it reduces the number of accessed bits needed for answering a query. </a:t>
            </a:r>
          </a:p>
          <a:p>
            <a:pPr marL="742950" lvl="1" indent="-285750">
              <a:buFont typeface="Wingdings" panose="05000000000000000000" pitchFamily="2" charset="2"/>
              <a:buChar char="Ø"/>
            </a:pPr>
            <a:r>
              <a:rPr lang="en-US" altLang="zh-CN" sz="2000" dirty="0">
                <a:latin typeface="Calibri" panose="020F0502020204030204" pitchFamily="34" charset="0"/>
                <a:ea typeface="Microsoft YaHei" panose="020B0503020204020204" pitchFamily="34" charset="-122"/>
                <a:cs typeface="Calibri" panose="020F0502020204030204" pitchFamily="34" charset="0"/>
              </a:rPr>
              <a:t>Machine learning systems.</a:t>
            </a:r>
          </a:p>
          <a:p>
            <a:pPr marL="742950" lvl="1" indent="-285750">
              <a:buFont typeface="Wingdings" panose="05000000000000000000" pitchFamily="2" charset="2"/>
              <a:buChar char="Ø"/>
            </a:pPr>
            <a:endParaRPr lang="en-US" altLang="zh-CN" sz="2000" dirty="0">
              <a:latin typeface="Calibri" panose="020F0502020204030204" pitchFamily="34" charset="0"/>
              <a:ea typeface="Microsoft YaHei" panose="020B0503020204020204" pitchFamily="34" charset="-122"/>
              <a:cs typeface="Calibri" panose="020F0502020204030204" pitchFamily="34" charset="0"/>
            </a:endParaRPr>
          </a:p>
          <a:p>
            <a:pPr marL="742950" lvl="1" indent="-285750">
              <a:buFont typeface="Wingdings" panose="05000000000000000000" pitchFamily="2" charset="2"/>
              <a:buChar char="Ø"/>
            </a:pPr>
            <a:endParaRPr lang="en-US" altLang="zh-CN" sz="1600" dirty="0">
              <a:latin typeface="Calibri" panose="020F0502020204030204" pitchFamily="34" charset="0"/>
              <a:ea typeface="Microsoft YaHei" panose="020B0503020204020204" pitchFamily="34" charset="-122"/>
              <a:cs typeface="Calibri" panose="020F0502020204030204" pitchFamily="34" charset="0"/>
            </a:endParaRPr>
          </a:p>
        </p:txBody>
      </p:sp>
    </p:spTree>
    <p:custDataLst>
      <p:tags r:id="rId1"/>
    </p:custDataLst>
    <p:extLst>
      <p:ext uri="{BB962C8B-B14F-4D97-AF65-F5344CB8AC3E}">
        <p14:creationId xmlns:p14="http://schemas.microsoft.com/office/powerpoint/2010/main" val="79826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 &amp; A</a:t>
            </a:r>
          </a:p>
        </p:txBody>
      </p:sp>
      <p:sp>
        <p:nvSpPr>
          <p:cNvPr id="5" name="Rectangle 4"/>
          <p:cNvSpPr/>
          <p:nvPr/>
        </p:nvSpPr>
        <p:spPr>
          <a:xfrm>
            <a:off x="2327917" y="2782669"/>
            <a:ext cx="7536166" cy="1292662"/>
          </a:xfrm>
          <a:prstGeom prst="rect">
            <a:avLst/>
          </a:prstGeom>
          <a:noFill/>
        </p:spPr>
        <p:txBody>
          <a:bodyPr wrap="none" lIns="91440" tIns="45720" rIns="91440" bIns="45720">
            <a:spAutoFit/>
          </a:bodyPr>
          <a:lstStyle/>
          <a:p>
            <a:pPr algn="ctr"/>
            <a:r>
              <a:rPr lang="en-US" sz="5400" b="0" cap="none" spc="0" dirty="0">
                <a:ln w="0"/>
                <a:solidFill>
                  <a:schemeClr val="accent5">
                    <a:lumMod val="75000"/>
                  </a:schemeClr>
                </a:solidFill>
                <a:effectLst>
                  <a:outerShdw blurRad="38100" dist="25400" dir="5400000" algn="ctr" rotWithShape="0">
                    <a:srgbClr val="6E747A">
                      <a:alpha val="43000"/>
                    </a:srgbClr>
                  </a:outerShdw>
                </a:effectLst>
              </a:rPr>
              <a:t>Thanks for your attention!</a:t>
            </a:r>
          </a:p>
          <a:p>
            <a:pPr algn="ctr"/>
            <a:r>
              <a:rPr lang="en-US" sz="2400" dirty="0">
                <a:ln w="0"/>
                <a:solidFill>
                  <a:schemeClr val="accent5">
                    <a:lumMod val="75000"/>
                  </a:schemeClr>
                </a:solidFill>
                <a:effectLst>
                  <a:outerShdw blurRad="38100" dist="25400" dir="5400000" algn="ctr" rotWithShape="0">
                    <a:srgbClr val="6E747A">
                      <a:alpha val="43000"/>
                    </a:srgbClr>
                  </a:outerShdw>
                </a:effectLst>
              </a:rPr>
              <a:t>jianyang.gao@ntu.edu.sg</a:t>
            </a:r>
            <a:endParaRPr lang="en-US" sz="2400" b="0" cap="none" spc="0" dirty="0">
              <a:ln w="0"/>
              <a:solidFill>
                <a:schemeClr val="accent5">
                  <a:lumMod val="75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278852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Instructor"/>
</p:tagLst>
</file>

<file path=ppt/tags/tag2.xml><?xml version="1.0" encoding="utf-8"?>
<p:tagLst xmlns:a="http://schemas.openxmlformats.org/drawingml/2006/main" xmlns:r="http://schemas.openxmlformats.org/officeDocument/2006/relationships" xmlns:p="http://schemas.openxmlformats.org/presentationml/2006/main">
  <p:tag name="TIMING" val="|18.8|6.4"/>
</p:tagLst>
</file>

<file path=ppt/tags/tag3.xml><?xml version="1.0" encoding="utf-8"?>
<p:tagLst xmlns:a="http://schemas.openxmlformats.org/drawingml/2006/main" xmlns:r="http://schemas.openxmlformats.org/officeDocument/2006/relationships" xmlns:p="http://schemas.openxmlformats.org/presentationml/2006/main">
  <p:tag name="TIMING" val="|12.3|8.4|3.8|28.7|10.7|6.1|4.1|7|12.6|63.6|0.5"/>
</p:tagLst>
</file>

<file path=ppt/tags/tag4.xml><?xml version="1.0" encoding="utf-8"?>
<p:tagLst xmlns:a="http://schemas.openxmlformats.org/drawingml/2006/main" xmlns:r="http://schemas.openxmlformats.org/officeDocument/2006/relationships" xmlns:p="http://schemas.openxmlformats.org/presentationml/2006/main">
  <p:tag name="TIMING" val="|14.7|19.3"/>
</p:tagLst>
</file>

<file path=ppt/tags/tag5.xml><?xml version="1.0" encoding="utf-8"?>
<p:tagLst xmlns:a="http://schemas.openxmlformats.org/drawingml/2006/main" xmlns:r="http://schemas.openxmlformats.org/officeDocument/2006/relationships" xmlns:p="http://schemas.openxmlformats.org/presentationml/2006/main">
  <p:tag name="TIMING" val="|0.2|0.1|0.2|0.1|0.1|0.1|0.1|0.1|0.1|0.1"/>
</p:tagLst>
</file>

<file path=ppt/tags/tag6.xml><?xml version="1.0" encoding="utf-8"?>
<p:tagLst xmlns:a="http://schemas.openxmlformats.org/drawingml/2006/main" xmlns:r="http://schemas.openxmlformats.org/officeDocument/2006/relationships" xmlns:p="http://schemas.openxmlformats.org/presentationml/2006/main">
  <p:tag name="TIMING" val="|0.6|0.3|0.2|0.8|0.5|0.5|0.3|0.3"/>
</p:tagLst>
</file>

<file path=ppt/tags/tag7.xml><?xml version="1.0" encoding="utf-8"?>
<p:tagLst xmlns:a="http://schemas.openxmlformats.org/drawingml/2006/main" xmlns:r="http://schemas.openxmlformats.org/officeDocument/2006/relationships" xmlns:p="http://schemas.openxmlformats.org/presentationml/2006/main">
  <p:tag name="TIMING" val="|0.6|0.2|0.2|0.2"/>
</p:tagLst>
</file>

<file path=ppt/tags/tag8.xml><?xml version="1.0" encoding="utf-8"?>
<p:tagLst xmlns:a="http://schemas.openxmlformats.org/drawingml/2006/main" xmlns:r="http://schemas.openxmlformats.org/officeDocument/2006/relationships" xmlns:p="http://schemas.openxmlformats.org/presentationml/2006/main">
  <p:tag name="TIMING" val="|9.3"/>
</p:tagLst>
</file>

<file path=ppt/tags/tag9.xml><?xml version="1.0" encoding="utf-8"?>
<p:tagLst xmlns:a="http://schemas.openxmlformats.org/drawingml/2006/main" xmlns:r="http://schemas.openxmlformats.org/officeDocument/2006/relationships" xmlns:p="http://schemas.openxmlformats.org/presentationml/2006/main">
  <p:tag name="TIMING" val="|11.9|16.2"/>
</p:tagLst>
</file>

<file path=ppt/tags/tag10.xml><?xml version="1.0" encoding="utf-8"?>
<p:tagLst xmlns:a="http://schemas.openxmlformats.org/drawingml/2006/main" xmlns:r="http://schemas.openxmlformats.org/officeDocument/2006/relationships" xmlns:p="http://schemas.openxmlformats.org/presentationml/2006/main">
  <p:tag name="TIMING" val="|4.7|9.7|4.6|5.3|10.8|5.1|4.9"/>
</p:tagLst>
</file>

<file path=ppt/tags/tag11.xml><?xml version="1.0" encoding="utf-8"?>
<p:tagLst xmlns:a="http://schemas.openxmlformats.org/drawingml/2006/main" xmlns:r="http://schemas.openxmlformats.org/officeDocument/2006/relationships" xmlns:p="http://schemas.openxmlformats.org/presentationml/2006/main">
  <p:tag name="TIMING" val="|4.1|3.7|8.5|7.1|3.9"/>
</p:tagLst>
</file>

<file path=ppt/tags/tag12.xml><?xml version="1.0" encoding="utf-8"?>
<p:tagLst xmlns:a="http://schemas.openxmlformats.org/drawingml/2006/main" xmlns:r="http://schemas.openxmlformats.org/officeDocument/2006/relationships" xmlns:p="http://schemas.openxmlformats.org/presentationml/2006/main">
  <p:tag name="TIMING" val="|27.7|18.6"/>
</p:tagLst>
</file>

<file path=ppt/tags/tag13.xml><?xml version="1.0" encoding="utf-8"?>
<p:tagLst xmlns:a="http://schemas.openxmlformats.org/drawingml/2006/main" xmlns:r="http://schemas.openxmlformats.org/officeDocument/2006/relationships" xmlns:p="http://schemas.openxmlformats.org/presentationml/2006/main">
  <p:tag name="TIMING" val="|27.7|18.6"/>
</p:tagLst>
</file>

<file path=ppt/tags/tag14.xml><?xml version="1.0" encoding="utf-8"?>
<p:tagLst xmlns:a="http://schemas.openxmlformats.org/drawingml/2006/main" xmlns:r="http://schemas.openxmlformats.org/officeDocument/2006/relationships" xmlns:p="http://schemas.openxmlformats.org/presentationml/2006/main">
  <p:tag name="TIMING" val="|27.7|18.6"/>
</p:tagLst>
</file>

<file path=ppt/tags/tag15.xml><?xml version="1.0" encoding="utf-8"?>
<p:tagLst xmlns:a="http://schemas.openxmlformats.org/drawingml/2006/main" xmlns:r="http://schemas.openxmlformats.org/officeDocument/2006/relationships" xmlns:p="http://schemas.openxmlformats.org/presentationml/2006/main">
  <p:tag name="TIMING" val="|27.7|18.6"/>
</p:tagLst>
</file>

<file path=ppt/tags/tag16.xml><?xml version="1.0" encoding="utf-8"?>
<p:tagLst xmlns:a="http://schemas.openxmlformats.org/drawingml/2006/main" xmlns:r="http://schemas.openxmlformats.org/officeDocument/2006/relationships" xmlns:p="http://schemas.openxmlformats.org/presentationml/2006/main">
  <p:tag name="TIMING" val="|27.7|18.6"/>
</p:tagLst>
</file>

<file path=ppt/tags/tag17.xml><?xml version="1.0" encoding="utf-8"?>
<p:tagLst xmlns:a="http://schemas.openxmlformats.org/drawingml/2006/main" xmlns:r="http://schemas.openxmlformats.org/officeDocument/2006/relationships" xmlns:p="http://schemas.openxmlformats.org/presentationml/2006/main">
  <p:tag name="TIMING" val="|27.7|18.6"/>
</p:tagLst>
</file>

<file path=ppt/tags/tag18.xml><?xml version="1.0" encoding="utf-8"?>
<p:tagLst xmlns:a="http://schemas.openxmlformats.org/drawingml/2006/main" xmlns:r="http://schemas.openxmlformats.org/officeDocument/2006/relationships" xmlns:p="http://schemas.openxmlformats.org/presentationml/2006/main">
  <p:tag name="TIMING" val="|27.7|18.6"/>
</p:tagLst>
</file>

<file path=ppt/tags/tag19.xml><?xml version="1.0" encoding="utf-8"?>
<p:tagLst xmlns:a="http://schemas.openxmlformats.org/drawingml/2006/main" xmlns:r="http://schemas.openxmlformats.org/officeDocument/2006/relationships" xmlns:p="http://schemas.openxmlformats.org/presentationml/2006/main">
  <p:tag name="TIMING" val="|27.7|18.6"/>
</p:tagLst>
</file>

<file path=ppt/tags/tag20.xml><?xml version="1.0" encoding="utf-8"?>
<p:tagLst xmlns:a="http://schemas.openxmlformats.org/drawingml/2006/main" xmlns:r="http://schemas.openxmlformats.org/officeDocument/2006/relationships" xmlns:p="http://schemas.openxmlformats.org/presentationml/2006/main">
  <p:tag name="TIMING" val="|27.7|18.6"/>
</p:tagLst>
</file>

<file path=ppt/tags/tag21.xml><?xml version="1.0" encoding="utf-8"?>
<p:tagLst xmlns:a="http://schemas.openxmlformats.org/drawingml/2006/main" xmlns:r="http://schemas.openxmlformats.org/officeDocument/2006/relationships" xmlns:p="http://schemas.openxmlformats.org/presentationml/2006/main">
  <p:tag name="TIMING" val="|27.7|18.6"/>
</p:tagLst>
</file>

<file path=ppt/tags/tag22.xml><?xml version="1.0" encoding="utf-8"?>
<p:tagLst xmlns:a="http://schemas.openxmlformats.org/drawingml/2006/main" xmlns:r="http://schemas.openxmlformats.org/officeDocument/2006/relationships" xmlns:p="http://schemas.openxmlformats.org/presentationml/2006/main">
  <p:tag name="TIMING" val="|27.7|18.6"/>
</p:tagLst>
</file>

<file path=ppt/tags/tag23.xml><?xml version="1.0" encoding="utf-8"?>
<p:tagLst xmlns:a="http://schemas.openxmlformats.org/drawingml/2006/main" xmlns:r="http://schemas.openxmlformats.org/officeDocument/2006/relationships" xmlns:p="http://schemas.openxmlformats.org/presentationml/2006/main">
  <p:tag name="TIMING" val="|27.7|18.6"/>
</p:tagLst>
</file>

<file path=ppt/tags/tag24.xml><?xml version="1.0" encoding="utf-8"?>
<p:tagLst xmlns:a="http://schemas.openxmlformats.org/drawingml/2006/main" xmlns:r="http://schemas.openxmlformats.org/officeDocument/2006/relationships" xmlns:p="http://schemas.openxmlformats.org/presentationml/2006/main">
  <p:tag name="RESOURCELIBID_SLIDE" val="307815"/>
  <p:tag name="RESOURCELIB_SLIDETYPE" val="12"/>
  <p:tag name="POCKET_APPLY_TIME" val="Monday, April 26, 2021"/>
  <p:tag name="POCKET_APPLY_TYPE" val="Slide"/>
</p:tagLst>
</file>

<file path=ppt/tags/tag25.xml><?xml version="1.0" encoding="utf-8"?>
<p:tagLst xmlns:a="http://schemas.openxmlformats.org/drawingml/2006/main" xmlns:r="http://schemas.openxmlformats.org/officeDocument/2006/relationships" xmlns:p="http://schemas.openxmlformats.org/presentationml/2006/main">
  <p:tag name="RESOURCELIBID_SLIDE" val="307815"/>
  <p:tag name="RESOURCELIB_SLIDETYPE" val="12"/>
  <p:tag name="POCKET_APPLY_TIME" val="Monday, April 26, 2021"/>
  <p:tag name="POCKET_APPLY_TYPE" val="Slide"/>
</p:tagLst>
</file>

<file path=ppt/tags/tag26.xml><?xml version="1.0" encoding="utf-8"?>
<p:tagLst xmlns:a="http://schemas.openxmlformats.org/drawingml/2006/main" xmlns:r="http://schemas.openxmlformats.org/officeDocument/2006/relationships" xmlns:p="http://schemas.openxmlformats.org/presentationml/2006/main">
  <p:tag name="RESOURCELIBID_SLIDE" val="307815"/>
  <p:tag name="RESOURCELIB_SLIDETYPE" val="12"/>
  <p:tag name="POCKET_APPLY_TIME" val="Monday, April 26, 2021"/>
  <p:tag name="POCKET_APPLY_TYPE" val="Slide"/>
</p:tagLst>
</file>

<file path=ppt/tags/tag27.xml><?xml version="1.0" encoding="utf-8"?>
<p:tagLst xmlns:a="http://schemas.openxmlformats.org/drawingml/2006/main" xmlns:r="http://schemas.openxmlformats.org/officeDocument/2006/relationships" xmlns:p="http://schemas.openxmlformats.org/presentationml/2006/main">
  <p:tag name="TIMING" val="|27.7|18.6"/>
</p:tagLst>
</file>

<file path=ppt/tags/tag28.xml><?xml version="1.0" encoding="utf-8"?>
<p:tagLst xmlns:a="http://schemas.openxmlformats.org/drawingml/2006/main" xmlns:r="http://schemas.openxmlformats.org/officeDocument/2006/relationships" xmlns:p="http://schemas.openxmlformats.org/presentationml/2006/main">
  <p:tag name="TIMING" val="|27.7|18.6"/>
</p:tagLst>
</file>

<file path=ppt/tags/tag29.xml><?xml version="1.0" encoding="utf-8"?>
<p:tagLst xmlns:a="http://schemas.openxmlformats.org/drawingml/2006/main" xmlns:r="http://schemas.openxmlformats.org/officeDocument/2006/relationships" xmlns:p="http://schemas.openxmlformats.org/presentationml/2006/main">
  <p:tag name="TIMING" val="|27.7|18.6"/>
</p:tagLst>
</file>

<file path=ppt/tags/tag30.xml><?xml version="1.0" encoding="utf-8"?>
<p:tagLst xmlns:a="http://schemas.openxmlformats.org/drawingml/2006/main" xmlns:r="http://schemas.openxmlformats.org/officeDocument/2006/relationships" xmlns:p="http://schemas.openxmlformats.org/presentationml/2006/main">
  <p:tag name="TIMING" val="|27.7|18.6"/>
</p:tagLst>
</file>

<file path=ppt/tags/tag31.xml><?xml version="1.0" encoding="utf-8"?>
<p:tagLst xmlns:a="http://schemas.openxmlformats.org/drawingml/2006/main" xmlns:r="http://schemas.openxmlformats.org/officeDocument/2006/relationships" xmlns:p="http://schemas.openxmlformats.org/presentationml/2006/main">
  <p:tag name="TIMING" val="|27.7|18.6"/>
</p:tagLst>
</file>

<file path=ppt/tags/tag32.xml><?xml version="1.0" encoding="utf-8"?>
<p:tagLst xmlns:a="http://schemas.openxmlformats.org/drawingml/2006/main" xmlns:r="http://schemas.openxmlformats.org/officeDocument/2006/relationships" xmlns:p="http://schemas.openxmlformats.org/presentationml/2006/main">
  <p:tag name="TIMING" val="|27.7|18.6"/>
</p:tagLst>
</file>

<file path=ppt/tags/tag33.xml><?xml version="1.0" encoding="utf-8"?>
<p:tagLst xmlns:a="http://schemas.openxmlformats.org/drawingml/2006/main" xmlns:r="http://schemas.openxmlformats.org/officeDocument/2006/relationships" xmlns:p="http://schemas.openxmlformats.org/presentationml/2006/main">
  <p:tag name="TIMING" val="|27.7|18.6"/>
</p:tagLst>
</file>

<file path=ppt/tags/tag34.xml><?xml version="1.0" encoding="utf-8"?>
<p:tagLst xmlns:a="http://schemas.openxmlformats.org/drawingml/2006/main" xmlns:r="http://schemas.openxmlformats.org/officeDocument/2006/relationships" xmlns:p="http://schemas.openxmlformats.org/presentationml/2006/main">
  <p:tag name="TIMING" val="|27.7|18.6"/>
</p:tagLst>
</file>

<file path=ppt/tags/tag35.xml><?xml version="1.0" encoding="utf-8"?>
<p:tagLst xmlns:a="http://schemas.openxmlformats.org/drawingml/2006/main" xmlns:r="http://schemas.openxmlformats.org/officeDocument/2006/relationships" xmlns:p="http://schemas.openxmlformats.org/presentationml/2006/main">
  <p:tag name="TIMING" val="|27.7|18.6"/>
</p:tagLst>
</file>

<file path=ppt/tags/tag36.xml><?xml version="1.0" encoding="utf-8"?>
<p:tagLst xmlns:a="http://schemas.openxmlformats.org/drawingml/2006/main" xmlns:r="http://schemas.openxmlformats.org/officeDocument/2006/relationships" xmlns:p="http://schemas.openxmlformats.org/presentationml/2006/main">
  <p:tag name="TIMING" val="|27.7|18.6"/>
</p:tagLst>
</file>

<file path=ppt/tags/tag37.xml><?xml version="1.0" encoding="utf-8"?>
<p:tagLst xmlns:a="http://schemas.openxmlformats.org/drawingml/2006/main" xmlns:r="http://schemas.openxmlformats.org/officeDocument/2006/relationships" xmlns:p="http://schemas.openxmlformats.org/presentationml/2006/main">
  <p:tag name="TIMING" val="|27.7|18.6"/>
</p:tagLst>
</file>

<file path=ppt/tags/tag38.xml><?xml version="1.0" encoding="utf-8"?>
<p:tagLst xmlns:a="http://schemas.openxmlformats.org/drawingml/2006/main" xmlns:r="http://schemas.openxmlformats.org/officeDocument/2006/relationships" xmlns:p="http://schemas.openxmlformats.org/presentationml/2006/main">
  <p:tag name="TIMING" val="|27.7|18.6"/>
</p:tagLst>
</file>

<file path=ppt/tags/tag39.xml><?xml version="1.0" encoding="utf-8"?>
<p:tagLst xmlns:a="http://schemas.openxmlformats.org/drawingml/2006/main" xmlns:r="http://schemas.openxmlformats.org/officeDocument/2006/relationships" xmlns:p="http://schemas.openxmlformats.org/presentationml/2006/main">
  <p:tag name="TIMING" val="|27.7|18.6"/>
</p:tagLst>
</file>

<file path=ppt/tags/tag40.xml><?xml version="1.0" encoding="utf-8"?>
<p:tagLst xmlns:a="http://schemas.openxmlformats.org/drawingml/2006/main" xmlns:r="http://schemas.openxmlformats.org/officeDocument/2006/relationships" xmlns:p="http://schemas.openxmlformats.org/presentationml/2006/main">
  <p:tag name="TIMING" val="|27.7|18.6"/>
</p:tagLst>
</file>

<file path=ppt/tags/tag41.xml><?xml version="1.0" encoding="utf-8"?>
<p:tagLst xmlns:a="http://schemas.openxmlformats.org/drawingml/2006/main" xmlns:r="http://schemas.openxmlformats.org/officeDocument/2006/relationships" xmlns:p="http://schemas.openxmlformats.org/presentationml/2006/main">
  <p:tag name="TIMING" val="|27.7|18.6"/>
</p:tagLst>
</file>

<file path=ppt/tags/tag42.xml><?xml version="1.0" encoding="utf-8"?>
<p:tagLst xmlns:a="http://schemas.openxmlformats.org/drawingml/2006/main" xmlns:r="http://schemas.openxmlformats.org/officeDocument/2006/relationships" xmlns:p="http://schemas.openxmlformats.org/presentationml/2006/main">
  <p:tag name="TIMING" val="|27.7|18.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49121</TotalTime>
  <Words>3751</Words>
  <Application>Microsoft Macintosh PowerPoint</Application>
  <PresentationFormat>Widescreen</PresentationFormat>
  <Paragraphs>525</Paragraphs>
  <Slides>49</Slides>
  <Notes>49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Microsoft YaHei</vt:lpstr>
      <vt:lpstr>Apple Symbols</vt:lpstr>
      <vt:lpstr>Arial</vt:lpstr>
      <vt:lpstr>Calibri</vt:lpstr>
      <vt:lpstr>Calibri Light</vt:lpstr>
      <vt:lpstr>Cambria Math</vt:lpstr>
      <vt:lpstr>Wingdings</vt:lpstr>
      <vt:lpstr>1_Office Theme</vt:lpstr>
      <vt:lpstr>Reliable, Efficient and Light Distance Computation on High-Dimensional Vectors</vt:lpstr>
      <vt:lpstr>Outline</vt:lpstr>
      <vt:lpstr>ANN Algorithms</vt:lpstr>
      <vt:lpstr>Graph-based Algorithms</vt:lpstr>
      <vt:lpstr>Distance Comparison Operation</vt:lpstr>
      <vt:lpstr>Flexibility and Adaptivity</vt:lpstr>
      <vt:lpstr>Flexibility</vt:lpstr>
      <vt:lpstr>Adaptivity</vt:lpstr>
      <vt:lpstr>ADSampling</vt:lpstr>
      <vt:lpstr>Theoretical Analysis</vt:lpstr>
      <vt:lpstr>Dimensionality &amp; Recall</vt:lpstr>
      <vt:lpstr>Summary</vt:lpstr>
      <vt:lpstr>Outline</vt:lpstr>
      <vt:lpstr>Estimating Distances with Quantization</vt:lpstr>
      <vt:lpstr>Overview of Quantization</vt:lpstr>
      <vt:lpstr>Pre-Processing: Normalization</vt:lpstr>
      <vt:lpstr>Index Phase: Construct a Codebook</vt:lpstr>
      <vt:lpstr>Index Phase: Randomly Rotate the Codebook</vt:lpstr>
      <vt:lpstr>Index Phase: Find the Nearest Vector</vt:lpstr>
      <vt:lpstr>Query Phase: Construct an Estimator for ⟨o,q⟩</vt:lpstr>
      <vt:lpstr>The Distribution of ⟨o ̅,o⟩ and ⟨o ̅,e_1 ⟩</vt:lpstr>
      <vt:lpstr>Query Phase: the Error Bound</vt:lpstr>
      <vt:lpstr>Query Phase: Computing ⟨o ̅,q⟩/⟨o ̅,o⟩</vt:lpstr>
      <vt:lpstr>How to compute ⟨o ̅,q⟩?</vt:lpstr>
      <vt:lpstr>How to compute ⟨x ̅_b,q′⟩?</vt:lpstr>
      <vt:lpstr>How to compute ⟨x ̅_b,q ̅_u ⟩?</vt:lpstr>
      <vt:lpstr>PowerPoint Presentation</vt:lpstr>
      <vt:lpstr>PowerPoint Presentation</vt:lpstr>
      <vt:lpstr>Results for Time-Accuracy Trade-off (ANN)</vt:lpstr>
      <vt:lpstr>PowerPoint Presentation</vt:lpstr>
      <vt:lpstr>Summary</vt:lpstr>
      <vt:lpstr>Outline</vt:lpstr>
      <vt:lpstr>Limitation of RaBitQ</vt:lpstr>
      <vt:lpstr>Naïve Extension: Padding</vt:lpstr>
      <vt:lpstr>Advanced Extension: New Codebook</vt:lpstr>
      <vt:lpstr>New Codebook: Normalizing Uniform Grids</vt:lpstr>
      <vt:lpstr>Challenges in Computing the Quantization Codes</vt:lpstr>
      <vt:lpstr>Pruning the Enumeration</vt:lpstr>
      <vt:lpstr>Computing the Estimator</vt:lpstr>
      <vt:lpstr>Analysis of Space-Accuracy Trade-off</vt:lpstr>
      <vt:lpstr>Distance Comparison with Extended RaBitQ</vt:lpstr>
      <vt:lpstr>Space-Accuracy Trade-Off for Distance Estimation</vt:lpstr>
      <vt:lpstr>Space-Accuracy Trade-Off for ANN</vt:lpstr>
      <vt:lpstr>Quantization Time during Indexing</vt:lpstr>
      <vt:lpstr>Scalability</vt:lpstr>
      <vt:lpstr>Unbiasedness</vt:lpstr>
      <vt:lpstr>Empirical Formula</vt:lpstr>
      <vt:lpstr>Summary &amp; Discussion</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Cheng Long (Asst Prof)</dc:creator>
  <cp:lastModifiedBy>Gao Jianyang</cp:lastModifiedBy>
  <cp:revision>2860</cp:revision>
  <dcterms:created xsi:type="dcterms:W3CDTF">2019-07-19T09:03:00Z</dcterms:created>
  <dcterms:modified xsi:type="dcterms:W3CDTF">2024-09-25T14:53:38Z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